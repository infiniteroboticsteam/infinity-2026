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15.xml.rels" ContentType="application/vnd.openxmlformats-package.relationships+xml"/>
  <Override PartName="/ppt/notesSlides/_rels/notesSlide16.xml.rels" ContentType="application/vnd.openxmlformats-package.relationships+xml"/>
  <Override PartName="/ppt/notesSlides/_rels/notesSlide17.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9144000" cy="5143500"/>
  <p:notesSz cx="51435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 name="PlaceHolder 1"/>
          <p:cNvSpPr>
            <a:spLocks noGrp="1"/>
          </p:cNvSpPr>
          <p:nvPr>
            <p:ph type="sldImg"/>
          </p:nvPr>
        </p:nvSpPr>
        <p:spPr>
          <a:xfrm>
            <a:off x="0" y="764280"/>
            <a:ext cx="0" cy="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10"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11"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12" name="PlaceHolder 4"/>
          <p:cNvSpPr>
            <a:spLocks noGrp="1"/>
          </p:cNvSpPr>
          <p:nvPr>
            <p:ph type="dt" idx="2"/>
          </p:nvPr>
        </p:nvSpPr>
        <p:spPr>
          <a:xfrm>
            <a:off x="4399200" y="0"/>
            <a:ext cx="3372840" cy="50256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3" name="PlaceHolder 5"/>
          <p:cNvSpPr>
            <a:spLocks noGrp="1"/>
          </p:cNvSpPr>
          <p:nvPr>
            <p:ph type="ftr" idx="3"/>
          </p:nvPr>
        </p:nvSpPr>
        <p:spPr>
          <a:xfrm>
            <a:off x="0" y="9555480"/>
            <a:ext cx="3372840" cy="50256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4" name="PlaceHolder 6"/>
          <p:cNvSpPr>
            <a:spLocks noGrp="1"/>
          </p:cNvSpPr>
          <p:nvPr>
            <p:ph type="sldNum" idx="4"/>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2231D51F-1EB4-4964-96AE-4D27ED54D5E9}"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PlaceHolder 1"/>
          <p:cNvSpPr>
            <a:spLocks noGrp="1"/>
          </p:cNvSpPr>
          <p:nvPr>
            <p:ph type="sldImg"/>
          </p:nvPr>
        </p:nvSpPr>
        <p:spPr>
          <a:xfrm>
            <a:off x="685800" y="1143000"/>
            <a:ext cx="5486040" cy="3085920"/>
          </a:xfrm>
          <a:prstGeom prst="rect">
            <a:avLst/>
          </a:prstGeom>
          <a:ln w="0">
            <a:noFill/>
          </a:ln>
        </p:spPr>
      </p:sp>
      <p:sp>
        <p:nvSpPr>
          <p:cNvPr id="22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Title slide. Ethan and Braxton: add today's date and the team meeting name if you like.</a:t>
            </a:r>
            <a:endParaRPr b="0" lang="en-US" sz="2000" spc="-1" strike="noStrike">
              <a:solidFill>
                <a:srgbClr val="000000"/>
              </a:solidFill>
              <a:latin typeface="Arial"/>
            </a:endParaRPr>
          </a:p>
        </p:txBody>
      </p:sp>
      <p:sp>
        <p:nvSpPr>
          <p:cNvPr id="225" name="PlaceHolder 3"/>
          <p:cNvSpPr>
            <a:spLocks noGrp="1"/>
          </p:cNvSpPr>
          <p:nvPr>
            <p:ph type="sldNum" idx="2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D19D4D0-AF18-4BD8-ACDC-0E537898375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PlaceHolder 1"/>
          <p:cNvSpPr>
            <a:spLocks noGrp="1"/>
          </p:cNvSpPr>
          <p:nvPr>
            <p:ph type="sldImg"/>
          </p:nvPr>
        </p:nvSpPr>
        <p:spPr>
          <a:xfrm>
            <a:off x="685800" y="1143000"/>
            <a:ext cx="5486040" cy="3085920"/>
          </a:xfrm>
          <a:prstGeom prst="rect">
            <a:avLst/>
          </a:prstGeom>
          <a:ln w="0">
            <a:noFill/>
          </a:ln>
        </p:spPr>
      </p:sp>
      <p:sp>
        <p:nvSpPr>
          <p:cNvPr id="22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Who presents what is a suggestion: Ethan takes Git + multitasking + stop button, Braxton takes organizing/naming/robot.py. Swap if you prefer.</a:t>
            </a:r>
            <a:endParaRPr b="0" lang="en-US" sz="2000" spc="-1" strike="noStrike">
              <a:solidFill>
                <a:srgbClr val="000000"/>
              </a:solidFill>
              <a:latin typeface="Arial"/>
            </a:endParaRPr>
          </a:p>
        </p:txBody>
      </p:sp>
      <p:sp>
        <p:nvSpPr>
          <p:cNvPr id="228" name="PlaceHolder 3"/>
          <p:cNvSpPr>
            <a:spLocks noGrp="1"/>
          </p:cNvSpPr>
          <p:nvPr>
            <p:ph type="sldNum" idx="2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4C461EC-2134-4D3B-BBA4-63B00878367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PlaceHolder 1"/>
          <p:cNvSpPr>
            <a:spLocks noGrp="1"/>
          </p:cNvSpPr>
          <p:nvPr>
            <p:ph type="sldImg"/>
          </p:nvPr>
        </p:nvSpPr>
        <p:spPr>
          <a:xfrm>
            <a:off x="685800" y="1143000"/>
            <a:ext cx="5486040" cy="3085920"/>
          </a:xfrm>
          <a:prstGeom prst="rect">
            <a:avLst/>
          </a:prstGeom>
          <a:ln w="0">
            <a:noFill/>
          </a:ln>
        </p:spPr>
      </p:sp>
      <p:sp>
        <p:nvSpPr>
          <p:cNvPr id="23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Source: README.md 'Code structure'. Note that old runs are in code_2025_unearthed/ and depreciated/.</a:t>
            </a:r>
            <a:endParaRPr b="0" lang="en-US" sz="2000" spc="-1" strike="noStrike">
              <a:solidFill>
                <a:srgbClr val="000000"/>
              </a:solidFill>
              <a:latin typeface="Arial"/>
            </a:endParaRPr>
          </a:p>
        </p:txBody>
      </p:sp>
      <p:sp>
        <p:nvSpPr>
          <p:cNvPr id="231" name="PlaceHolder 3"/>
          <p:cNvSpPr>
            <a:spLocks noGrp="1"/>
          </p:cNvSpPr>
          <p:nvPr>
            <p:ph type="sldNum" idx="2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128D093D-137D-45AE-845E-14CB4CBA9CC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PlaceHolder 1"/>
          <p:cNvSpPr>
            <a:spLocks noGrp="1"/>
          </p:cNvSpPr>
          <p:nvPr>
            <p:ph type="sldImg"/>
          </p:nvPr>
        </p:nvSpPr>
        <p:spPr>
          <a:xfrm>
            <a:off x="685800" y="1143000"/>
            <a:ext cx="5486040" cy="3085920"/>
          </a:xfrm>
          <a:prstGeom prst="rect">
            <a:avLst/>
          </a:prstGeom>
          <a:ln w="0">
            <a:noFill/>
          </a:ln>
        </p:spPr>
      </p:sp>
      <p:sp>
        <p:nvSpPr>
          <p:cNvPr id="23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Terminal equivalent: git pull. Source: docs/SETUP.md section 6.</a:t>
            </a:r>
            <a:endParaRPr b="0" lang="en-US" sz="2000" spc="-1" strike="noStrike">
              <a:solidFill>
                <a:srgbClr val="000000"/>
              </a:solidFill>
              <a:latin typeface="Arial"/>
            </a:endParaRPr>
          </a:p>
        </p:txBody>
      </p:sp>
      <p:sp>
        <p:nvSpPr>
          <p:cNvPr id="234" name="PlaceHolder 3"/>
          <p:cNvSpPr>
            <a:spLocks noGrp="1"/>
          </p:cNvSpPr>
          <p:nvPr>
            <p:ph type="sldNum" idx="2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982E8E04-0D88-45BB-ACB4-AC779D95988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type="sldImg"/>
          </p:nvPr>
        </p:nvSpPr>
        <p:spPr>
          <a:xfrm>
            <a:off x="685800" y="1143000"/>
            <a:ext cx="5486040" cy="3085920"/>
          </a:xfrm>
          <a:prstGeom prst="rect">
            <a:avLst/>
          </a:prstGeom>
          <a:ln w="0">
            <a:noFill/>
          </a:ln>
        </p:spPr>
      </p:sp>
      <p:sp>
        <p:nvSpPr>
          <p:cNvPr id="23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Stash = temporarily shelve changes. robot_profiles.py currently shows as modified in the repo; use this as the live demo example.</a:t>
            </a:r>
            <a:endParaRPr b="0" lang="en-US" sz="2000" spc="-1" strike="noStrike">
              <a:solidFill>
                <a:srgbClr val="000000"/>
              </a:solidFill>
              <a:latin typeface="Arial"/>
            </a:endParaRPr>
          </a:p>
        </p:txBody>
      </p:sp>
      <p:sp>
        <p:nvSpPr>
          <p:cNvPr id="237" name="PlaceHolder 3"/>
          <p:cNvSpPr>
            <a:spLocks noGrp="1"/>
          </p:cNvSpPr>
          <p:nvPr>
            <p:ph type="sldNum" idx="2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B8F7B4D6-1325-4A29-8485-ACCC1C7949E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type="sldImg"/>
          </p:nvPr>
        </p:nvSpPr>
        <p:spPr>
          <a:xfrm>
            <a:off x="685800" y="1143000"/>
            <a:ext cx="5486040" cy="3085920"/>
          </a:xfrm>
          <a:prstGeom prst="rect">
            <a:avLst/>
          </a:prstGeom>
          <a:ln w="0">
            <a:noFill/>
          </a:ln>
        </p:spPr>
      </p:sp>
      <p:sp>
        <p:nvSpPr>
          <p:cNvPr id="23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From docs/SETUP.md: pull → branch → commit → push → pull request.</a:t>
            </a:r>
            <a:endParaRPr b="0" lang="en-US" sz="2000" spc="-1" strike="noStrike">
              <a:solidFill>
                <a:srgbClr val="000000"/>
              </a:solidFill>
              <a:latin typeface="Arial"/>
            </a:endParaRPr>
          </a:p>
        </p:txBody>
      </p:sp>
      <p:sp>
        <p:nvSpPr>
          <p:cNvPr id="240" name="PlaceHolder 3"/>
          <p:cNvSpPr>
            <a:spLocks noGrp="1"/>
          </p:cNvSpPr>
          <p:nvPr>
            <p:ph type="sldNum" idx="2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D1DA5DF2-14AE-4D91-B6BF-B1F3A1503A7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sldImg"/>
          </p:nvPr>
        </p:nvSpPr>
        <p:spPr>
          <a:xfrm>
            <a:off x="685800" y="1143000"/>
            <a:ext cx="5486040" cy="3085920"/>
          </a:xfrm>
          <a:prstGeom prst="rect">
            <a:avLst/>
          </a:prstGeom>
          <a:ln w="0">
            <a:noFill/>
          </a:ln>
        </p:spPr>
      </p:sp>
      <p:sp>
        <p:nvSpPr>
          <p:cNvPr id="24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README 'Writing a new run': copy run1.py, rename function, one function per attachment movement, test with F5, then add to robot.py.</a:t>
            </a:r>
            <a:endParaRPr b="0" lang="en-US" sz="2000" spc="-1" strike="noStrike">
              <a:solidFill>
                <a:srgbClr val="000000"/>
              </a:solidFill>
              <a:latin typeface="Arial"/>
            </a:endParaRPr>
          </a:p>
        </p:txBody>
      </p:sp>
      <p:sp>
        <p:nvSpPr>
          <p:cNvPr id="243" name="PlaceHolder 3"/>
          <p:cNvSpPr>
            <a:spLocks noGrp="1"/>
          </p:cNvSpPr>
          <p:nvPr>
            <p:ph type="sldNum" idx="2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AB9D01AB-CDD8-4F73-9DF0-4419C2DE945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type="sldImg"/>
          </p:nvPr>
        </p:nvSpPr>
        <p:spPr>
          <a:xfrm>
            <a:off x="685800" y="1143000"/>
            <a:ext cx="5486040" cy="3085920"/>
          </a:xfrm>
          <a:prstGeom prst="rect">
            <a:avLst/>
          </a:prstGeom>
          <a:ln w="0">
            <a:noFill/>
          </a:ln>
        </p:spPr>
      </p:sp>
      <p:sp>
        <p:nvSpPr>
          <p:cNvPr id="24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Proposed convention only. If the module is run3_drone_survey, the import is: from run3_drone_survey import run3. Keep modules in repo root.</a:t>
            </a:r>
            <a:endParaRPr b="0" lang="en-US" sz="2000" spc="-1" strike="noStrike">
              <a:solidFill>
                <a:srgbClr val="000000"/>
              </a:solidFill>
              <a:latin typeface="Arial"/>
            </a:endParaRPr>
          </a:p>
        </p:txBody>
      </p:sp>
      <p:sp>
        <p:nvSpPr>
          <p:cNvPr id="246" name="PlaceHolder 3"/>
          <p:cNvSpPr>
            <a:spLocks noGrp="1"/>
          </p:cNvSpPr>
          <p:nvPr>
            <p:ph type="sldNum" idx="2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FF0C3DB-338E-4D33-A555-CA4C74F845C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PlaceHolder 1"/>
          <p:cNvSpPr>
            <a:spLocks noGrp="1"/>
          </p:cNvSpPr>
          <p:nvPr>
            <p:ph type="sldImg"/>
          </p:nvPr>
        </p:nvSpPr>
        <p:spPr>
          <a:xfrm>
            <a:off x="685800" y="1143000"/>
            <a:ext cx="5486040" cy="3085920"/>
          </a:xfrm>
          <a:prstGeom prst="rect">
            <a:avLst/>
          </a:prstGeom>
          <a:ln w="0">
            <a:noFill/>
          </a:ln>
        </p:spPr>
      </p:sp>
      <p:sp>
        <p:nvSpPr>
          <p:cNvPr id="24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robot.py currently has the add_program line commented out as an example. Source: README 'Writing a new run' step 5.</a:t>
            </a:r>
            <a:endParaRPr b="0" lang="en-US" sz="2000" spc="-1" strike="noStrike">
              <a:solidFill>
                <a:srgbClr val="000000"/>
              </a:solidFill>
              <a:latin typeface="Arial"/>
            </a:endParaRPr>
          </a:p>
        </p:txBody>
      </p:sp>
      <p:sp>
        <p:nvSpPr>
          <p:cNvPr id="249" name="PlaceHolder 3"/>
          <p:cNvSpPr>
            <a:spLocks noGrp="1"/>
          </p:cNvSpPr>
          <p:nvPr>
            <p:ph type="sldNum" idx="2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6C05D06-A469-409D-AECD-3408948DFDD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PlaceHolder 1"/>
          <p:cNvSpPr>
            <a:spLocks noGrp="1"/>
          </p:cNvSpPr>
          <p:nvPr>
            <p:ph type="sldImg"/>
          </p:nvPr>
        </p:nvSpPr>
        <p:spPr>
          <a:xfrm>
            <a:off x="685800" y="1143000"/>
            <a:ext cx="5486040" cy="3085920"/>
          </a:xfrm>
          <a:prstGeom prst="rect">
            <a:avLst/>
          </a:prstGeom>
          <a:ln w="0">
            <a:noFill/>
          </a:ln>
        </p:spPr>
      </p:sp>
      <p:sp>
        <p:nvSpPr>
          <p:cNvPr id="25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Source: gear_swap_motor.py. reconfigure(positive_direction, gears) sets direction_x and gear_ratio; run_angle multiplies angle and speed by gear_ratio. Direction is compared to the direction the motor was created with in robot_profiles.py. Default is no gears (ratio 1). Speed is multiplied by the ratio, so a large ratio can ask the motor for more than it can do.</a:t>
            </a:r>
            <a:endParaRPr b="0" lang="en-US" sz="2000" spc="-1" strike="noStrike">
              <a:solidFill>
                <a:srgbClr val="000000"/>
              </a:solidFill>
              <a:latin typeface="Arial"/>
            </a:endParaRPr>
          </a:p>
        </p:txBody>
      </p:sp>
      <p:sp>
        <p:nvSpPr>
          <p:cNvPr id="252" name="PlaceHolder 3"/>
          <p:cNvSpPr>
            <a:spLocks noGrp="1"/>
          </p:cNvSpPr>
          <p:nvPr>
            <p:ph type="sldNum" idx="2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CF0E903-730A-4E19-8834-1EBCA853801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PlaceHolder 1"/>
          <p:cNvSpPr>
            <a:spLocks noGrp="1"/>
          </p:cNvSpPr>
          <p:nvPr>
            <p:ph type="sldImg"/>
          </p:nvPr>
        </p:nvSpPr>
        <p:spPr>
          <a:xfrm>
            <a:off x="685800" y="1143000"/>
            <a:ext cx="5486040" cy="3085920"/>
          </a:xfrm>
          <a:prstGeom prst="rect">
            <a:avLst/>
          </a:prstGeom>
          <a:ln w="0">
            <a:noFill/>
          </a:ln>
        </p:spPr>
      </p:sp>
      <p:sp>
        <p:nvSpPr>
          <p:cNvPr id="25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Source: depreciated/run_demo_6_multi_tasking.py uses multitask(demo_drive_straight_turn(), demo_center_attachment()).</a:t>
            </a:r>
            <a:endParaRPr b="0" lang="en-US" sz="2000" spc="-1" strike="noStrike">
              <a:solidFill>
                <a:srgbClr val="000000"/>
              </a:solidFill>
              <a:latin typeface="Arial"/>
            </a:endParaRPr>
          </a:p>
        </p:txBody>
      </p:sp>
      <p:sp>
        <p:nvSpPr>
          <p:cNvPr id="255" name="PlaceHolder 3"/>
          <p:cNvSpPr>
            <a:spLocks noGrp="1"/>
          </p:cNvSpPr>
          <p:nvPr>
            <p:ph type="sldNum" idx="3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A110B875-C61C-41DE-B0B7-6268856DC98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PlaceHolder 1"/>
          <p:cNvSpPr>
            <a:spLocks noGrp="1"/>
          </p:cNvSpPr>
          <p:nvPr>
            <p:ph type="sldImg"/>
          </p:nvPr>
        </p:nvSpPr>
        <p:spPr>
          <a:xfrm>
            <a:off x="685800" y="1143000"/>
            <a:ext cx="5486040" cy="3085920"/>
          </a:xfrm>
          <a:prstGeom prst="rect">
            <a:avLst/>
          </a:prstGeom>
          <a:ln w="0">
            <a:noFill/>
          </a:ln>
        </p:spPr>
      </p:sp>
      <p:sp>
        <p:nvSpPr>
          <p:cNvPr id="25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Check the exact stop call against the pybricks version on our hubs; test on the robot before the talk.</a:t>
            </a:r>
            <a:endParaRPr b="0" lang="en-US" sz="2000" spc="-1" strike="noStrike">
              <a:solidFill>
                <a:srgbClr val="000000"/>
              </a:solidFill>
              <a:latin typeface="Arial"/>
            </a:endParaRPr>
          </a:p>
        </p:txBody>
      </p:sp>
      <p:sp>
        <p:nvSpPr>
          <p:cNvPr id="258" name="PlaceHolder 3"/>
          <p:cNvSpPr>
            <a:spLocks noGrp="1"/>
          </p:cNvSpPr>
          <p:nvPr>
            <p:ph type="sldNum" idx="3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4D00739-561F-48B0-8DCF-570D13E91D0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PlaceHolder 1"/>
          <p:cNvSpPr>
            <a:spLocks noGrp="1"/>
          </p:cNvSpPr>
          <p:nvPr>
            <p:ph type="sldImg"/>
          </p:nvPr>
        </p:nvSpPr>
        <p:spPr>
          <a:xfrm>
            <a:off x="685800" y="1143000"/>
            <a:ext cx="5486040" cy="3085920"/>
          </a:xfrm>
          <a:prstGeom prst="rect">
            <a:avLst/>
          </a:prstGeom>
          <a:ln w="0">
            <a:noFill/>
          </a:ln>
        </p:spPr>
      </p:sp>
      <p:sp>
        <p:nvSpPr>
          <p:cNvPr id="26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Source: depreciated/run_demo_5_color_sensors.py shows wait_for_color polling with wait(1000); here we poll every 10 ms and use reflection() so black/white are easy to separate.</a:t>
            </a:r>
            <a:endParaRPr b="0" lang="en-US" sz="2000" spc="-1" strike="noStrike">
              <a:solidFill>
                <a:srgbClr val="000000"/>
              </a:solidFill>
              <a:latin typeface="Arial"/>
            </a:endParaRPr>
          </a:p>
        </p:txBody>
      </p:sp>
      <p:sp>
        <p:nvSpPr>
          <p:cNvPr id="261" name="PlaceHolder 3"/>
          <p:cNvSpPr>
            <a:spLocks noGrp="1"/>
          </p:cNvSpPr>
          <p:nvPr>
            <p:ph type="sldNum" idx="3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91E181B-4AE2-4FE4-8D94-AA9221387D8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2" name="PlaceHolder 1"/>
          <p:cNvSpPr>
            <a:spLocks noGrp="1"/>
          </p:cNvSpPr>
          <p:nvPr>
            <p:ph type="sldImg"/>
          </p:nvPr>
        </p:nvSpPr>
        <p:spPr>
          <a:xfrm>
            <a:off x="685800" y="1143000"/>
            <a:ext cx="5486040" cy="3085920"/>
          </a:xfrm>
          <a:prstGeom prst="rect">
            <a:avLst/>
          </a:prstGeom>
          <a:ln w="0">
            <a:noFill/>
          </a:ln>
        </p:spPr>
      </p:sp>
      <p:sp>
        <p:nvSpPr>
          <p:cNvPr id="26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Action item for Ethan: push the center-button stop code. Watch for: the center press that launches a run is still held; wait for release before listening for stop.</a:t>
            </a:r>
            <a:endParaRPr b="0" lang="en-US" sz="2000" spc="-1" strike="noStrike">
              <a:solidFill>
                <a:srgbClr val="000000"/>
              </a:solidFill>
              <a:latin typeface="Arial"/>
            </a:endParaRPr>
          </a:p>
        </p:txBody>
      </p:sp>
      <p:sp>
        <p:nvSpPr>
          <p:cNvPr id="264" name="PlaceHolder 3"/>
          <p:cNvSpPr>
            <a:spLocks noGrp="1"/>
          </p:cNvSpPr>
          <p:nvPr>
            <p:ph type="sldNum" idx="3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5BB69A21-013E-4146-BA43-670A9A34F02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PlaceHolder 1"/>
          <p:cNvSpPr>
            <a:spLocks noGrp="1"/>
          </p:cNvSpPr>
          <p:nvPr>
            <p:ph type="sldImg"/>
          </p:nvPr>
        </p:nvSpPr>
        <p:spPr>
          <a:xfrm>
            <a:off x="685800" y="1143000"/>
            <a:ext cx="5486040" cy="3085920"/>
          </a:xfrm>
          <a:prstGeom prst="rect">
            <a:avLst/>
          </a:prstGeom>
          <a:ln w="0">
            <a:noFill/>
          </a:ln>
        </p:spPr>
      </p:sp>
      <p:sp>
        <p:nvSpPr>
          <p:cNvPr id="26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67" name="PlaceHolder 3"/>
          <p:cNvSpPr>
            <a:spLocks noGrp="1"/>
          </p:cNvSpPr>
          <p:nvPr>
            <p:ph type="sldNum" idx="3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891B629-2666-4726-9723-BBE97AFECFF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sldImg"/>
          </p:nvPr>
        </p:nvSpPr>
        <p:spPr>
          <a:xfrm>
            <a:off x="685800" y="1143000"/>
            <a:ext cx="5486040" cy="3085920"/>
          </a:xfrm>
          <a:prstGeom prst="rect">
            <a:avLst/>
          </a:prstGeom>
          <a:ln w="0">
            <a:noFill/>
          </a:ln>
        </p:spPr>
      </p:sp>
      <p:sp>
        <p:nvSpPr>
          <p:cNvPr id="26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0" name="PlaceHolder 3"/>
          <p:cNvSpPr>
            <a:spLocks noGrp="1"/>
          </p:cNvSpPr>
          <p:nvPr>
            <p:ph type="sldNum" idx="3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100516F-2314-4EE3-AA97-6A9047865BD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 name="PlaceHolder 1"/>
          <p:cNvSpPr>
            <a:spLocks noGrp="1"/>
          </p:cNvSpPr>
          <p:nvPr>
            <p:ph type="sldImg"/>
          </p:nvPr>
        </p:nvSpPr>
        <p:spPr>
          <a:xfrm>
            <a:off x="685800" y="1143000"/>
            <a:ext cx="5486040" cy="3085920"/>
          </a:xfrm>
          <a:prstGeom prst="rect">
            <a:avLst/>
          </a:prstGeom>
          <a:ln w="0">
            <a:noFill/>
          </a:ln>
        </p:spPr>
      </p:sp>
      <p:sp>
        <p:nvSpPr>
          <p:cNvPr id="27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3" name="PlaceHolder 3"/>
          <p:cNvSpPr>
            <a:spLocks noGrp="1"/>
          </p:cNvSpPr>
          <p:nvPr>
            <p:ph type="sldNum" idx="3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1E276E1-8572-4C58-B726-AD93E2E0161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2A222C1E-A7A5-4C17-A204-464309D6A7F2}"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8f1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020"/>
        </a:solidFill>
      </p:bgPr>
    </p:bg>
    <p:spTree>
      <p:nvGrpSpPr>
        <p:cNvPr id="1" name=""/>
        <p:cNvGrpSpPr/>
        <p:nvPr/>
      </p:nvGrpSpPr>
      <p:grpSpPr>
        <a:xfrm>
          <a:off x="0" y="0"/>
          <a:ext cx="0" cy="0"/>
          <a:chOff x="0" y="0"/>
          <a:chExt cx="0" cy="0"/>
        </a:xfrm>
      </p:grpSpPr>
      <p:sp>
        <p:nvSpPr>
          <p:cNvPr id="0" name="Shape 0"/>
          <p:cNvSpPr/>
          <p:nvPr/>
        </p:nvSpPr>
        <p:spPr>
          <a:xfrm>
            <a:off x="0" y="4754880"/>
            <a:ext cx="9143640" cy="388440"/>
          </a:xfrm>
          <a:prstGeom prst="rect">
            <a:avLst/>
          </a:prstGeom>
          <a:solidFill>
            <a:srgbClr val="070c19"/>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 name="Text 1"/>
          <p:cNvSpPr/>
          <p:nvPr/>
        </p:nvSpPr>
        <p:spPr>
          <a:xfrm>
            <a:off x="457200" y="4754880"/>
            <a:ext cx="7680600" cy="388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pc="-1" strike="noStrike">
                <a:solidFill>
                  <a:srgbClr val="000000"/>
                </a:solidFill>
                <a:latin typeface="Calibri"/>
                <a:ea typeface="Calibri"/>
              </a:rPr>
              <a:t>[object Object],[object Object]</a:t>
            </a:r>
            <a:endParaRPr b="0" lang="en-US" sz="1000" spc="-1" strike="noStrike">
              <a:solidFill>
                <a:srgbClr val="ffffff"/>
              </a:solidFill>
              <a:latin typeface="Arial"/>
            </a:endParaRPr>
          </a:p>
        </p:txBody>
      </p:sp>
      <p:sp>
        <p:nvSpPr>
          <p:cNvPr id="2" name="PlaceHolder 1"/>
          <p:cNvSpPr>
            <a:spLocks noGrp="1"/>
          </p:cNvSpPr>
          <p:nvPr>
            <p:ph type="sldNum" idx="1"/>
          </p:nvPr>
        </p:nvSpPr>
        <p:spPr>
          <a:xfrm>
            <a:off x="8321040" y="4754880"/>
            <a:ext cx="456840" cy="388440"/>
          </a:xfrm>
          <a:prstGeom prst="rect">
            <a:avLst/>
          </a:prstGeom>
          <a:noFill/>
          <a:ln w="0">
            <a:noFill/>
          </a:ln>
        </p:spPr>
        <p:txBody>
          <a:bodyPr lIns="90000" rIns="90000" tIns="45000" bIns="45000" anchor="t">
            <a:noAutofit/>
          </a:bodyPr>
          <a:lstStyle>
            <a:lvl1pPr indent="0" algn="r" defTabSz="914400">
              <a:lnSpc>
                <a:spcPct val="100000"/>
              </a:lnSpc>
              <a:buNone/>
              <a:defRPr b="0" lang="en-US" sz="1000" spc="-1" strike="noStrike">
                <a:solidFill>
                  <a:srgbClr val="8fa3c7"/>
                </a:solidFill>
                <a:latin typeface="Calibri"/>
                <a:ea typeface="Calibri"/>
              </a:defRPr>
            </a:lvl1pPr>
          </a:lstStyle>
          <a:p>
            <a:pPr indent="0" algn="r" defTabSz="914400">
              <a:lnSpc>
                <a:spcPct val="100000"/>
              </a:lnSpc>
              <a:buNone/>
            </a:pPr>
            <a:fld id="{1E509D9F-C0FE-4A3B-8AF8-6F43017FCBCD}" type="slidenum">
              <a:rPr b="0" lang="en-US" sz="1000" spc="-1" strike="noStrike">
                <a:solidFill>
                  <a:srgbClr val="8fa3c7"/>
                </a:solidFill>
                <a:latin typeface="Calibri"/>
                <a:ea typeface="Calibri"/>
              </a:rPr>
              <a:t>&lt;number&gt;</a:t>
            </a:fld>
            <a:endParaRPr b="0" lang="en-US" sz="1000" spc="-1" strike="noStrike">
              <a:solidFill>
                <a:srgbClr val="ffffff"/>
              </a:solidFill>
              <a:latin typeface="Times New Roman"/>
            </a:endParaRPr>
          </a:p>
        </p:txBody>
      </p:sp>
      <p:sp>
        <p:nvSpPr>
          <p:cNvPr id="3"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4"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ffffff"/>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ffffff"/>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ffffff"/>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ffffff"/>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ffffff"/>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ffffff"/>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020"/>
        </a:solidFill>
      </p:bgPr>
    </p:bg>
    <p:spTree>
      <p:nvGrpSpPr>
        <p:cNvPr id="1" name=""/>
        <p:cNvGrpSpPr/>
        <p:nvPr/>
      </p:nvGrpSpPr>
      <p:grpSpPr>
        <a:xfrm>
          <a:off x="0" y="0"/>
          <a:ext cx="0" cy="0"/>
          <a:chOff x="0" y="0"/>
          <a:chExt cx="0" cy="0"/>
        </a:xfrm>
      </p:grpSpPr>
      <p:sp>
        <p:nvSpPr>
          <p:cNvPr id="5" name="Shape 0"/>
          <p:cNvSpPr/>
          <p:nvPr/>
        </p:nvSpPr>
        <p:spPr>
          <a:xfrm>
            <a:off x="0" y="4754880"/>
            <a:ext cx="9143640" cy="388440"/>
          </a:xfrm>
          <a:prstGeom prst="rect">
            <a:avLst/>
          </a:prstGeom>
          <a:solidFill>
            <a:srgbClr val="070c19"/>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 name="Text 1"/>
          <p:cNvSpPr/>
          <p:nvPr/>
        </p:nvSpPr>
        <p:spPr>
          <a:xfrm>
            <a:off x="457200" y="4754880"/>
            <a:ext cx="7680600" cy="388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pc="-1" strike="noStrike">
                <a:solidFill>
                  <a:srgbClr val="000000"/>
                </a:solidFill>
                <a:latin typeface="Calibri"/>
                <a:ea typeface="Calibri"/>
              </a:rPr>
              <a:t>[object Object],[object Object]</a:t>
            </a:r>
            <a:endParaRPr b="0" lang="en-US" sz="1000" spc="-1" strike="noStrike">
              <a:solidFill>
                <a:srgbClr val="ffffff"/>
              </a:solidFill>
              <a:latin typeface="Arial"/>
            </a:endParaRPr>
          </a:p>
        </p:txBody>
      </p:sp>
      <p:sp>
        <p:nvSpPr>
          <p:cNvPr id="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8"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ffffff"/>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ffffff"/>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ffffff"/>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ffffff"/>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ffffff"/>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ffffff"/>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 name="Shape 0"/>
          <p:cNvSpPr/>
          <p:nvPr/>
        </p:nvSpPr>
        <p:spPr>
          <a:xfrm>
            <a:off x="6035040" y="457200"/>
            <a:ext cx="2925720" cy="2925720"/>
          </a:xfrm>
          <a:prstGeom prst="ellipse">
            <a:avLst/>
          </a:prstGeom>
          <a:solidFill>
            <a:srgbClr val="22e6c4">
              <a:alpha val="15000"/>
            </a:srgbClr>
          </a:solidFill>
          <a:ln w="19050">
            <a:solidFill>
              <a:srgbClr val="22e6c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 name="Shape 1"/>
          <p:cNvSpPr/>
          <p:nvPr/>
        </p:nvSpPr>
        <p:spPr>
          <a:xfrm>
            <a:off x="6675120" y="1097280"/>
            <a:ext cx="1645560" cy="1645560"/>
          </a:xfrm>
          <a:prstGeom prst="ellipse">
            <a:avLst/>
          </a:prstGeom>
          <a:solidFill>
            <a:srgbClr val="b26bff">
              <a:alpha val="30000"/>
            </a:srgbClr>
          </a:solidFill>
          <a:ln w="19050">
            <a:solidFill>
              <a:srgbClr val="b26bf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 name="Shape 2"/>
          <p:cNvSpPr/>
          <p:nvPr/>
        </p:nvSpPr>
        <p:spPr>
          <a:xfrm>
            <a:off x="7178040" y="1600200"/>
            <a:ext cx="639720" cy="639720"/>
          </a:xfrm>
          <a:prstGeom prst="ellipse">
            <a:avLst/>
          </a:prstGeom>
          <a:solidFill>
            <a:srgbClr val="22e6c4"/>
          </a:solidFill>
          <a:ln w="12700">
            <a:solidFill>
              <a:srgbClr val="22e6c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8" name="Text 3"/>
          <p:cNvSpPr/>
          <p:nvPr/>
        </p:nvSpPr>
        <p:spPr>
          <a:xfrm>
            <a:off x="548640" y="914400"/>
            <a:ext cx="54860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299" strike="noStrike">
                <a:solidFill>
                  <a:srgbClr val="22e6c4"/>
                </a:solidFill>
                <a:latin typeface="Calibri"/>
              </a:rPr>
              <a:t>INFINITE ROBOTICS · FLL 2026 BIOGLOW</a:t>
            </a:r>
            <a:endParaRPr b="0" lang="en-US" sz="1300" spc="-1" strike="noStrike">
              <a:solidFill>
                <a:srgbClr val="ffffff"/>
              </a:solidFill>
              <a:latin typeface="Arial"/>
            </a:endParaRPr>
          </a:p>
        </p:txBody>
      </p:sp>
      <p:sp>
        <p:nvSpPr>
          <p:cNvPr id="19" name="Text 4"/>
          <p:cNvSpPr/>
          <p:nvPr/>
        </p:nvSpPr>
        <p:spPr>
          <a:xfrm>
            <a:off x="548640" y="1325880"/>
            <a:ext cx="5486040" cy="1371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4000" spc="-1" strike="noStrike">
                <a:solidFill>
                  <a:srgbClr val="e8f1ff"/>
                </a:solidFill>
                <a:latin typeface="Cambria"/>
                <a:ea typeface="Cambria"/>
              </a:rPr>
              <a:t>How to code with infinity-2026</a:t>
            </a:r>
            <a:endParaRPr b="0" lang="en-US" sz="4000" spc="-1" strike="noStrike">
              <a:solidFill>
                <a:srgbClr val="ffffff"/>
              </a:solidFill>
              <a:latin typeface="Arial"/>
            </a:endParaRPr>
          </a:p>
        </p:txBody>
      </p:sp>
      <p:sp>
        <p:nvSpPr>
          <p:cNvPr id="20" name="Text 5"/>
          <p:cNvSpPr/>
          <p:nvPr/>
        </p:nvSpPr>
        <p:spPr>
          <a:xfrm>
            <a:off x="548640" y="2788920"/>
            <a:ext cx="5303160" cy="731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800" spc="-1" strike="noStrike">
                <a:solidFill>
                  <a:srgbClr val="8fa3c7"/>
                </a:solidFill>
                <a:latin typeface="Calibri"/>
              </a:rPr>
              <a:t>Pull the latest code, organize runs, and make the robot do two things at once</a:t>
            </a:r>
            <a:endParaRPr b="0" lang="en-US" sz="1800" spc="-1" strike="noStrike">
              <a:solidFill>
                <a:srgbClr val="ffffff"/>
              </a:solidFill>
              <a:latin typeface="Arial"/>
            </a:endParaRPr>
          </a:p>
        </p:txBody>
      </p:sp>
      <p:sp>
        <p:nvSpPr>
          <p:cNvPr id="21" name="Text 6"/>
          <p:cNvSpPr/>
          <p:nvPr/>
        </p:nvSpPr>
        <p:spPr>
          <a:xfrm>
            <a:off x="548640" y="3840480"/>
            <a:ext cx="54860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fc857"/>
                </a:solidFill>
                <a:latin typeface="Calibri"/>
              </a:rPr>
              <a:t>Presented by Ethan &amp; Braxton</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 name="Text 0"/>
          <p:cNvSpPr/>
          <p:nvPr/>
        </p:nvSpPr>
        <p:spPr>
          <a:xfrm>
            <a:off x="457200" y="274320"/>
            <a:ext cx="69490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e8f1ff"/>
                </a:solidFill>
                <a:latin typeface="Cambria"/>
                <a:ea typeface="Cambria"/>
              </a:rPr>
              <a:t>What you will be able to do</a:t>
            </a:r>
            <a:endParaRPr b="0" lang="en-US" sz="2800" spc="-1" strike="noStrike">
              <a:solidFill>
                <a:srgbClr val="ffffff"/>
              </a:solidFill>
              <a:latin typeface="Arial"/>
            </a:endParaRPr>
          </a:p>
        </p:txBody>
      </p:sp>
      <p:sp>
        <p:nvSpPr>
          <p:cNvPr id="23" name="Text 1"/>
          <p:cNvSpPr/>
          <p:nvPr/>
        </p:nvSpPr>
        <p:spPr>
          <a:xfrm>
            <a:off x="7498080" y="347400"/>
            <a:ext cx="1188360" cy="310680"/>
          </a:xfrm>
          <a:prstGeom prst="roundRect">
            <a:avLst>
              <a:gd name="adj" fmla="val 50000"/>
            </a:avLst>
          </a:prstGeom>
          <a:solidFill>
            <a:srgbClr val="b26bff"/>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0a1020"/>
                </a:solidFill>
                <a:latin typeface="Calibri"/>
              </a:rPr>
              <a:t>Ethan &amp; Braxton</a:t>
            </a:r>
            <a:endParaRPr b="0" lang="en-US" sz="1100" spc="-1" strike="noStrike">
              <a:solidFill>
                <a:srgbClr val="ffffff"/>
              </a:solidFill>
              <a:latin typeface="Arial"/>
            </a:endParaRPr>
          </a:p>
        </p:txBody>
      </p:sp>
      <p:sp>
        <p:nvSpPr>
          <p:cNvPr id="24" name="Shape 2"/>
          <p:cNvSpPr/>
          <p:nvPr/>
        </p:nvSpPr>
        <p:spPr>
          <a:xfrm>
            <a:off x="457200" y="1097280"/>
            <a:ext cx="2605680" cy="1554120"/>
          </a:xfrm>
          <a:prstGeom prst="roundRect">
            <a:avLst>
              <a:gd name="adj" fmla="val 5882"/>
            </a:avLst>
          </a:prstGeom>
          <a:solidFill>
            <a:srgbClr val="141e38"/>
          </a:solidFill>
          <a:ln w="12700">
            <a:solidFill>
              <a:srgbClr val="141e3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 name="Text 3"/>
          <p:cNvSpPr/>
          <p:nvPr/>
        </p:nvSpPr>
        <p:spPr>
          <a:xfrm>
            <a:off x="594360" y="1188720"/>
            <a:ext cx="233136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22e6c4"/>
                </a:solidFill>
                <a:latin typeface="Calibri"/>
                <a:ea typeface="Calibri"/>
              </a:rPr>
              <a:t>1. Get the latest code</a:t>
            </a:r>
            <a:endParaRPr b="0" lang="en-US" sz="1500" spc="-1" strike="noStrike">
              <a:solidFill>
                <a:srgbClr val="ffffff"/>
              </a:solidFill>
              <a:latin typeface="Arial"/>
            </a:endParaRPr>
          </a:p>
        </p:txBody>
      </p:sp>
      <p:sp>
        <p:nvSpPr>
          <p:cNvPr id="26" name="Text 4"/>
          <p:cNvSpPr/>
          <p:nvPr/>
        </p:nvSpPr>
        <p:spPr>
          <a:xfrm>
            <a:off x="594360" y="1536120"/>
            <a:ext cx="2331360" cy="10238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00" spc="-1" strike="noStrike">
                <a:solidFill>
                  <a:srgbClr val="e8f1ff"/>
                </a:solidFill>
                <a:latin typeface="Calibri"/>
                <a:ea typeface="Calibri"/>
              </a:rPr>
              <a:t>VS Code, with or without local changes</a:t>
            </a:r>
            <a:endParaRPr b="0" lang="en-US" sz="1300" spc="-1" strike="noStrike">
              <a:solidFill>
                <a:srgbClr val="ffffff"/>
              </a:solidFill>
              <a:latin typeface="Arial"/>
            </a:endParaRPr>
          </a:p>
          <a:p>
            <a:pPr defTabSz="914400">
              <a:lnSpc>
                <a:spcPct val="100000"/>
              </a:lnSpc>
              <a:tabLst>
                <a:tab algn="l" pos="0"/>
              </a:tabLst>
            </a:pPr>
            <a:endParaRPr b="0" lang="en-US" sz="1300" spc="-1" strike="noStrike">
              <a:solidFill>
                <a:srgbClr val="ffffff"/>
              </a:solidFill>
              <a:latin typeface="Arial"/>
            </a:endParaRPr>
          </a:p>
          <a:p>
            <a:pPr defTabSz="914400">
              <a:lnSpc>
                <a:spcPct val="100000"/>
              </a:lnSpc>
              <a:tabLst>
                <a:tab algn="l" pos="0"/>
              </a:tabLst>
            </a:pPr>
            <a:r>
              <a:rPr b="0" lang="en-US" sz="1300" spc="-1" strike="noStrike">
                <a:solidFill>
                  <a:srgbClr val="e8f1ff"/>
                </a:solidFill>
                <a:latin typeface="Calibri"/>
                <a:ea typeface="Calibri"/>
              </a:rPr>
              <a:t>Presenter: Ethan</a:t>
            </a:r>
            <a:endParaRPr b="0" lang="en-US" sz="1300" spc="-1" strike="noStrike">
              <a:solidFill>
                <a:srgbClr val="ffffff"/>
              </a:solidFill>
              <a:latin typeface="Arial"/>
            </a:endParaRPr>
          </a:p>
        </p:txBody>
      </p:sp>
      <p:sp>
        <p:nvSpPr>
          <p:cNvPr id="27" name="Shape 5"/>
          <p:cNvSpPr/>
          <p:nvPr/>
        </p:nvSpPr>
        <p:spPr>
          <a:xfrm>
            <a:off x="3246120" y="1097280"/>
            <a:ext cx="2605680" cy="1554120"/>
          </a:xfrm>
          <a:prstGeom prst="roundRect">
            <a:avLst>
              <a:gd name="adj" fmla="val 5882"/>
            </a:avLst>
          </a:prstGeom>
          <a:solidFill>
            <a:srgbClr val="141e38"/>
          </a:solidFill>
          <a:ln w="12700">
            <a:solidFill>
              <a:srgbClr val="141e3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 name="Text 6"/>
          <p:cNvSpPr/>
          <p:nvPr/>
        </p:nvSpPr>
        <p:spPr>
          <a:xfrm>
            <a:off x="3383280" y="1188720"/>
            <a:ext cx="233136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ffc857"/>
                </a:solidFill>
                <a:latin typeface="Calibri"/>
                <a:ea typeface="Calibri"/>
              </a:rPr>
              <a:t>2. Organize and name runs</a:t>
            </a:r>
            <a:endParaRPr b="0" lang="en-US" sz="1500" spc="-1" strike="noStrike">
              <a:solidFill>
                <a:srgbClr val="ffffff"/>
              </a:solidFill>
              <a:latin typeface="Arial"/>
            </a:endParaRPr>
          </a:p>
        </p:txBody>
      </p:sp>
      <p:sp>
        <p:nvSpPr>
          <p:cNvPr id="29" name="Text 7"/>
          <p:cNvSpPr/>
          <p:nvPr/>
        </p:nvSpPr>
        <p:spPr>
          <a:xfrm>
            <a:off x="3383280" y="1536120"/>
            <a:ext cx="2331360" cy="10238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00" spc="-1" strike="noStrike">
                <a:solidFill>
                  <a:srgbClr val="e8f1ff"/>
                </a:solidFill>
                <a:latin typeface="Calibri"/>
                <a:ea typeface="Calibri"/>
              </a:rPr>
              <a:t>One file per run, clear names, gear setup per run</a:t>
            </a:r>
            <a:endParaRPr b="0" lang="en-US" sz="1300" spc="-1" strike="noStrike">
              <a:solidFill>
                <a:srgbClr val="ffffff"/>
              </a:solidFill>
              <a:latin typeface="Arial"/>
            </a:endParaRPr>
          </a:p>
          <a:p>
            <a:pPr defTabSz="914400">
              <a:lnSpc>
                <a:spcPct val="100000"/>
              </a:lnSpc>
              <a:tabLst>
                <a:tab algn="l" pos="0"/>
              </a:tabLst>
            </a:pPr>
            <a:endParaRPr b="0" lang="en-US" sz="1300" spc="-1" strike="noStrike">
              <a:solidFill>
                <a:srgbClr val="ffffff"/>
              </a:solidFill>
              <a:latin typeface="Arial"/>
            </a:endParaRPr>
          </a:p>
          <a:p>
            <a:pPr defTabSz="914400">
              <a:lnSpc>
                <a:spcPct val="100000"/>
              </a:lnSpc>
              <a:tabLst>
                <a:tab algn="l" pos="0"/>
              </a:tabLst>
            </a:pPr>
            <a:r>
              <a:rPr b="0" lang="en-US" sz="1300" spc="-1" strike="noStrike">
                <a:solidFill>
                  <a:srgbClr val="e8f1ff"/>
                </a:solidFill>
                <a:latin typeface="Calibri"/>
                <a:ea typeface="Calibri"/>
              </a:rPr>
              <a:t>Presenter: Braxton</a:t>
            </a:r>
            <a:endParaRPr b="0" lang="en-US" sz="1300" spc="-1" strike="noStrike">
              <a:solidFill>
                <a:srgbClr val="ffffff"/>
              </a:solidFill>
              <a:latin typeface="Arial"/>
            </a:endParaRPr>
          </a:p>
        </p:txBody>
      </p:sp>
      <p:sp>
        <p:nvSpPr>
          <p:cNvPr id="30" name="Shape 8"/>
          <p:cNvSpPr/>
          <p:nvPr/>
        </p:nvSpPr>
        <p:spPr>
          <a:xfrm>
            <a:off x="6035040" y="1097280"/>
            <a:ext cx="2605680" cy="1554120"/>
          </a:xfrm>
          <a:prstGeom prst="roundRect">
            <a:avLst>
              <a:gd name="adj" fmla="val 5882"/>
            </a:avLst>
          </a:prstGeom>
          <a:solidFill>
            <a:srgbClr val="141e38"/>
          </a:solidFill>
          <a:ln w="12700">
            <a:solidFill>
              <a:srgbClr val="141e3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 name="Text 9"/>
          <p:cNvSpPr/>
          <p:nvPr/>
        </p:nvSpPr>
        <p:spPr>
          <a:xfrm>
            <a:off x="6172200" y="1188720"/>
            <a:ext cx="233136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ffc857"/>
                </a:solidFill>
                <a:latin typeface="Calibri"/>
                <a:ea typeface="Calibri"/>
              </a:rPr>
              <a:t>3. Add runs to robot.py</a:t>
            </a:r>
            <a:endParaRPr b="0" lang="en-US" sz="1500" spc="-1" strike="noStrike">
              <a:solidFill>
                <a:srgbClr val="ffffff"/>
              </a:solidFill>
              <a:latin typeface="Arial"/>
            </a:endParaRPr>
          </a:p>
        </p:txBody>
      </p:sp>
      <p:sp>
        <p:nvSpPr>
          <p:cNvPr id="32" name="Text 10"/>
          <p:cNvSpPr/>
          <p:nvPr/>
        </p:nvSpPr>
        <p:spPr>
          <a:xfrm>
            <a:off x="6172200" y="1536120"/>
            <a:ext cx="2331360" cy="10238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00" spc="-1" strike="noStrike">
                <a:solidFill>
                  <a:srgbClr val="e8f1ff"/>
                </a:solidFill>
                <a:latin typeface="Calibri"/>
                <a:ea typeface="Calibri"/>
              </a:rPr>
              <a:t>Pick any run by number on the hub</a:t>
            </a:r>
            <a:endParaRPr b="0" lang="en-US" sz="1300" spc="-1" strike="noStrike">
              <a:solidFill>
                <a:srgbClr val="ffffff"/>
              </a:solidFill>
              <a:latin typeface="Arial"/>
            </a:endParaRPr>
          </a:p>
          <a:p>
            <a:pPr defTabSz="914400">
              <a:lnSpc>
                <a:spcPct val="100000"/>
              </a:lnSpc>
              <a:tabLst>
                <a:tab algn="l" pos="0"/>
              </a:tabLst>
            </a:pPr>
            <a:endParaRPr b="0" lang="en-US" sz="1300" spc="-1" strike="noStrike">
              <a:solidFill>
                <a:srgbClr val="ffffff"/>
              </a:solidFill>
              <a:latin typeface="Arial"/>
            </a:endParaRPr>
          </a:p>
          <a:p>
            <a:pPr defTabSz="914400">
              <a:lnSpc>
                <a:spcPct val="100000"/>
              </a:lnSpc>
              <a:tabLst>
                <a:tab algn="l" pos="0"/>
              </a:tabLst>
            </a:pPr>
            <a:r>
              <a:rPr b="0" lang="en-US" sz="1300" spc="-1" strike="noStrike">
                <a:solidFill>
                  <a:srgbClr val="e8f1ff"/>
                </a:solidFill>
                <a:latin typeface="Calibri"/>
                <a:ea typeface="Calibri"/>
              </a:rPr>
              <a:t>Presenter: Braxton</a:t>
            </a:r>
            <a:endParaRPr b="0" lang="en-US" sz="1300" spc="-1" strike="noStrike">
              <a:solidFill>
                <a:srgbClr val="ffffff"/>
              </a:solidFill>
              <a:latin typeface="Arial"/>
            </a:endParaRPr>
          </a:p>
        </p:txBody>
      </p:sp>
      <p:sp>
        <p:nvSpPr>
          <p:cNvPr id="33" name="Shape 11"/>
          <p:cNvSpPr/>
          <p:nvPr/>
        </p:nvSpPr>
        <p:spPr>
          <a:xfrm>
            <a:off x="457200" y="2834640"/>
            <a:ext cx="2605680" cy="1554120"/>
          </a:xfrm>
          <a:prstGeom prst="roundRect">
            <a:avLst>
              <a:gd name="adj" fmla="val 5882"/>
            </a:avLst>
          </a:prstGeom>
          <a:solidFill>
            <a:srgbClr val="141e38"/>
          </a:solidFill>
          <a:ln w="12700">
            <a:solidFill>
              <a:srgbClr val="141e3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 name="Text 12"/>
          <p:cNvSpPr/>
          <p:nvPr/>
        </p:nvSpPr>
        <p:spPr>
          <a:xfrm>
            <a:off x="594360" y="2926080"/>
            <a:ext cx="233136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22e6c4"/>
                </a:solidFill>
                <a:latin typeface="Calibri"/>
                <a:ea typeface="Calibri"/>
              </a:rPr>
              <a:t>4. Multitask</a:t>
            </a:r>
            <a:endParaRPr b="0" lang="en-US" sz="1500" spc="-1" strike="noStrike">
              <a:solidFill>
                <a:srgbClr val="ffffff"/>
              </a:solidFill>
              <a:latin typeface="Arial"/>
            </a:endParaRPr>
          </a:p>
        </p:txBody>
      </p:sp>
      <p:sp>
        <p:nvSpPr>
          <p:cNvPr id="35" name="Text 13"/>
          <p:cNvSpPr/>
          <p:nvPr/>
        </p:nvSpPr>
        <p:spPr>
          <a:xfrm>
            <a:off x="594360" y="3273480"/>
            <a:ext cx="2331360" cy="10238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00" spc="-1" strike="noStrike">
                <a:solidFill>
                  <a:srgbClr val="e8f1ff"/>
                </a:solidFill>
                <a:latin typeface="Calibri"/>
                <a:ea typeface="Calibri"/>
              </a:rPr>
              <a:t>Drive + attachment, color sensor, drive until line</a:t>
            </a:r>
            <a:endParaRPr b="0" lang="en-US" sz="1300" spc="-1" strike="noStrike">
              <a:solidFill>
                <a:srgbClr val="ffffff"/>
              </a:solidFill>
              <a:latin typeface="Arial"/>
            </a:endParaRPr>
          </a:p>
          <a:p>
            <a:pPr defTabSz="914400">
              <a:lnSpc>
                <a:spcPct val="100000"/>
              </a:lnSpc>
              <a:tabLst>
                <a:tab algn="l" pos="0"/>
              </a:tabLst>
            </a:pPr>
            <a:endParaRPr b="0" lang="en-US" sz="1300" spc="-1" strike="noStrike">
              <a:solidFill>
                <a:srgbClr val="ffffff"/>
              </a:solidFill>
              <a:latin typeface="Arial"/>
            </a:endParaRPr>
          </a:p>
          <a:p>
            <a:pPr defTabSz="914400">
              <a:lnSpc>
                <a:spcPct val="100000"/>
              </a:lnSpc>
              <a:tabLst>
                <a:tab algn="l" pos="0"/>
              </a:tabLst>
            </a:pPr>
            <a:r>
              <a:rPr b="0" lang="en-US" sz="1300" spc="-1" strike="noStrike">
                <a:solidFill>
                  <a:srgbClr val="e8f1ff"/>
                </a:solidFill>
                <a:latin typeface="Calibri"/>
                <a:ea typeface="Calibri"/>
              </a:rPr>
              <a:t>Presenter: Ethan</a:t>
            </a:r>
            <a:endParaRPr b="0" lang="en-US" sz="1300" spc="-1" strike="noStrike">
              <a:solidFill>
                <a:srgbClr val="ffffff"/>
              </a:solidFill>
              <a:latin typeface="Arial"/>
            </a:endParaRPr>
          </a:p>
        </p:txBody>
      </p:sp>
      <p:sp>
        <p:nvSpPr>
          <p:cNvPr id="36" name="Shape 14"/>
          <p:cNvSpPr/>
          <p:nvPr/>
        </p:nvSpPr>
        <p:spPr>
          <a:xfrm>
            <a:off x="3246120" y="2834640"/>
            <a:ext cx="2605680" cy="1554120"/>
          </a:xfrm>
          <a:prstGeom prst="roundRect">
            <a:avLst>
              <a:gd name="adj" fmla="val 5882"/>
            </a:avLst>
          </a:prstGeom>
          <a:solidFill>
            <a:srgbClr val="141e38"/>
          </a:solidFill>
          <a:ln w="12700">
            <a:solidFill>
              <a:srgbClr val="141e3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7" name="Text 15"/>
          <p:cNvSpPr/>
          <p:nvPr/>
        </p:nvSpPr>
        <p:spPr>
          <a:xfrm>
            <a:off x="3383280" y="2926080"/>
            <a:ext cx="233136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22e6c4"/>
                </a:solidFill>
                <a:latin typeface="Calibri"/>
                <a:ea typeface="Calibri"/>
              </a:rPr>
              <a:t>5. Stop and restart a run</a:t>
            </a:r>
            <a:endParaRPr b="0" lang="en-US" sz="1500" spc="-1" strike="noStrike">
              <a:solidFill>
                <a:srgbClr val="ffffff"/>
              </a:solidFill>
              <a:latin typeface="Arial"/>
            </a:endParaRPr>
          </a:p>
        </p:txBody>
      </p:sp>
      <p:sp>
        <p:nvSpPr>
          <p:cNvPr id="38" name="Text 16"/>
          <p:cNvSpPr/>
          <p:nvPr/>
        </p:nvSpPr>
        <p:spPr>
          <a:xfrm>
            <a:off x="3383280" y="3273480"/>
            <a:ext cx="2331360" cy="10238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00" spc="-1" strike="noStrike">
                <a:solidFill>
                  <a:srgbClr val="e8f1ff"/>
                </a:solidFill>
                <a:latin typeface="Calibri"/>
                <a:ea typeface="Calibri"/>
              </a:rPr>
              <a:t>Center button stops, pick a new run</a:t>
            </a:r>
            <a:endParaRPr b="0" lang="en-US" sz="1300" spc="-1" strike="noStrike">
              <a:solidFill>
                <a:srgbClr val="ffffff"/>
              </a:solidFill>
              <a:latin typeface="Arial"/>
            </a:endParaRPr>
          </a:p>
          <a:p>
            <a:pPr defTabSz="914400">
              <a:lnSpc>
                <a:spcPct val="100000"/>
              </a:lnSpc>
              <a:tabLst>
                <a:tab algn="l" pos="0"/>
              </a:tabLst>
            </a:pPr>
            <a:endParaRPr b="0" lang="en-US" sz="1300" spc="-1" strike="noStrike">
              <a:solidFill>
                <a:srgbClr val="ffffff"/>
              </a:solidFill>
              <a:latin typeface="Arial"/>
            </a:endParaRPr>
          </a:p>
          <a:p>
            <a:pPr defTabSz="914400">
              <a:lnSpc>
                <a:spcPct val="100000"/>
              </a:lnSpc>
              <a:tabLst>
                <a:tab algn="l" pos="0"/>
              </a:tabLst>
            </a:pPr>
            <a:r>
              <a:rPr b="0" lang="en-US" sz="1300" spc="-1" strike="noStrike">
                <a:solidFill>
                  <a:srgbClr val="e8f1ff"/>
                </a:solidFill>
                <a:latin typeface="Calibri"/>
                <a:ea typeface="Calibri"/>
              </a:rPr>
              <a:t>Presenter: Ethan</a:t>
            </a:r>
            <a:endParaRPr b="0" lang="en-US" sz="1300" spc="-1" strike="noStrike">
              <a:solidFill>
                <a:srgbClr val="ffffff"/>
              </a:solidFill>
              <a:latin typeface="Arial"/>
            </a:endParaRPr>
          </a:p>
        </p:txBody>
      </p:sp>
      <p:sp>
        <p:nvSpPr>
          <p:cNvPr id="39" name="Shape 17"/>
          <p:cNvSpPr/>
          <p:nvPr/>
        </p:nvSpPr>
        <p:spPr>
          <a:xfrm>
            <a:off x="6035040" y="2834640"/>
            <a:ext cx="2605680" cy="1554120"/>
          </a:xfrm>
          <a:prstGeom prst="roundRect">
            <a:avLst>
              <a:gd name="adj" fmla="val 5882"/>
            </a:avLst>
          </a:prstGeom>
          <a:solidFill>
            <a:srgbClr val="141e38"/>
          </a:solidFill>
          <a:ln w="12700">
            <a:solidFill>
              <a:srgbClr val="141e3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 name="Text 18"/>
          <p:cNvSpPr/>
          <p:nvPr/>
        </p:nvSpPr>
        <p:spPr>
          <a:xfrm>
            <a:off x="6172200" y="2926080"/>
            <a:ext cx="233136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b26bff"/>
                </a:solidFill>
                <a:latin typeface="Calibri"/>
                <a:ea typeface="Calibri"/>
              </a:rPr>
              <a:t>6. Practice together</a:t>
            </a:r>
            <a:endParaRPr b="0" lang="en-US" sz="1500" spc="-1" strike="noStrike">
              <a:solidFill>
                <a:srgbClr val="ffffff"/>
              </a:solidFill>
              <a:latin typeface="Arial"/>
            </a:endParaRPr>
          </a:p>
        </p:txBody>
      </p:sp>
      <p:sp>
        <p:nvSpPr>
          <p:cNvPr id="41" name="Text 19"/>
          <p:cNvSpPr/>
          <p:nvPr/>
        </p:nvSpPr>
        <p:spPr>
          <a:xfrm>
            <a:off x="6172200" y="3273480"/>
            <a:ext cx="2331360" cy="10238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00" spc="-1" strike="noStrike">
                <a:solidFill>
                  <a:srgbClr val="e8f1ff"/>
                </a:solidFill>
                <a:latin typeface="Calibri"/>
                <a:ea typeface="Calibri"/>
              </a:rPr>
              <a:t>A challenge to try after the talk</a:t>
            </a:r>
            <a:endParaRPr b="0" lang="en-US" sz="1300" spc="-1" strike="noStrike">
              <a:solidFill>
                <a:srgbClr val="ffffff"/>
              </a:solidFill>
              <a:latin typeface="Arial"/>
            </a:endParaRPr>
          </a:p>
          <a:p>
            <a:pPr defTabSz="914400">
              <a:lnSpc>
                <a:spcPct val="100000"/>
              </a:lnSpc>
              <a:tabLst>
                <a:tab algn="l" pos="0"/>
              </a:tabLst>
            </a:pPr>
            <a:endParaRPr b="0" lang="en-US" sz="1300" spc="-1" strike="noStrike">
              <a:solidFill>
                <a:srgbClr val="ffffff"/>
              </a:solidFill>
              <a:latin typeface="Arial"/>
            </a:endParaRPr>
          </a:p>
          <a:p>
            <a:pPr defTabSz="914400">
              <a:lnSpc>
                <a:spcPct val="100000"/>
              </a:lnSpc>
              <a:tabLst>
                <a:tab algn="l" pos="0"/>
              </a:tabLst>
            </a:pPr>
            <a:r>
              <a:rPr b="0" lang="en-US" sz="1300" spc="-1" strike="noStrike">
                <a:solidFill>
                  <a:srgbClr val="e8f1ff"/>
                </a:solidFill>
                <a:latin typeface="Calibri"/>
                <a:ea typeface="Calibri"/>
              </a:rPr>
              <a:t>Presenter: Both</a:t>
            </a:r>
            <a:endParaRPr b="0" lang="en-US" sz="1300" spc="-1" strike="noStrike">
              <a:solidFill>
                <a:srgbClr val="ffffff"/>
              </a:solidFill>
              <a:latin typeface="Arial"/>
            </a:endParaRPr>
          </a:p>
        </p:txBody>
      </p:sp>
      <p:sp>
        <p:nvSpPr>
          <p:cNvPr id="42" name="PlaceHolder 1"/>
          <p:cNvSpPr>
            <a:spLocks noGrp="1"/>
          </p:cNvSpPr>
          <p:nvPr>
            <p:ph type="sldNum" idx="5"/>
          </p:nvPr>
        </p:nvSpPr>
        <p:spPr>
          <a:xfrm>
            <a:off x="8321040" y="4754880"/>
            <a:ext cx="456840" cy="388440"/>
          </a:xfrm>
          <a:prstGeom prst="rect">
            <a:avLst/>
          </a:prstGeom>
          <a:noFill/>
          <a:ln w="0">
            <a:noFill/>
          </a:ln>
        </p:spPr>
        <p:txBody>
          <a:bodyPr lIns="90000" rIns="90000" tIns="45000" bIns="45000" anchor="t">
            <a:noAutofit/>
          </a:bodyPr>
          <a:lstStyle>
            <a:lvl1pPr indent="0" algn="r" defTabSz="914400">
              <a:lnSpc>
                <a:spcPct val="100000"/>
              </a:lnSpc>
              <a:buNone/>
              <a:defRPr b="0" lang="en-US" sz="1000" spc="-1" strike="noStrike">
                <a:solidFill>
                  <a:srgbClr val="8fa3c7"/>
                </a:solidFill>
                <a:latin typeface="Calibri"/>
                <a:ea typeface="Calibri"/>
              </a:defRPr>
            </a:lvl1pPr>
          </a:lstStyle>
          <a:p>
            <a:pPr indent="0" algn="r" defTabSz="914400">
              <a:lnSpc>
                <a:spcPct val="100000"/>
              </a:lnSpc>
              <a:buNone/>
            </a:pPr>
            <a:fld id="{E24091E7-4954-4B3C-A878-31F0BC6E4997}" type="slidenum">
              <a:rPr b="0" lang="en-US" sz="1000" spc="-1" strike="noStrike">
                <a:solidFill>
                  <a:srgbClr val="8fa3c7"/>
                </a:solidFill>
                <a:latin typeface="Calibri"/>
                <a:ea typeface="Calibri"/>
              </a:rPr>
              <a:t>&lt;number&gt;</a:t>
            </a:fld>
            <a:endParaRPr b="0" lang="en-US" sz="10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 name="Text 0"/>
          <p:cNvSpPr/>
          <p:nvPr/>
        </p:nvSpPr>
        <p:spPr>
          <a:xfrm>
            <a:off x="457200" y="274320"/>
            <a:ext cx="69490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e8f1ff"/>
                </a:solidFill>
                <a:latin typeface="Cambria"/>
                <a:ea typeface="Cambria"/>
              </a:rPr>
              <a:t>Tour of the repo</a:t>
            </a:r>
            <a:endParaRPr b="0" lang="en-US" sz="2800" spc="-1" strike="noStrike">
              <a:solidFill>
                <a:srgbClr val="ffffff"/>
              </a:solidFill>
              <a:latin typeface="Arial"/>
            </a:endParaRPr>
          </a:p>
        </p:txBody>
      </p:sp>
      <p:sp>
        <p:nvSpPr>
          <p:cNvPr id="44" name="Text 1"/>
          <p:cNvSpPr/>
          <p:nvPr/>
        </p:nvSpPr>
        <p:spPr>
          <a:xfrm>
            <a:off x="7498080" y="347400"/>
            <a:ext cx="1188360" cy="310680"/>
          </a:xfrm>
          <a:prstGeom prst="roundRect">
            <a:avLst>
              <a:gd name="adj" fmla="val 50000"/>
            </a:avLst>
          </a:prstGeom>
          <a:solidFill>
            <a:srgbClr val="ffc857"/>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0a1020"/>
                </a:solidFill>
                <a:latin typeface="Calibri"/>
              </a:rPr>
              <a:t>Braxton</a:t>
            </a:r>
            <a:endParaRPr b="0" lang="en-US" sz="1100" spc="-1" strike="noStrike">
              <a:solidFill>
                <a:srgbClr val="000000"/>
              </a:solidFill>
              <a:latin typeface="Arial"/>
            </a:endParaRPr>
          </a:p>
        </p:txBody>
      </p:sp>
      <p:graphicFrame>
        <p:nvGraphicFramePr>
          <p:cNvPr id="45" name="Table 0"/>
          <p:cNvGraphicFramePr/>
          <p:nvPr/>
        </p:nvGraphicFramePr>
        <p:xfrm>
          <a:off x="457200" y="1005840"/>
          <a:ext cx="8229240" cy="2304000"/>
        </p:xfrm>
        <a:graphic>
          <a:graphicData uri="http://schemas.openxmlformats.org/drawingml/2006/table">
            <a:tbl>
              <a:tblPr/>
              <a:tblGrid>
                <a:gridCol w="2011680"/>
                <a:gridCol w="6217920"/>
              </a:tblGrid>
              <a:tr h="329040">
                <a:tc>
                  <a:txBody>
                    <a:bodyPr tIns="0" bIns="0" anchor="ctr">
                      <a:noAutofit/>
                    </a:bodyPr>
                    <a:p>
                      <a:pPr defTabSz="914400">
                        <a:lnSpc>
                          <a:spcPct val="100000"/>
                        </a:lnSpc>
                        <a:tabLst>
                          <a:tab algn="l" pos="0"/>
                        </a:tabLst>
                      </a:pPr>
                      <a:r>
                        <a:rPr b="1" lang="en-US" sz="1200" spc="-1" strike="noStrike">
                          <a:solidFill>
                            <a:srgbClr val="22e6c4"/>
                          </a:solidFill>
                          <a:latin typeface="Courier New"/>
                          <a:ea typeface="Courier New"/>
                        </a:rPr>
                        <a:t>robot.py</a:t>
                      </a:r>
                      <a:endParaRPr b="0" lang="en-US" sz="1200" spc="-1" strike="noStrike">
                        <a:solidFill>
                          <a:srgbClr val="ffffff"/>
                        </a:solidFill>
                        <a:latin typeface="Arial"/>
                      </a:endParaRPr>
                    </a:p>
                  </a:txBody>
                  <a:tcPr anchor="ctr" marL="91440" marR="91440">
                    <a:lnL w="25200">
                      <a:solidFill>
                        <a:srgbClr val="0a1020"/>
                      </a:solidFill>
                      <a:prstDash val="solid"/>
                    </a:lnL>
                    <a:lnR w="25200">
                      <a:solidFill>
                        <a:srgbClr val="0a1020"/>
                      </a:solidFill>
                      <a:prstDash val="solid"/>
                    </a:lnR>
                    <a:lnT w="25200">
                      <a:solidFill>
                        <a:srgbClr val="0a1020"/>
                      </a:solidFill>
                      <a:prstDash val="solid"/>
                    </a:lnT>
                    <a:lnB w="25200">
                      <a:solidFill>
                        <a:srgbClr val="0a1020"/>
                      </a:solidFill>
                      <a:prstDash val="solid"/>
                    </a:lnB>
                    <a:solidFill>
                      <a:srgbClr val="141e38"/>
                    </a:solidFill>
                  </a:tcPr>
                </a:tc>
                <a:tc>
                  <a:txBody>
                    <a:bodyPr tIns="0" bIns="0" anchor="ctr">
                      <a:noAutofit/>
                    </a:bodyPr>
                    <a:p>
                      <a:pPr defTabSz="914400">
                        <a:lnSpc>
                          <a:spcPct val="100000"/>
                        </a:lnSpc>
                        <a:tabLst>
                          <a:tab algn="l" pos="0"/>
                        </a:tabLst>
                      </a:pPr>
                      <a:r>
                        <a:rPr b="0" lang="en-US" sz="1200" spc="-1" strike="noStrike">
                          <a:solidFill>
                            <a:srgbClr val="e8f1ff"/>
                          </a:solidFill>
                          <a:latin typeface="Calibri"/>
                        </a:rPr>
                        <a:t>Competition program: registers runs and starts the hub menu</a:t>
                      </a:r>
                      <a:endParaRPr b="0" lang="en-US" sz="1200" spc="-1" strike="noStrike">
                        <a:solidFill>
                          <a:srgbClr val="ffffff"/>
                        </a:solidFill>
                        <a:latin typeface="Arial"/>
                      </a:endParaRPr>
                    </a:p>
                  </a:txBody>
                  <a:tcPr anchor="ctr" marL="91440" marR="91440">
                    <a:lnL w="25200">
                      <a:solidFill>
                        <a:srgbClr val="0a1020"/>
                      </a:solidFill>
                      <a:prstDash val="solid"/>
                    </a:lnL>
                    <a:lnR w="25200">
                      <a:solidFill>
                        <a:srgbClr val="0a1020"/>
                      </a:solidFill>
                      <a:prstDash val="solid"/>
                    </a:lnR>
                    <a:lnT w="25200">
                      <a:solidFill>
                        <a:srgbClr val="0a1020"/>
                      </a:solidFill>
                      <a:prstDash val="solid"/>
                    </a:lnT>
                    <a:lnB w="25200">
                      <a:solidFill>
                        <a:srgbClr val="0a1020"/>
                      </a:solidFill>
                      <a:prstDash val="solid"/>
                    </a:lnB>
                    <a:solidFill>
                      <a:srgbClr val="141e38"/>
                    </a:solidFill>
                  </a:tcPr>
                </a:tc>
              </a:tr>
              <a:tr h="329040">
                <a:tc>
                  <a:txBody>
                    <a:bodyPr tIns="0" bIns="0" anchor="ctr">
                      <a:noAutofit/>
                    </a:bodyPr>
                    <a:p>
                      <a:pPr defTabSz="914400">
                        <a:lnSpc>
                          <a:spcPct val="100000"/>
                        </a:lnSpc>
                        <a:tabLst>
                          <a:tab algn="l" pos="0"/>
                        </a:tabLst>
                      </a:pPr>
                      <a:r>
                        <a:rPr b="1" lang="en-US" sz="1200" spc="-1" strike="noStrike">
                          <a:solidFill>
                            <a:srgbClr val="22e6c4"/>
                          </a:solidFill>
                          <a:latin typeface="Courier New"/>
                          <a:ea typeface="Courier New"/>
                        </a:rPr>
                        <a:t>ui.py</a:t>
                      </a:r>
                      <a:endParaRPr b="0" lang="en-US" sz="1200" spc="-1" strike="noStrike">
                        <a:solidFill>
                          <a:srgbClr val="ffffff"/>
                        </a:solidFill>
                        <a:latin typeface="Arial"/>
                      </a:endParaRPr>
                    </a:p>
                  </a:txBody>
                  <a:tcPr anchor="ctr" marL="91440" marR="91440">
                    <a:lnL w="25200">
                      <a:solidFill>
                        <a:srgbClr val="0a1020"/>
                      </a:solidFill>
                      <a:prstDash val="solid"/>
                    </a:lnL>
                    <a:lnR w="25200">
                      <a:solidFill>
                        <a:srgbClr val="0a1020"/>
                      </a:solidFill>
                      <a:prstDash val="solid"/>
                    </a:lnR>
                    <a:lnT w="25200">
                      <a:solidFill>
                        <a:srgbClr val="0a1020"/>
                      </a:solidFill>
                      <a:prstDash val="solid"/>
                    </a:lnT>
                    <a:lnB w="25200">
                      <a:solidFill>
                        <a:srgbClr val="0a1020"/>
                      </a:solidFill>
                      <a:prstDash val="solid"/>
                    </a:lnB>
                    <a:solidFill>
                      <a:srgbClr val="141e38"/>
                    </a:solidFill>
                  </a:tcPr>
                </a:tc>
                <a:tc>
                  <a:txBody>
                    <a:bodyPr tIns="0" bIns="0" anchor="ctr">
                      <a:noAutofit/>
                    </a:bodyPr>
                    <a:p>
                      <a:pPr defTabSz="914400">
                        <a:lnSpc>
                          <a:spcPct val="100000"/>
                        </a:lnSpc>
                        <a:tabLst>
                          <a:tab algn="l" pos="0"/>
                        </a:tabLst>
                      </a:pPr>
                      <a:r>
                        <a:rPr b="0" lang="en-US" sz="1200" spc="-1" strike="noStrike">
                          <a:solidFill>
                            <a:srgbClr val="e8f1ff"/>
                          </a:solidFill>
                          <a:latin typeface="Calibri"/>
                        </a:rPr>
                        <a:t>Hub menu: left/right pick a run, center starts it</a:t>
                      </a:r>
                      <a:endParaRPr b="0" lang="en-US" sz="1200" spc="-1" strike="noStrike">
                        <a:solidFill>
                          <a:srgbClr val="ffffff"/>
                        </a:solidFill>
                        <a:latin typeface="Arial"/>
                      </a:endParaRPr>
                    </a:p>
                  </a:txBody>
                  <a:tcPr anchor="ctr" marL="91440" marR="91440">
                    <a:lnL w="25200">
                      <a:solidFill>
                        <a:srgbClr val="0a1020"/>
                      </a:solidFill>
                      <a:prstDash val="solid"/>
                    </a:lnL>
                    <a:lnR w="25200">
                      <a:solidFill>
                        <a:srgbClr val="0a1020"/>
                      </a:solidFill>
                      <a:prstDash val="solid"/>
                    </a:lnR>
                    <a:lnT w="25200">
                      <a:solidFill>
                        <a:srgbClr val="0a1020"/>
                      </a:solidFill>
                      <a:prstDash val="solid"/>
                    </a:lnT>
                    <a:lnB w="25200">
                      <a:solidFill>
                        <a:srgbClr val="0a1020"/>
                      </a:solidFill>
                      <a:prstDash val="solid"/>
                    </a:lnB>
                    <a:solidFill>
                      <a:srgbClr val="141e38"/>
                    </a:solidFill>
                  </a:tcPr>
                </a:tc>
              </a:tr>
              <a:tr h="329040">
                <a:tc>
                  <a:txBody>
                    <a:bodyPr tIns="0" bIns="0" anchor="ctr">
                      <a:noAutofit/>
                    </a:bodyPr>
                    <a:p>
                      <a:pPr defTabSz="914400">
                        <a:lnSpc>
                          <a:spcPct val="100000"/>
                        </a:lnSpc>
                        <a:tabLst>
                          <a:tab algn="l" pos="0"/>
                        </a:tabLst>
                      </a:pPr>
                      <a:r>
                        <a:rPr b="1" lang="en-US" sz="1200" spc="-1" strike="noStrike">
                          <a:solidFill>
                            <a:srgbClr val="22e6c4"/>
                          </a:solidFill>
                          <a:latin typeface="Courier New"/>
                          <a:ea typeface="Courier New"/>
                        </a:rPr>
                        <a:t>robot_config.py</a:t>
                      </a:r>
                      <a:endParaRPr b="0" lang="en-US" sz="1200" spc="-1" strike="noStrike">
                        <a:solidFill>
                          <a:srgbClr val="ffffff"/>
                        </a:solidFill>
                        <a:latin typeface="Arial"/>
                      </a:endParaRPr>
                    </a:p>
                  </a:txBody>
                  <a:tcPr anchor="ctr" marL="91440" marR="91440">
                    <a:lnL w="25200">
                      <a:solidFill>
                        <a:srgbClr val="0a1020"/>
                      </a:solidFill>
                      <a:prstDash val="solid"/>
                    </a:lnL>
                    <a:lnR w="25200">
                      <a:solidFill>
                        <a:srgbClr val="0a1020"/>
                      </a:solidFill>
                      <a:prstDash val="solid"/>
                    </a:lnR>
                    <a:lnT w="25200">
                      <a:solidFill>
                        <a:srgbClr val="0a1020"/>
                      </a:solidFill>
                      <a:prstDash val="solid"/>
                    </a:lnT>
                    <a:lnB w="25200">
                      <a:solidFill>
                        <a:srgbClr val="0a1020"/>
                      </a:solidFill>
                      <a:prstDash val="solid"/>
                    </a:lnB>
                    <a:solidFill>
                      <a:srgbClr val="141e38"/>
                    </a:solidFill>
                  </a:tcPr>
                </a:tc>
                <a:tc>
                  <a:txBody>
                    <a:bodyPr tIns="0" bIns="0" anchor="ctr">
                      <a:noAutofit/>
                    </a:bodyPr>
                    <a:p>
                      <a:pPr defTabSz="914400">
                        <a:lnSpc>
                          <a:spcPct val="100000"/>
                        </a:lnSpc>
                        <a:tabLst>
                          <a:tab algn="l" pos="0"/>
                        </a:tabLst>
                      </a:pPr>
                      <a:r>
                        <a:rPr b="0" lang="en-US" sz="1200" spc="-1" strike="noStrike">
                          <a:solidFill>
                            <a:srgbClr val="e8f1ff"/>
                          </a:solidFill>
                          <a:latin typeface="Calibri"/>
                        </a:rPr>
                        <a:t>Wheel size, axle track, ports, attachments</a:t>
                      </a:r>
                      <a:endParaRPr b="0" lang="en-US" sz="1200" spc="-1" strike="noStrike">
                        <a:solidFill>
                          <a:srgbClr val="ffffff"/>
                        </a:solidFill>
                        <a:latin typeface="Arial"/>
                      </a:endParaRPr>
                    </a:p>
                  </a:txBody>
                  <a:tcPr anchor="ctr" marL="91440" marR="91440">
                    <a:lnL w="25200">
                      <a:solidFill>
                        <a:srgbClr val="0a1020"/>
                      </a:solidFill>
                      <a:prstDash val="solid"/>
                    </a:lnL>
                    <a:lnR w="25200">
                      <a:solidFill>
                        <a:srgbClr val="0a1020"/>
                      </a:solidFill>
                      <a:prstDash val="solid"/>
                    </a:lnR>
                    <a:lnT w="25200">
                      <a:solidFill>
                        <a:srgbClr val="0a1020"/>
                      </a:solidFill>
                      <a:prstDash val="solid"/>
                    </a:lnT>
                    <a:lnB w="25200">
                      <a:solidFill>
                        <a:srgbClr val="0a1020"/>
                      </a:solidFill>
                      <a:prstDash val="solid"/>
                    </a:lnB>
                    <a:solidFill>
                      <a:srgbClr val="141e38"/>
                    </a:solidFill>
                  </a:tcPr>
                </a:tc>
              </a:tr>
              <a:tr h="329040">
                <a:tc>
                  <a:txBody>
                    <a:bodyPr tIns="0" bIns="0" anchor="ctr">
                      <a:noAutofit/>
                    </a:bodyPr>
                    <a:p>
                      <a:pPr defTabSz="914400">
                        <a:lnSpc>
                          <a:spcPct val="100000"/>
                        </a:lnSpc>
                        <a:tabLst>
                          <a:tab algn="l" pos="0"/>
                        </a:tabLst>
                      </a:pPr>
                      <a:r>
                        <a:rPr b="1" lang="en-US" sz="1200" spc="-1" strike="noStrike">
                          <a:solidFill>
                            <a:srgbClr val="22e6c4"/>
                          </a:solidFill>
                          <a:latin typeface="Courier New"/>
                          <a:ea typeface="Courier New"/>
                        </a:rPr>
                        <a:t>robot_profiles.py</a:t>
                      </a:r>
                      <a:endParaRPr b="0" lang="en-US" sz="1200" spc="-1" strike="noStrike">
                        <a:solidFill>
                          <a:srgbClr val="ffffff"/>
                        </a:solidFill>
                        <a:latin typeface="Arial"/>
                      </a:endParaRPr>
                    </a:p>
                  </a:txBody>
                  <a:tcPr anchor="ctr" marL="91440" marR="91440">
                    <a:lnL w="25200">
                      <a:solidFill>
                        <a:srgbClr val="0a1020"/>
                      </a:solidFill>
                      <a:prstDash val="solid"/>
                    </a:lnL>
                    <a:lnR w="25200">
                      <a:solidFill>
                        <a:srgbClr val="0a1020"/>
                      </a:solidFill>
                      <a:prstDash val="solid"/>
                    </a:lnR>
                    <a:lnT w="25200">
                      <a:solidFill>
                        <a:srgbClr val="0a1020"/>
                      </a:solidFill>
                      <a:prstDash val="solid"/>
                    </a:lnT>
                    <a:lnB w="25200">
                      <a:solidFill>
                        <a:srgbClr val="0a1020"/>
                      </a:solidFill>
                      <a:prstDash val="solid"/>
                    </a:lnB>
                    <a:solidFill>
                      <a:srgbClr val="141e38"/>
                    </a:solidFill>
                  </a:tcPr>
                </a:tc>
                <a:tc>
                  <a:txBody>
                    <a:bodyPr tIns="0" bIns="0" anchor="ctr">
                      <a:noAutofit/>
                    </a:bodyPr>
                    <a:p>
                      <a:pPr defTabSz="914400">
                        <a:lnSpc>
                          <a:spcPct val="100000"/>
                        </a:lnSpc>
                        <a:tabLst>
                          <a:tab algn="l" pos="0"/>
                        </a:tabLst>
                      </a:pPr>
                      <a:r>
                        <a:rPr b="0" lang="en-US" sz="1200" spc="-1" strike="noStrike">
                          <a:solidFill>
                            <a:srgbClr val="e8f1ff"/>
                          </a:solidFill>
                          <a:latin typeface="Calibri"/>
                        </a:rPr>
                        <a:t>One profile per hub (ports and directions)</a:t>
                      </a:r>
                      <a:endParaRPr b="0" lang="en-US" sz="1200" spc="-1" strike="noStrike">
                        <a:solidFill>
                          <a:srgbClr val="ffffff"/>
                        </a:solidFill>
                        <a:latin typeface="Arial"/>
                      </a:endParaRPr>
                    </a:p>
                  </a:txBody>
                  <a:tcPr anchor="ctr" marL="91440" marR="91440">
                    <a:lnL w="25200">
                      <a:solidFill>
                        <a:srgbClr val="0a1020"/>
                      </a:solidFill>
                      <a:prstDash val="solid"/>
                    </a:lnL>
                    <a:lnR w="25200">
                      <a:solidFill>
                        <a:srgbClr val="0a1020"/>
                      </a:solidFill>
                      <a:prstDash val="solid"/>
                    </a:lnR>
                    <a:lnT w="25200">
                      <a:solidFill>
                        <a:srgbClr val="0a1020"/>
                      </a:solidFill>
                      <a:prstDash val="solid"/>
                    </a:lnT>
                    <a:lnB w="25200">
                      <a:solidFill>
                        <a:srgbClr val="0a1020"/>
                      </a:solidFill>
                      <a:prstDash val="solid"/>
                    </a:lnB>
                    <a:solidFill>
                      <a:srgbClr val="141e38"/>
                    </a:solidFill>
                  </a:tcPr>
                </a:tc>
              </a:tr>
              <a:tr h="329040">
                <a:tc>
                  <a:txBody>
                    <a:bodyPr tIns="0" bIns="0" anchor="ctr">
                      <a:noAutofit/>
                    </a:bodyPr>
                    <a:p>
                      <a:pPr defTabSz="914400">
                        <a:lnSpc>
                          <a:spcPct val="100000"/>
                        </a:lnSpc>
                        <a:tabLst>
                          <a:tab algn="l" pos="0"/>
                        </a:tabLst>
                      </a:pPr>
                      <a:r>
                        <a:rPr b="1" lang="en-US" sz="1200" spc="-1" strike="noStrike">
                          <a:solidFill>
                            <a:srgbClr val="22e6c4"/>
                          </a:solidFill>
                          <a:latin typeface="Courier New"/>
                          <a:ea typeface="Courier New"/>
                        </a:rPr>
                        <a:t>library.py</a:t>
                      </a:r>
                      <a:endParaRPr b="0" lang="en-US" sz="1200" spc="-1" strike="noStrike">
                        <a:solidFill>
                          <a:srgbClr val="ffffff"/>
                        </a:solidFill>
                        <a:latin typeface="Arial"/>
                      </a:endParaRPr>
                    </a:p>
                  </a:txBody>
                  <a:tcPr anchor="ctr" marL="91440" marR="91440">
                    <a:lnL w="25200">
                      <a:solidFill>
                        <a:srgbClr val="0a1020"/>
                      </a:solidFill>
                      <a:prstDash val="solid"/>
                    </a:lnL>
                    <a:lnR w="25200">
                      <a:solidFill>
                        <a:srgbClr val="0a1020"/>
                      </a:solidFill>
                      <a:prstDash val="solid"/>
                    </a:lnR>
                    <a:lnT w="25200">
                      <a:solidFill>
                        <a:srgbClr val="0a1020"/>
                      </a:solidFill>
                      <a:prstDash val="solid"/>
                    </a:lnT>
                    <a:lnB w="25200">
                      <a:solidFill>
                        <a:srgbClr val="0a1020"/>
                      </a:solidFill>
                      <a:prstDash val="solid"/>
                    </a:lnB>
                    <a:solidFill>
                      <a:srgbClr val="141e38"/>
                    </a:solidFill>
                  </a:tcPr>
                </a:tc>
                <a:tc>
                  <a:txBody>
                    <a:bodyPr tIns="0" bIns="0" anchor="ctr">
                      <a:noAutofit/>
                    </a:bodyPr>
                    <a:p>
                      <a:pPr defTabSz="914400">
                        <a:lnSpc>
                          <a:spcPct val="100000"/>
                        </a:lnSpc>
                        <a:tabLst>
                          <a:tab algn="l" pos="0"/>
                        </a:tabLst>
                      </a:pPr>
                      <a:r>
                        <a:rPr b="0" lang="en-US" sz="1200" spc="-1" strike="noStrike">
                          <a:solidFill>
                            <a:srgbClr val="e8f1ff"/>
                          </a:solidFill>
                          <a:latin typeface="Calibri"/>
                        </a:rPr>
                        <a:t>Shared helpers (set_drivebase)</a:t>
                      </a:r>
                      <a:endParaRPr b="0" lang="en-US" sz="1200" spc="-1" strike="noStrike">
                        <a:solidFill>
                          <a:srgbClr val="ffffff"/>
                        </a:solidFill>
                        <a:latin typeface="Arial"/>
                      </a:endParaRPr>
                    </a:p>
                  </a:txBody>
                  <a:tcPr anchor="ctr" marL="91440" marR="91440">
                    <a:lnL w="25200">
                      <a:solidFill>
                        <a:srgbClr val="0a1020"/>
                      </a:solidFill>
                      <a:prstDash val="solid"/>
                    </a:lnL>
                    <a:lnR w="25200">
                      <a:solidFill>
                        <a:srgbClr val="0a1020"/>
                      </a:solidFill>
                      <a:prstDash val="solid"/>
                    </a:lnR>
                    <a:lnT w="25200">
                      <a:solidFill>
                        <a:srgbClr val="0a1020"/>
                      </a:solidFill>
                      <a:prstDash val="solid"/>
                    </a:lnT>
                    <a:lnB w="25200">
                      <a:solidFill>
                        <a:srgbClr val="0a1020"/>
                      </a:solidFill>
                      <a:prstDash val="solid"/>
                    </a:lnB>
                    <a:solidFill>
                      <a:srgbClr val="141e38"/>
                    </a:solidFill>
                  </a:tcPr>
                </a:tc>
              </a:tr>
              <a:tr h="329040">
                <a:tc>
                  <a:txBody>
                    <a:bodyPr tIns="0" bIns="0" anchor="ctr">
                      <a:noAutofit/>
                    </a:bodyPr>
                    <a:p>
                      <a:pPr defTabSz="914400">
                        <a:lnSpc>
                          <a:spcPct val="100000"/>
                        </a:lnSpc>
                        <a:tabLst>
                          <a:tab algn="l" pos="0"/>
                        </a:tabLst>
                      </a:pPr>
                      <a:r>
                        <a:rPr b="1" lang="en-US" sz="1200" spc="-1" strike="noStrike">
                          <a:solidFill>
                            <a:srgbClr val="22e6c4"/>
                          </a:solidFill>
                          <a:latin typeface="Courier New"/>
                          <a:ea typeface="Courier New"/>
                        </a:rPr>
                        <a:t>TestRun.py</a:t>
                      </a:r>
                      <a:endParaRPr b="0" lang="en-US" sz="1200" spc="-1" strike="noStrike">
                        <a:solidFill>
                          <a:srgbClr val="ffffff"/>
                        </a:solidFill>
                        <a:latin typeface="Arial"/>
                      </a:endParaRPr>
                    </a:p>
                  </a:txBody>
                  <a:tcPr anchor="ctr" marL="91440" marR="91440">
                    <a:lnL w="25200">
                      <a:solidFill>
                        <a:srgbClr val="0a1020"/>
                      </a:solidFill>
                      <a:prstDash val="solid"/>
                    </a:lnL>
                    <a:lnR w="25200">
                      <a:solidFill>
                        <a:srgbClr val="0a1020"/>
                      </a:solidFill>
                      <a:prstDash val="solid"/>
                    </a:lnR>
                    <a:lnT w="25200">
                      <a:solidFill>
                        <a:srgbClr val="0a1020"/>
                      </a:solidFill>
                      <a:prstDash val="solid"/>
                    </a:lnT>
                    <a:lnB w="25200">
                      <a:solidFill>
                        <a:srgbClr val="0a1020"/>
                      </a:solidFill>
                      <a:prstDash val="solid"/>
                    </a:lnB>
                    <a:solidFill>
                      <a:srgbClr val="141e38"/>
                    </a:solidFill>
                  </a:tcPr>
                </a:tc>
                <a:tc>
                  <a:txBody>
                    <a:bodyPr tIns="0" bIns="0" anchor="ctr">
                      <a:noAutofit/>
                    </a:bodyPr>
                    <a:p>
                      <a:pPr defTabSz="914400">
                        <a:lnSpc>
                          <a:spcPct val="100000"/>
                        </a:lnSpc>
                        <a:tabLst>
                          <a:tab algn="l" pos="0"/>
                        </a:tabLst>
                      </a:pPr>
                      <a:r>
                        <a:rPr b="0" lang="en-US" sz="1200" spc="-1" strike="noStrike">
                          <a:solidFill>
                            <a:srgbClr val="e8f1ff"/>
                          </a:solidFill>
                          <a:latin typeface="Calibri"/>
                        </a:rPr>
                        <a:t>Drive one wheel rotation to test the connection</a:t>
                      </a:r>
                      <a:endParaRPr b="0" lang="en-US" sz="1200" spc="-1" strike="noStrike">
                        <a:solidFill>
                          <a:srgbClr val="ffffff"/>
                        </a:solidFill>
                        <a:latin typeface="Arial"/>
                      </a:endParaRPr>
                    </a:p>
                  </a:txBody>
                  <a:tcPr anchor="ctr" marL="91440" marR="91440">
                    <a:lnL w="25200">
                      <a:solidFill>
                        <a:srgbClr val="0a1020"/>
                      </a:solidFill>
                      <a:prstDash val="solid"/>
                    </a:lnL>
                    <a:lnR w="25200">
                      <a:solidFill>
                        <a:srgbClr val="0a1020"/>
                      </a:solidFill>
                      <a:prstDash val="solid"/>
                    </a:lnR>
                    <a:lnT w="25200">
                      <a:solidFill>
                        <a:srgbClr val="0a1020"/>
                      </a:solidFill>
                      <a:prstDash val="solid"/>
                    </a:lnT>
                    <a:lnB w="25200">
                      <a:solidFill>
                        <a:srgbClr val="0a1020"/>
                      </a:solidFill>
                      <a:prstDash val="solid"/>
                    </a:lnB>
                    <a:solidFill>
                      <a:srgbClr val="141e38"/>
                    </a:solidFill>
                  </a:tcPr>
                </a:tc>
              </a:tr>
              <a:tr h="329040">
                <a:tc>
                  <a:txBody>
                    <a:bodyPr tIns="0" bIns="0" anchor="ctr">
                      <a:noAutofit/>
                    </a:bodyPr>
                    <a:p>
                      <a:pPr defTabSz="914400">
                        <a:lnSpc>
                          <a:spcPct val="100000"/>
                        </a:lnSpc>
                        <a:tabLst>
                          <a:tab algn="l" pos="0"/>
                        </a:tabLst>
                      </a:pPr>
                      <a:r>
                        <a:rPr b="1" lang="en-US" sz="1200" spc="-1" strike="noStrike">
                          <a:solidFill>
                            <a:srgbClr val="22e6c4"/>
                          </a:solidFill>
                          <a:latin typeface="Courier New"/>
                          <a:ea typeface="Courier New"/>
                        </a:rPr>
                        <a:t>depreciated/</a:t>
                      </a:r>
                      <a:endParaRPr b="0" lang="en-US" sz="1200" spc="-1" strike="noStrike">
                        <a:solidFill>
                          <a:srgbClr val="ffffff"/>
                        </a:solidFill>
                        <a:latin typeface="Arial"/>
                      </a:endParaRPr>
                    </a:p>
                  </a:txBody>
                  <a:tcPr anchor="ctr" marL="91440" marR="91440">
                    <a:lnL w="25200">
                      <a:solidFill>
                        <a:srgbClr val="0a1020"/>
                      </a:solidFill>
                      <a:prstDash val="solid"/>
                    </a:lnL>
                    <a:lnR w="25200">
                      <a:solidFill>
                        <a:srgbClr val="0a1020"/>
                      </a:solidFill>
                      <a:prstDash val="solid"/>
                    </a:lnR>
                    <a:lnT w="25200">
                      <a:solidFill>
                        <a:srgbClr val="0a1020"/>
                      </a:solidFill>
                      <a:prstDash val="solid"/>
                    </a:lnT>
                    <a:lnB w="25200">
                      <a:solidFill>
                        <a:srgbClr val="0a1020"/>
                      </a:solidFill>
                      <a:prstDash val="solid"/>
                    </a:lnB>
                    <a:solidFill>
                      <a:srgbClr val="141e38"/>
                    </a:solidFill>
                  </a:tcPr>
                </a:tc>
                <a:tc>
                  <a:txBody>
                    <a:bodyPr tIns="0" bIns="0" anchor="ctr">
                      <a:noAutofit/>
                    </a:bodyPr>
                    <a:p>
                      <a:pPr defTabSz="914400">
                        <a:lnSpc>
                          <a:spcPct val="100000"/>
                        </a:lnSpc>
                        <a:tabLst>
                          <a:tab algn="l" pos="0"/>
                        </a:tabLst>
                      </a:pPr>
                      <a:r>
                        <a:rPr b="0" lang="en-US" sz="1200" spc="-1" strike="noStrike">
                          <a:solidFill>
                            <a:srgbClr val="e8f1ff"/>
                          </a:solidFill>
                          <a:latin typeface="Calibri"/>
                        </a:rPr>
                        <a:t>Old code and demo_1 to demo_6 tutorials</a:t>
                      </a:r>
                      <a:endParaRPr b="0" lang="en-US" sz="1200" spc="-1" strike="noStrike">
                        <a:solidFill>
                          <a:srgbClr val="ffffff"/>
                        </a:solidFill>
                        <a:latin typeface="Arial"/>
                      </a:endParaRPr>
                    </a:p>
                  </a:txBody>
                  <a:tcPr anchor="ctr" marL="91440" marR="91440">
                    <a:lnL w="25200">
                      <a:solidFill>
                        <a:srgbClr val="0a1020"/>
                      </a:solidFill>
                      <a:prstDash val="solid"/>
                    </a:lnL>
                    <a:lnR w="25200">
                      <a:solidFill>
                        <a:srgbClr val="0a1020"/>
                      </a:solidFill>
                      <a:prstDash val="solid"/>
                    </a:lnR>
                    <a:lnT w="25200">
                      <a:solidFill>
                        <a:srgbClr val="0a1020"/>
                      </a:solidFill>
                      <a:prstDash val="solid"/>
                    </a:lnT>
                    <a:lnB w="25200">
                      <a:solidFill>
                        <a:srgbClr val="0a1020"/>
                      </a:solidFill>
                      <a:prstDash val="solid"/>
                    </a:lnB>
                    <a:solidFill>
                      <a:srgbClr val="141e38"/>
                    </a:solidFill>
                  </a:tcPr>
                </a:tc>
              </a:tr>
            </a:tbl>
          </a:graphicData>
        </a:graphic>
      </p:graphicFrame>
      <p:sp>
        <p:nvSpPr>
          <p:cNvPr id="46" name="Shape 2"/>
          <p:cNvSpPr/>
          <p:nvPr/>
        </p:nvSpPr>
        <p:spPr>
          <a:xfrm>
            <a:off x="457200" y="3520440"/>
            <a:ext cx="8229240" cy="1005480"/>
          </a:xfrm>
          <a:prstGeom prst="roundRect">
            <a:avLst>
              <a:gd name="adj" fmla="val 9091"/>
            </a:avLst>
          </a:prstGeom>
          <a:solidFill>
            <a:srgbClr val="2a2210"/>
          </a:solidFill>
          <a:ln w="15875">
            <a:solidFill>
              <a:srgbClr val="ffc857"/>
            </a:solidFill>
            <a:prstDash val="dash"/>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 name="Text 3"/>
          <p:cNvSpPr/>
          <p:nvPr/>
        </p:nvSpPr>
        <p:spPr>
          <a:xfrm>
            <a:off x="594360" y="3584520"/>
            <a:ext cx="7954920" cy="877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c857"/>
                </a:solidFill>
                <a:latin typeface="Calibri"/>
                <a:ea typeface="Calibri"/>
              </a:rPr>
              <a:t>✎ </a:t>
            </a:r>
            <a:r>
              <a:rPr b="1" lang="en-US" sz="1300" spc="-1" strike="noStrike">
                <a:solidFill>
                  <a:srgbClr val="ffc857"/>
                </a:solidFill>
                <a:latin typeface="Calibri"/>
                <a:ea typeface="Calibri"/>
              </a:rPr>
              <a:t>Braxton, fill this in:  </a:t>
            </a:r>
            <a:r>
              <a:rPr b="0" lang="en-US" sz="1300" spc="-1" strike="noStrike">
                <a:solidFill>
                  <a:srgbClr val="e8f1ff"/>
                </a:solidFill>
                <a:latin typeface="Calibri"/>
                <a:ea typeface="Calibri"/>
              </a:rPr>
              <a:t>Which files will you edit most often? Where should a brand-new run file live? (Hint: repo root, not a subfolder, because the hub only uploads modules from the same folder.)</a:t>
            </a:r>
            <a:endParaRPr b="0" lang="en-US" sz="1300" spc="-1" strike="noStrike">
              <a:solidFill>
                <a:srgbClr val="ffffff"/>
              </a:solidFill>
              <a:latin typeface="Arial"/>
            </a:endParaRPr>
          </a:p>
        </p:txBody>
      </p:sp>
      <p:sp>
        <p:nvSpPr>
          <p:cNvPr id="48" name="PlaceHolder 1"/>
          <p:cNvSpPr>
            <a:spLocks noGrp="1"/>
          </p:cNvSpPr>
          <p:nvPr>
            <p:ph type="sldNum" idx="6"/>
          </p:nvPr>
        </p:nvSpPr>
        <p:spPr>
          <a:xfrm>
            <a:off x="8321040" y="4754880"/>
            <a:ext cx="456840" cy="388440"/>
          </a:xfrm>
          <a:prstGeom prst="rect">
            <a:avLst/>
          </a:prstGeom>
          <a:noFill/>
          <a:ln w="0">
            <a:noFill/>
          </a:ln>
        </p:spPr>
        <p:txBody>
          <a:bodyPr lIns="90000" rIns="90000" tIns="45000" bIns="45000" anchor="t">
            <a:noAutofit/>
          </a:bodyPr>
          <a:lstStyle>
            <a:lvl1pPr indent="0" algn="r" defTabSz="914400">
              <a:lnSpc>
                <a:spcPct val="100000"/>
              </a:lnSpc>
              <a:buNone/>
              <a:defRPr b="0" lang="en-US" sz="1000" spc="-1" strike="noStrike">
                <a:solidFill>
                  <a:srgbClr val="8fa3c7"/>
                </a:solidFill>
                <a:latin typeface="Calibri"/>
                <a:ea typeface="Calibri"/>
              </a:defRPr>
            </a:lvl1pPr>
          </a:lstStyle>
          <a:p>
            <a:pPr indent="0" algn="r" defTabSz="914400">
              <a:lnSpc>
                <a:spcPct val="100000"/>
              </a:lnSpc>
              <a:buNone/>
            </a:pPr>
            <a:fld id="{643E7878-DDC1-45DF-A6AB-7C50C4FB35ED}" type="slidenum">
              <a:rPr b="0" lang="en-US" sz="1000" spc="-1" strike="noStrike">
                <a:solidFill>
                  <a:srgbClr val="8fa3c7"/>
                </a:solidFill>
                <a:latin typeface="Calibri"/>
                <a:ea typeface="Calibri"/>
              </a:rPr>
              <a:t>&lt;number&gt;</a:t>
            </a:fld>
            <a:endParaRPr b="0" lang="en-US" sz="10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 name="Text 0"/>
          <p:cNvSpPr/>
          <p:nvPr/>
        </p:nvSpPr>
        <p:spPr>
          <a:xfrm>
            <a:off x="457200" y="274320"/>
            <a:ext cx="69490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e8f1ff"/>
                </a:solidFill>
                <a:latin typeface="Cambria"/>
                <a:ea typeface="Cambria"/>
              </a:rPr>
              <a:t>Get the latest code: no local changes</a:t>
            </a:r>
            <a:endParaRPr b="0" lang="en-US" sz="2800" spc="-1" strike="noStrike">
              <a:solidFill>
                <a:srgbClr val="ffffff"/>
              </a:solidFill>
              <a:latin typeface="Arial"/>
            </a:endParaRPr>
          </a:p>
        </p:txBody>
      </p:sp>
      <p:sp>
        <p:nvSpPr>
          <p:cNvPr id="50" name="Text 1"/>
          <p:cNvSpPr/>
          <p:nvPr/>
        </p:nvSpPr>
        <p:spPr>
          <a:xfrm>
            <a:off x="7498080" y="347400"/>
            <a:ext cx="1188360" cy="310680"/>
          </a:xfrm>
          <a:prstGeom prst="roundRect">
            <a:avLst>
              <a:gd name="adj" fmla="val 50000"/>
            </a:avLst>
          </a:prstGeom>
          <a:solidFill>
            <a:srgbClr val="22e6c4"/>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0a1020"/>
                </a:solidFill>
                <a:latin typeface="Calibri"/>
              </a:rPr>
              <a:t>Ethan</a:t>
            </a:r>
            <a:endParaRPr b="0" lang="en-US" sz="1100" spc="-1" strike="noStrike">
              <a:solidFill>
                <a:srgbClr val="000000"/>
              </a:solidFill>
              <a:latin typeface="Arial"/>
            </a:endParaRPr>
          </a:p>
        </p:txBody>
      </p:sp>
      <p:sp>
        <p:nvSpPr>
          <p:cNvPr id="51" name="Shape 2"/>
          <p:cNvSpPr/>
          <p:nvPr/>
        </p:nvSpPr>
        <p:spPr>
          <a:xfrm>
            <a:off x="457200" y="1005840"/>
            <a:ext cx="1919880" cy="2011320"/>
          </a:xfrm>
          <a:prstGeom prst="roundRect">
            <a:avLst>
              <a:gd name="adj" fmla="val 4762"/>
            </a:avLst>
          </a:prstGeom>
          <a:solidFill>
            <a:srgbClr val="141e38"/>
          </a:solidFill>
          <a:ln w="12700">
            <a:solidFill>
              <a:srgbClr val="141e3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 name="Shape 3"/>
          <p:cNvSpPr/>
          <p:nvPr/>
        </p:nvSpPr>
        <p:spPr>
          <a:xfrm>
            <a:off x="594360" y="1143000"/>
            <a:ext cx="411120" cy="411120"/>
          </a:xfrm>
          <a:prstGeom prst="ellipse">
            <a:avLst/>
          </a:prstGeom>
          <a:solidFill>
            <a:srgbClr val="22e6c4"/>
          </a:solidFill>
          <a:ln w="12700">
            <a:solidFill>
              <a:srgbClr val="22e6c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3" name="Text 4"/>
          <p:cNvSpPr/>
          <p:nvPr/>
        </p:nvSpPr>
        <p:spPr>
          <a:xfrm>
            <a:off x="594360" y="1143000"/>
            <a:ext cx="41112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0a1020"/>
                </a:solidFill>
                <a:latin typeface="Calibri"/>
              </a:rPr>
              <a:t>1</a:t>
            </a:r>
            <a:endParaRPr b="0" lang="en-US" sz="1600" spc="-1" strike="noStrike">
              <a:solidFill>
                <a:srgbClr val="ffffff"/>
              </a:solidFill>
              <a:latin typeface="Arial"/>
            </a:endParaRPr>
          </a:p>
        </p:txBody>
      </p:sp>
      <p:sp>
        <p:nvSpPr>
          <p:cNvPr id="54" name="Text 5"/>
          <p:cNvSpPr/>
          <p:nvPr/>
        </p:nvSpPr>
        <p:spPr>
          <a:xfrm>
            <a:off x="594360" y="1627560"/>
            <a:ext cx="1645560" cy="4568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00" spc="-1" strike="noStrike">
                <a:solidFill>
                  <a:srgbClr val="e8f1ff"/>
                </a:solidFill>
                <a:latin typeface="Calibri"/>
              </a:rPr>
              <a:t>Open Source Control</a:t>
            </a:r>
            <a:endParaRPr b="0" lang="en-US" sz="1400" spc="-1" strike="noStrike">
              <a:solidFill>
                <a:srgbClr val="ffffff"/>
              </a:solidFill>
              <a:latin typeface="Arial"/>
            </a:endParaRPr>
          </a:p>
        </p:txBody>
      </p:sp>
      <p:sp>
        <p:nvSpPr>
          <p:cNvPr id="55" name="Text 6"/>
          <p:cNvSpPr/>
          <p:nvPr/>
        </p:nvSpPr>
        <p:spPr>
          <a:xfrm>
            <a:off x="594360" y="2084760"/>
            <a:ext cx="1645560" cy="840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8fa3c7"/>
                </a:solidFill>
                <a:latin typeface="Calibri"/>
              </a:rPr>
              <a:t>Click the branch icon on the left bar, or press Ctrl+Shift+G (Cmd+Shift+G on Mac).</a:t>
            </a:r>
            <a:endParaRPr b="0" lang="en-US" sz="1200" spc="-1" strike="noStrike">
              <a:solidFill>
                <a:srgbClr val="ffffff"/>
              </a:solidFill>
              <a:latin typeface="Arial"/>
            </a:endParaRPr>
          </a:p>
        </p:txBody>
      </p:sp>
      <p:sp>
        <p:nvSpPr>
          <p:cNvPr id="56" name="Shape 7"/>
          <p:cNvSpPr/>
          <p:nvPr/>
        </p:nvSpPr>
        <p:spPr>
          <a:xfrm>
            <a:off x="2514600" y="1005840"/>
            <a:ext cx="1919880" cy="2011320"/>
          </a:xfrm>
          <a:prstGeom prst="roundRect">
            <a:avLst>
              <a:gd name="adj" fmla="val 4762"/>
            </a:avLst>
          </a:prstGeom>
          <a:solidFill>
            <a:srgbClr val="141e38"/>
          </a:solidFill>
          <a:ln w="12700">
            <a:solidFill>
              <a:srgbClr val="141e3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7" name="Shape 8"/>
          <p:cNvSpPr/>
          <p:nvPr/>
        </p:nvSpPr>
        <p:spPr>
          <a:xfrm>
            <a:off x="2651760" y="1143000"/>
            <a:ext cx="411120" cy="411120"/>
          </a:xfrm>
          <a:prstGeom prst="ellipse">
            <a:avLst/>
          </a:prstGeom>
          <a:solidFill>
            <a:srgbClr val="22e6c4"/>
          </a:solidFill>
          <a:ln w="12700">
            <a:solidFill>
              <a:srgbClr val="22e6c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8" name="Text 9"/>
          <p:cNvSpPr/>
          <p:nvPr/>
        </p:nvSpPr>
        <p:spPr>
          <a:xfrm>
            <a:off x="2651760" y="1143000"/>
            <a:ext cx="41112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0a1020"/>
                </a:solidFill>
                <a:latin typeface="Calibri"/>
              </a:rPr>
              <a:t>2</a:t>
            </a:r>
            <a:endParaRPr b="0" lang="en-US" sz="1600" spc="-1" strike="noStrike">
              <a:solidFill>
                <a:srgbClr val="ffffff"/>
              </a:solidFill>
              <a:latin typeface="Arial"/>
            </a:endParaRPr>
          </a:p>
        </p:txBody>
      </p:sp>
      <p:sp>
        <p:nvSpPr>
          <p:cNvPr id="59" name="Text 10"/>
          <p:cNvSpPr/>
          <p:nvPr/>
        </p:nvSpPr>
        <p:spPr>
          <a:xfrm>
            <a:off x="2651760" y="1627560"/>
            <a:ext cx="1645560" cy="4568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00" spc="-1" strike="noStrike">
                <a:solidFill>
                  <a:srgbClr val="e8f1ff"/>
                </a:solidFill>
                <a:latin typeface="Calibri"/>
              </a:rPr>
              <a:t>Check it is clean</a:t>
            </a:r>
            <a:endParaRPr b="0" lang="en-US" sz="1400" spc="-1" strike="noStrike">
              <a:solidFill>
                <a:srgbClr val="ffffff"/>
              </a:solidFill>
              <a:latin typeface="Arial"/>
            </a:endParaRPr>
          </a:p>
        </p:txBody>
      </p:sp>
      <p:sp>
        <p:nvSpPr>
          <p:cNvPr id="60" name="Text 11"/>
          <p:cNvSpPr/>
          <p:nvPr/>
        </p:nvSpPr>
        <p:spPr>
          <a:xfrm>
            <a:off x="2651760" y="2084760"/>
            <a:ext cx="1645560" cy="840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8fa3c7"/>
                </a:solidFill>
                <a:latin typeface="Calibri"/>
              </a:rPr>
              <a:t>The Changes list is empty. If a file is listed, use the next slide instead.</a:t>
            </a:r>
            <a:endParaRPr b="0" lang="en-US" sz="1200" spc="-1" strike="noStrike">
              <a:solidFill>
                <a:srgbClr val="ffffff"/>
              </a:solidFill>
              <a:latin typeface="Arial"/>
            </a:endParaRPr>
          </a:p>
        </p:txBody>
      </p:sp>
      <p:sp>
        <p:nvSpPr>
          <p:cNvPr id="61" name="Shape 12"/>
          <p:cNvSpPr/>
          <p:nvPr/>
        </p:nvSpPr>
        <p:spPr>
          <a:xfrm>
            <a:off x="4572000" y="1005840"/>
            <a:ext cx="1919880" cy="2011320"/>
          </a:xfrm>
          <a:prstGeom prst="roundRect">
            <a:avLst>
              <a:gd name="adj" fmla="val 4762"/>
            </a:avLst>
          </a:prstGeom>
          <a:solidFill>
            <a:srgbClr val="141e38"/>
          </a:solidFill>
          <a:ln w="12700">
            <a:solidFill>
              <a:srgbClr val="141e3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2" name="Shape 13"/>
          <p:cNvSpPr/>
          <p:nvPr/>
        </p:nvSpPr>
        <p:spPr>
          <a:xfrm>
            <a:off x="4709160" y="1143000"/>
            <a:ext cx="411120" cy="411120"/>
          </a:xfrm>
          <a:prstGeom prst="ellipse">
            <a:avLst/>
          </a:prstGeom>
          <a:solidFill>
            <a:srgbClr val="22e6c4"/>
          </a:solidFill>
          <a:ln w="12700">
            <a:solidFill>
              <a:srgbClr val="22e6c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3" name="Text 14"/>
          <p:cNvSpPr/>
          <p:nvPr/>
        </p:nvSpPr>
        <p:spPr>
          <a:xfrm>
            <a:off x="4709160" y="1143000"/>
            <a:ext cx="41112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0a1020"/>
                </a:solidFill>
                <a:latin typeface="Calibri"/>
              </a:rPr>
              <a:t>3</a:t>
            </a:r>
            <a:endParaRPr b="0" lang="en-US" sz="1600" spc="-1" strike="noStrike">
              <a:solidFill>
                <a:srgbClr val="ffffff"/>
              </a:solidFill>
              <a:latin typeface="Arial"/>
            </a:endParaRPr>
          </a:p>
        </p:txBody>
      </p:sp>
      <p:sp>
        <p:nvSpPr>
          <p:cNvPr id="64" name="Text 15"/>
          <p:cNvSpPr/>
          <p:nvPr/>
        </p:nvSpPr>
        <p:spPr>
          <a:xfrm>
            <a:off x="4709160" y="1627560"/>
            <a:ext cx="1645560" cy="4568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00" spc="-1" strike="noStrike">
                <a:solidFill>
                  <a:srgbClr val="e8f1ff"/>
                </a:solidFill>
                <a:latin typeface="Calibri"/>
              </a:rPr>
              <a:t>Pull</a:t>
            </a:r>
            <a:endParaRPr b="0" lang="en-US" sz="1400" spc="-1" strike="noStrike">
              <a:solidFill>
                <a:srgbClr val="ffffff"/>
              </a:solidFill>
              <a:latin typeface="Arial"/>
            </a:endParaRPr>
          </a:p>
        </p:txBody>
      </p:sp>
      <p:sp>
        <p:nvSpPr>
          <p:cNvPr id="65" name="Text 16"/>
          <p:cNvSpPr/>
          <p:nvPr/>
        </p:nvSpPr>
        <p:spPr>
          <a:xfrm>
            <a:off x="4709160" y="2084760"/>
            <a:ext cx="1645560" cy="840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8fa3c7"/>
                </a:solidFill>
                <a:latin typeface="Calibri"/>
              </a:rPr>
              <a:t>Click the ⋯ menu, then Pull. Or click Sync Changes (↓) if it is shown.</a:t>
            </a:r>
            <a:endParaRPr b="0" lang="en-US" sz="1200" spc="-1" strike="noStrike">
              <a:solidFill>
                <a:srgbClr val="ffffff"/>
              </a:solidFill>
              <a:latin typeface="Arial"/>
            </a:endParaRPr>
          </a:p>
        </p:txBody>
      </p:sp>
      <p:sp>
        <p:nvSpPr>
          <p:cNvPr id="66" name="Shape 17"/>
          <p:cNvSpPr/>
          <p:nvPr/>
        </p:nvSpPr>
        <p:spPr>
          <a:xfrm>
            <a:off x="6629400" y="1005840"/>
            <a:ext cx="2057040" cy="2011320"/>
          </a:xfrm>
          <a:prstGeom prst="roundRect">
            <a:avLst>
              <a:gd name="adj" fmla="val 4545"/>
            </a:avLst>
          </a:prstGeom>
          <a:solidFill>
            <a:srgbClr val="141e38"/>
          </a:solidFill>
          <a:ln w="12700">
            <a:solidFill>
              <a:srgbClr val="141e3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7" name="Shape 18"/>
          <p:cNvSpPr/>
          <p:nvPr/>
        </p:nvSpPr>
        <p:spPr>
          <a:xfrm>
            <a:off x="6766560" y="1143000"/>
            <a:ext cx="411120" cy="411120"/>
          </a:xfrm>
          <a:prstGeom prst="ellipse">
            <a:avLst/>
          </a:prstGeom>
          <a:solidFill>
            <a:srgbClr val="22e6c4"/>
          </a:solidFill>
          <a:ln w="12700">
            <a:solidFill>
              <a:srgbClr val="22e6c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8" name="Text 19"/>
          <p:cNvSpPr/>
          <p:nvPr/>
        </p:nvSpPr>
        <p:spPr>
          <a:xfrm>
            <a:off x="6766560" y="1143000"/>
            <a:ext cx="41112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0a1020"/>
                </a:solidFill>
                <a:latin typeface="Calibri"/>
              </a:rPr>
              <a:t>4</a:t>
            </a:r>
            <a:endParaRPr b="0" lang="en-US" sz="1600" spc="-1" strike="noStrike">
              <a:solidFill>
                <a:srgbClr val="ffffff"/>
              </a:solidFill>
              <a:latin typeface="Arial"/>
            </a:endParaRPr>
          </a:p>
        </p:txBody>
      </p:sp>
      <p:sp>
        <p:nvSpPr>
          <p:cNvPr id="69" name="Text 20"/>
          <p:cNvSpPr/>
          <p:nvPr/>
        </p:nvSpPr>
        <p:spPr>
          <a:xfrm>
            <a:off x="6766560" y="1627560"/>
            <a:ext cx="1782720" cy="4568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00" spc="-1" strike="noStrike">
                <a:solidFill>
                  <a:srgbClr val="e8f1ff"/>
                </a:solidFill>
                <a:latin typeface="Calibri"/>
              </a:rPr>
              <a:t>Confirm</a:t>
            </a:r>
            <a:endParaRPr b="0" lang="en-US" sz="1400" spc="-1" strike="noStrike">
              <a:solidFill>
                <a:srgbClr val="ffffff"/>
              </a:solidFill>
              <a:latin typeface="Arial"/>
            </a:endParaRPr>
          </a:p>
        </p:txBody>
      </p:sp>
      <p:sp>
        <p:nvSpPr>
          <p:cNvPr id="70" name="Text 21"/>
          <p:cNvSpPr/>
          <p:nvPr/>
        </p:nvSpPr>
        <p:spPr>
          <a:xfrm>
            <a:off x="6766560" y="2084760"/>
            <a:ext cx="1782720" cy="840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8fa3c7"/>
                </a:solidFill>
                <a:latin typeface="Calibri"/>
              </a:rPr>
              <a:t>Bottom-left shows branch main with ↓0 ↑0. Open the new files in Explorer.</a:t>
            </a:r>
            <a:endParaRPr b="0" lang="en-US" sz="1200" spc="-1" strike="noStrike">
              <a:solidFill>
                <a:srgbClr val="ffffff"/>
              </a:solidFill>
              <a:latin typeface="Arial"/>
            </a:endParaRPr>
          </a:p>
        </p:txBody>
      </p:sp>
      <p:sp>
        <p:nvSpPr>
          <p:cNvPr id="71" name="Shape 22"/>
          <p:cNvSpPr/>
          <p:nvPr/>
        </p:nvSpPr>
        <p:spPr>
          <a:xfrm>
            <a:off x="457200" y="3246120"/>
            <a:ext cx="8229240" cy="1279800"/>
          </a:xfrm>
          <a:prstGeom prst="roundRect">
            <a:avLst>
              <a:gd name="adj" fmla="val 7143"/>
            </a:avLst>
          </a:prstGeom>
          <a:solidFill>
            <a:srgbClr val="2a2210"/>
          </a:solidFill>
          <a:ln w="15875">
            <a:solidFill>
              <a:srgbClr val="ffc857"/>
            </a:solidFill>
            <a:prstDash val="dash"/>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2" name="Text 23"/>
          <p:cNvSpPr/>
          <p:nvPr/>
        </p:nvSpPr>
        <p:spPr>
          <a:xfrm>
            <a:off x="594360" y="3310200"/>
            <a:ext cx="7954920" cy="1151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c857"/>
                </a:solidFill>
                <a:latin typeface="Calibri"/>
                <a:ea typeface="Calibri"/>
              </a:rPr>
              <a:t>✎ </a:t>
            </a:r>
            <a:r>
              <a:rPr b="1" lang="en-US" sz="1300" spc="-1" strike="noStrike">
                <a:solidFill>
                  <a:srgbClr val="ffc857"/>
                </a:solidFill>
                <a:latin typeface="Calibri"/>
                <a:ea typeface="Calibri"/>
              </a:rPr>
              <a:t>Ethan, fill this in:  </a:t>
            </a:r>
            <a:r>
              <a:rPr b="0" lang="en-US" sz="1300" spc="-1" strike="noStrike">
                <a:solidFill>
                  <a:srgbClr val="e8f1ff"/>
                </a:solidFill>
                <a:latin typeface="Calibri"/>
                <a:ea typeface="Calibri"/>
              </a:rPr>
              <a:t>Add a screenshot of each step. What does the bottom-left status bar look like before and after pull?</a:t>
            </a:r>
            <a:endParaRPr b="0" lang="en-US" sz="1300" spc="-1" strike="noStrike">
              <a:solidFill>
                <a:srgbClr val="ffffff"/>
              </a:solidFill>
              <a:latin typeface="Arial"/>
            </a:endParaRPr>
          </a:p>
        </p:txBody>
      </p:sp>
      <p:sp>
        <p:nvSpPr>
          <p:cNvPr id="73" name="PlaceHolder 1"/>
          <p:cNvSpPr>
            <a:spLocks noGrp="1"/>
          </p:cNvSpPr>
          <p:nvPr>
            <p:ph type="sldNum" idx="7"/>
          </p:nvPr>
        </p:nvSpPr>
        <p:spPr>
          <a:xfrm>
            <a:off x="8321040" y="4754880"/>
            <a:ext cx="456840" cy="388440"/>
          </a:xfrm>
          <a:prstGeom prst="rect">
            <a:avLst/>
          </a:prstGeom>
          <a:noFill/>
          <a:ln w="0">
            <a:noFill/>
          </a:ln>
        </p:spPr>
        <p:txBody>
          <a:bodyPr lIns="90000" rIns="90000" tIns="45000" bIns="45000" anchor="t">
            <a:noAutofit/>
          </a:bodyPr>
          <a:lstStyle>
            <a:lvl1pPr indent="0" algn="r" defTabSz="914400">
              <a:lnSpc>
                <a:spcPct val="100000"/>
              </a:lnSpc>
              <a:buNone/>
              <a:defRPr b="0" lang="en-US" sz="1000" spc="-1" strike="noStrike">
                <a:solidFill>
                  <a:srgbClr val="8fa3c7"/>
                </a:solidFill>
                <a:latin typeface="Calibri"/>
                <a:ea typeface="Calibri"/>
              </a:defRPr>
            </a:lvl1pPr>
          </a:lstStyle>
          <a:p>
            <a:pPr indent="0" algn="r" defTabSz="914400">
              <a:lnSpc>
                <a:spcPct val="100000"/>
              </a:lnSpc>
              <a:buNone/>
            </a:pPr>
            <a:fld id="{70A27BF8-9E2D-4651-99DF-37D91DFE0DC8}" type="slidenum">
              <a:rPr b="0" lang="en-US" sz="1000" spc="-1" strike="noStrike">
                <a:solidFill>
                  <a:srgbClr val="8fa3c7"/>
                </a:solidFill>
                <a:latin typeface="Calibri"/>
                <a:ea typeface="Calibri"/>
              </a:rPr>
              <a:t>&lt;number&gt;</a:t>
            </a:fld>
            <a:endParaRPr b="0" lang="en-US" sz="10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Text 0"/>
          <p:cNvSpPr/>
          <p:nvPr/>
        </p:nvSpPr>
        <p:spPr>
          <a:xfrm>
            <a:off x="457200" y="274320"/>
            <a:ext cx="69490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e8f1ff"/>
                </a:solidFill>
                <a:latin typeface="Cambria"/>
                <a:ea typeface="Cambria"/>
              </a:rPr>
              <a:t>Get the latest code: you have local changes</a:t>
            </a:r>
            <a:endParaRPr b="0" lang="en-US" sz="2800" spc="-1" strike="noStrike">
              <a:solidFill>
                <a:srgbClr val="ffffff"/>
              </a:solidFill>
              <a:latin typeface="Arial"/>
            </a:endParaRPr>
          </a:p>
        </p:txBody>
      </p:sp>
      <p:sp>
        <p:nvSpPr>
          <p:cNvPr id="75" name="Text 1"/>
          <p:cNvSpPr/>
          <p:nvPr/>
        </p:nvSpPr>
        <p:spPr>
          <a:xfrm>
            <a:off x="7498080" y="347400"/>
            <a:ext cx="1188360" cy="310680"/>
          </a:xfrm>
          <a:prstGeom prst="roundRect">
            <a:avLst>
              <a:gd name="adj" fmla="val 50000"/>
            </a:avLst>
          </a:prstGeom>
          <a:solidFill>
            <a:srgbClr val="22e6c4"/>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0a1020"/>
                </a:solidFill>
                <a:latin typeface="Calibri"/>
              </a:rPr>
              <a:t>Ethan</a:t>
            </a:r>
            <a:endParaRPr b="0" lang="en-US" sz="1100" spc="-1" strike="noStrike">
              <a:solidFill>
                <a:srgbClr val="000000"/>
              </a:solidFill>
              <a:latin typeface="Arial"/>
            </a:endParaRPr>
          </a:p>
        </p:txBody>
      </p:sp>
      <p:sp>
        <p:nvSpPr>
          <p:cNvPr id="76" name="Shape 2"/>
          <p:cNvSpPr/>
          <p:nvPr/>
        </p:nvSpPr>
        <p:spPr>
          <a:xfrm>
            <a:off x="457200" y="1005840"/>
            <a:ext cx="4023000" cy="2148480"/>
          </a:xfrm>
          <a:prstGeom prst="roundRect">
            <a:avLst>
              <a:gd name="adj" fmla="val 4255"/>
            </a:avLst>
          </a:prstGeom>
          <a:solidFill>
            <a:srgbClr val="141e38"/>
          </a:solidFill>
          <a:ln w="12700">
            <a:solidFill>
              <a:srgbClr val="141e3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7" name="Text 3"/>
          <p:cNvSpPr/>
          <p:nvPr/>
        </p:nvSpPr>
        <p:spPr>
          <a:xfrm>
            <a:off x="594360" y="1097280"/>
            <a:ext cx="374868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22e6c4"/>
                </a:solidFill>
                <a:latin typeface="Calibri"/>
                <a:ea typeface="Calibri"/>
              </a:rPr>
              <a:t>Path A: keep my work (commit first)</a:t>
            </a:r>
            <a:endParaRPr b="0" lang="en-US" sz="1500" spc="-1" strike="noStrike">
              <a:solidFill>
                <a:srgbClr val="ffffff"/>
              </a:solidFill>
              <a:latin typeface="Arial"/>
            </a:endParaRPr>
          </a:p>
        </p:txBody>
      </p:sp>
      <p:sp>
        <p:nvSpPr>
          <p:cNvPr id="78" name="Text 4"/>
          <p:cNvSpPr/>
          <p:nvPr/>
        </p:nvSpPr>
        <p:spPr>
          <a:xfrm>
            <a:off x="594360" y="1444680"/>
            <a:ext cx="3748680" cy="16182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00" spc="-1" strike="noStrike">
                <a:solidFill>
                  <a:srgbClr val="e8f1ff"/>
                </a:solidFill>
                <a:latin typeface="Calibri"/>
                <a:ea typeface="Calibri"/>
              </a:rPr>
              <a:t>1. Source Control: type a message</a:t>
            </a:r>
            <a:endParaRPr b="0" lang="en-US" sz="1300" spc="-1" strike="noStrike">
              <a:solidFill>
                <a:srgbClr val="ffffff"/>
              </a:solidFill>
              <a:latin typeface="Arial"/>
            </a:endParaRPr>
          </a:p>
          <a:p>
            <a:pPr defTabSz="914400">
              <a:lnSpc>
                <a:spcPct val="100000"/>
              </a:lnSpc>
              <a:tabLst>
                <a:tab algn="l" pos="0"/>
              </a:tabLst>
            </a:pPr>
            <a:r>
              <a:rPr b="0" lang="en-US" sz="1300" spc="-1" strike="noStrike">
                <a:solidFill>
                  <a:srgbClr val="e8f1ff"/>
                </a:solidFill>
                <a:latin typeface="Calibri"/>
                <a:ea typeface="Calibri"/>
              </a:rPr>
              <a:t>2. Click Commit (check only your files)</a:t>
            </a:r>
            <a:endParaRPr b="0" lang="en-US" sz="1300" spc="-1" strike="noStrike">
              <a:solidFill>
                <a:srgbClr val="ffffff"/>
              </a:solidFill>
              <a:latin typeface="Arial"/>
            </a:endParaRPr>
          </a:p>
          <a:p>
            <a:pPr defTabSz="914400">
              <a:lnSpc>
                <a:spcPct val="100000"/>
              </a:lnSpc>
              <a:tabLst>
                <a:tab algn="l" pos="0"/>
              </a:tabLst>
            </a:pPr>
            <a:r>
              <a:rPr b="0" lang="en-US" sz="1300" spc="-1" strike="noStrike">
                <a:solidFill>
                  <a:srgbClr val="e8f1ff"/>
                </a:solidFill>
                <a:latin typeface="Calibri"/>
                <a:ea typeface="Calibri"/>
              </a:rPr>
              <a:t>3. ⋯ menu → Pull</a:t>
            </a:r>
            <a:endParaRPr b="0" lang="en-US" sz="1300" spc="-1" strike="noStrike">
              <a:solidFill>
                <a:srgbClr val="ffffff"/>
              </a:solidFill>
              <a:latin typeface="Arial"/>
            </a:endParaRPr>
          </a:p>
          <a:p>
            <a:pPr defTabSz="914400">
              <a:lnSpc>
                <a:spcPct val="100000"/>
              </a:lnSpc>
              <a:tabLst>
                <a:tab algn="l" pos="0"/>
              </a:tabLst>
            </a:pPr>
            <a:r>
              <a:rPr b="0" lang="en-US" sz="1300" spc="-1" strike="noStrike">
                <a:solidFill>
                  <a:srgbClr val="e8f1ff"/>
                </a:solidFill>
                <a:latin typeface="Calibri"/>
                <a:ea typeface="Calibri"/>
              </a:rPr>
              <a:t>4. If a conflict appears, click the file and use Merge Editor: Accept Current, Incoming, or Both</a:t>
            </a:r>
            <a:endParaRPr b="0" lang="en-US" sz="1300" spc="-1" strike="noStrike">
              <a:solidFill>
                <a:srgbClr val="ffffff"/>
              </a:solidFill>
              <a:latin typeface="Arial"/>
            </a:endParaRPr>
          </a:p>
        </p:txBody>
      </p:sp>
      <p:sp>
        <p:nvSpPr>
          <p:cNvPr id="79" name="Shape 5"/>
          <p:cNvSpPr/>
          <p:nvPr/>
        </p:nvSpPr>
        <p:spPr>
          <a:xfrm>
            <a:off x="4663440" y="1005840"/>
            <a:ext cx="4023000" cy="2148480"/>
          </a:xfrm>
          <a:prstGeom prst="roundRect">
            <a:avLst>
              <a:gd name="adj" fmla="val 4255"/>
            </a:avLst>
          </a:prstGeom>
          <a:solidFill>
            <a:srgbClr val="141e38"/>
          </a:solidFill>
          <a:ln w="12700">
            <a:solidFill>
              <a:srgbClr val="141e3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0" name="Text 6"/>
          <p:cNvSpPr/>
          <p:nvPr/>
        </p:nvSpPr>
        <p:spPr>
          <a:xfrm>
            <a:off x="4800600" y="1097280"/>
            <a:ext cx="374868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b26bff"/>
                </a:solidFill>
                <a:latin typeface="Calibri"/>
                <a:ea typeface="Calibri"/>
              </a:rPr>
              <a:t>Path B: set aside (stash)</a:t>
            </a:r>
            <a:endParaRPr b="0" lang="en-US" sz="1500" spc="-1" strike="noStrike">
              <a:solidFill>
                <a:srgbClr val="ffffff"/>
              </a:solidFill>
              <a:latin typeface="Arial"/>
            </a:endParaRPr>
          </a:p>
        </p:txBody>
      </p:sp>
      <p:sp>
        <p:nvSpPr>
          <p:cNvPr id="81" name="Text 7"/>
          <p:cNvSpPr/>
          <p:nvPr/>
        </p:nvSpPr>
        <p:spPr>
          <a:xfrm>
            <a:off x="4800600" y="1444680"/>
            <a:ext cx="3748680" cy="16182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00" spc="-1" strike="noStrike">
                <a:solidFill>
                  <a:srgbClr val="e8f1ff"/>
                </a:solidFill>
                <a:latin typeface="Calibri"/>
                <a:ea typeface="Calibri"/>
              </a:rPr>
              <a:t>1. ⋯ menu → Stash → Stash</a:t>
            </a:r>
            <a:endParaRPr b="0" lang="en-US" sz="1300" spc="-1" strike="noStrike">
              <a:solidFill>
                <a:srgbClr val="ffffff"/>
              </a:solidFill>
              <a:latin typeface="Arial"/>
            </a:endParaRPr>
          </a:p>
          <a:p>
            <a:pPr defTabSz="914400">
              <a:lnSpc>
                <a:spcPct val="100000"/>
              </a:lnSpc>
              <a:tabLst>
                <a:tab algn="l" pos="0"/>
              </a:tabLst>
            </a:pPr>
            <a:r>
              <a:rPr b="0" lang="en-US" sz="1300" spc="-1" strike="noStrike">
                <a:solidFill>
                  <a:srgbClr val="e8f1ff"/>
                </a:solidFill>
                <a:latin typeface="Calibri"/>
                <a:ea typeface="Calibri"/>
              </a:rPr>
              <a:t>2. ⋯ menu → Pull</a:t>
            </a:r>
            <a:endParaRPr b="0" lang="en-US" sz="1300" spc="-1" strike="noStrike">
              <a:solidFill>
                <a:srgbClr val="ffffff"/>
              </a:solidFill>
              <a:latin typeface="Arial"/>
            </a:endParaRPr>
          </a:p>
          <a:p>
            <a:pPr defTabSz="914400">
              <a:lnSpc>
                <a:spcPct val="100000"/>
              </a:lnSpc>
              <a:tabLst>
                <a:tab algn="l" pos="0"/>
              </a:tabLst>
            </a:pPr>
            <a:r>
              <a:rPr b="0" lang="en-US" sz="1300" spc="-1" strike="noStrike">
                <a:solidFill>
                  <a:srgbClr val="e8f1ff"/>
                </a:solidFill>
                <a:latin typeface="Calibri"/>
                <a:ea typeface="Calibri"/>
              </a:rPr>
              <a:t>3. ⋯ menu → Stash → Pop Stash</a:t>
            </a:r>
            <a:endParaRPr b="0" lang="en-US" sz="1300" spc="-1" strike="noStrike">
              <a:solidFill>
                <a:srgbClr val="ffffff"/>
              </a:solidFill>
              <a:latin typeface="Arial"/>
            </a:endParaRPr>
          </a:p>
          <a:p>
            <a:pPr defTabSz="914400">
              <a:lnSpc>
                <a:spcPct val="100000"/>
              </a:lnSpc>
              <a:tabLst>
                <a:tab algn="l" pos="0"/>
              </a:tabLst>
            </a:pPr>
            <a:r>
              <a:rPr b="0" lang="en-US" sz="1300" spc="-1" strike="noStrike">
                <a:solidFill>
                  <a:srgbClr val="e8f1ff"/>
                </a:solidFill>
                <a:latin typeface="Calibri"/>
                <a:ea typeface="Calibri"/>
              </a:rPr>
              <a:t>4. Fix any conflict the same way as Path A</a:t>
            </a:r>
            <a:endParaRPr b="0" lang="en-US" sz="1300" spc="-1" strike="noStrike">
              <a:solidFill>
                <a:srgbClr val="ffffff"/>
              </a:solidFill>
              <a:latin typeface="Arial"/>
            </a:endParaRPr>
          </a:p>
        </p:txBody>
      </p:sp>
      <p:sp>
        <p:nvSpPr>
          <p:cNvPr id="82" name="Text 8"/>
          <p:cNvSpPr/>
          <p:nvPr/>
        </p:nvSpPr>
        <p:spPr>
          <a:xfrm>
            <a:off x="457200" y="3291840"/>
            <a:ext cx="82292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e8f1ff"/>
                </a:solidFill>
                <a:latin typeface="Calibri"/>
              </a:rPr>
              <a:t>Never commit </a:t>
            </a:r>
            <a:r>
              <a:rPr b="1" lang="en-US" sz="1400" spc="-1" strike="noStrike">
                <a:solidFill>
                  <a:srgbClr val="ff5c8a"/>
                </a:solidFill>
                <a:latin typeface="Courier New"/>
                <a:ea typeface="Courier New"/>
              </a:rPr>
              <a:t>.vscode/launch.json</a:t>
            </a:r>
            <a:r>
              <a:rPr b="0" lang="en-US" sz="1400" spc="-1" strike="noStrike">
                <a:solidFill>
                  <a:srgbClr val="e8f1ff"/>
                </a:solidFill>
                <a:latin typeface="Calibri"/>
                <a:ea typeface="Courier New"/>
              </a:rPr>
              <a:t> (it holds your own hub name). Unstage it or use Stash.</a:t>
            </a:r>
            <a:endParaRPr b="0" lang="en-US" sz="1400" spc="-1" strike="noStrike">
              <a:solidFill>
                <a:srgbClr val="ffffff"/>
              </a:solidFill>
              <a:latin typeface="Arial"/>
            </a:endParaRPr>
          </a:p>
        </p:txBody>
      </p:sp>
      <p:sp>
        <p:nvSpPr>
          <p:cNvPr id="83" name="Shape 9"/>
          <p:cNvSpPr/>
          <p:nvPr/>
        </p:nvSpPr>
        <p:spPr>
          <a:xfrm>
            <a:off x="457200" y="3703320"/>
            <a:ext cx="8229240" cy="868320"/>
          </a:xfrm>
          <a:prstGeom prst="roundRect">
            <a:avLst>
              <a:gd name="adj" fmla="val 10526"/>
            </a:avLst>
          </a:prstGeom>
          <a:solidFill>
            <a:srgbClr val="2a2210"/>
          </a:solidFill>
          <a:ln w="15875">
            <a:solidFill>
              <a:srgbClr val="ffc857"/>
            </a:solidFill>
            <a:prstDash val="dash"/>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4" name="Text 10"/>
          <p:cNvSpPr/>
          <p:nvPr/>
        </p:nvSpPr>
        <p:spPr>
          <a:xfrm>
            <a:off x="594360" y="3767400"/>
            <a:ext cx="7954920" cy="740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c857"/>
                </a:solidFill>
                <a:latin typeface="Calibri"/>
                <a:ea typeface="Calibri"/>
              </a:rPr>
              <a:t>✎ </a:t>
            </a:r>
            <a:r>
              <a:rPr b="1" lang="en-US" sz="1300" spc="-1" strike="noStrike">
                <a:solidFill>
                  <a:srgbClr val="ffc857"/>
                </a:solidFill>
                <a:latin typeface="Calibri"/>
                <a:ea typeface="Calibri"/>
              </a:rPr>
              <a:t>Ethan, fill this in:  </a:t>
            </a:r>
            <a:r>
              <a:rPr b="0" lang="en-US" sz="1300" spc="-1" strike="noStrike">
                <a:solidFill>
                  <a:srgbClr val="e8f1ff"/>
                </a:solidFill>
                <a:latin typeface="Calibri"/>
                <a:ea typeface="Calibri"/>
              </a:rPr>
              <a:t>Which path do you use, and when? What do you do when Pull says there is a conflict?</a:t>
            </a:r>
            <a:endParaRPr b="0" lang="en-US" sz="1300" spc="-1" strike="noStrike">
              <a:solidFill>
                <a:srgbClr val="ffffff"/>
              </a:solidFill>
              <a:latin typeface="Arial"/>
            </a:endParaRPr>
          </a:p>
        </p:txBody>
      </p:sp>
      <p:sp>
        <p:nvSpPr>
          <p:cNvPr id="85" name="PlaceHolder 1"/>
          <p:cNvSpPr>
            <a:spLocks noGrp="1"/>
          </p:cNvSpPr>
          <p:nvPr>
            <p:ph type="sldNum" idx="8"/>
          </p:nvPr>
        </p:nvSpPr>
        <p:spPr>
          <a:xfrm>
            <a:off x="8321040" y="4754880"/>
            <a:ext cx="456840" cy="388440"/>
          </a:xfrm>
          <a:prstGeom prst="rect">
            <a:avLst/>
          </a:prstGeom>
          <a:noFill/>
          <a:ln w="0">
            <a:noFill/>
          </a:ln>
        </p:spPr>
        <p:txBody>
          <a:bodyPr lIns="90000" rIns="90000" tIns="45000" bIns="45000" anchor="t">
            <a:noAutofit/>
          </a:bodyPr>
          <a:lstStyle>
            <a:lvl1pPr indent="0" algn="r" defTabSz="914400">
              <a:lnSpc>
                <a:spcPct val="100000"/>
              </a:lnSpc>
              <a:buNone/>
              <a:defRPr b="0" lang="en-US" sz="1000" spc="-1" strike="noStrike">
                <a:solidFill>
                  <a:srgbClr val="8fa3c7"/>
                </a:solidFill>
                <a:latin typeface="Calibri"/>
                <a:ea typeface="Calibri"/>
              </a:defRPr>
            </a:lvl1pPr>
          </a:lstStyle>
          <a:p>
            <a:pPr indent="0" algn="r" defTabSz="914400">
              <a:lnSpc>
                <a:spcPct val="100000"/>
              </a:lnSpc>
              <a:buNone/>
            </a:pPr>
            <a:fld id="{D94A72D6-F377-4F8F-90DA-52DF1D925F3B}" type="slidenum">
              <a:rPr b="0" lang="en-US" sz="1000" spc="-1" strike="noStrike">
                <a:solidFill>
                  <a:srgbClr val="8fa3c7"/>
                </a:solidFill>
                <a:latin typeface="Calibri"/>
                <a:ea typeface="Calibri"/>
              </a:rPr>
              <a:t>&lt;number&gt;</a:t>
            </a:fld>
            <a:endParaRPr b="0" lang="en-US" sz="10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Text 0"/>
          <p:cNvSpPr/>
          <p:nvPr/>
        </p:nvSpPr>
        <p:spPr>
          <a:xfrm>
            <a:off x="457200" y="274320"/>
            <a:ext cx="69490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e8f1ff"/>
                </a:solidFill>
                <a:latin typeface="Cambria"/>
                <a:ea typeface="Cambria"/>
              </a:rPr>
              <a:t>Daily workflow: pull, branch, push</a:t>
            </a:r>
            <a:endParaRPr b="0" lang="en-US" sz="2800" spc="-1" strike="noStrike">
              <a:solidFill>
                <a:srgbClr val="ffffff"/>
              </a:solidFill>
              <a:latin typeface="Arial"/>
            </a:endParaRPr>
          </a:p>
        </p:txBody>
      </p:sp>
      <p:sp>
        <p:nvSpPr>
          <p:cNvPr id="87" name="Text 1"/>
          <p:cNvSpPr/>
          <p:nvPr/>
        </p:nvSpPr>
        <p:spPr>
          <a:xfrm>
            <a:off x="7498080" y="347400"/>
            <a:ext cx="1188360" cy="310680"/>
          </a:xfrm>
          <a:prstGeom prst="roundRect">
            <a:avLst>
              <a:gd name="adj" fmla="val 50000"/>
            </a:avLst>
          </a:prstGeom>
          <a:solidFill>
            <a:srgbClr val="22e6c4"/>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0a1020"/>
                </a:solidFill>
                <a:latin typeface="Calibri"/>
              </a:rPr>
              <a:t>Ethan</a:t>
            </a:r>
            <a:endParaRPr b="0" lang="en-US" sz="1100" spc="-1" strike="noStrike">
              <a:solidFill>
                <a:srgbClr val="000000"/>
              </a:solidFill>
              <a:latin typeface="Arial"/>
            </a:endParaRPr>
          </a:p>
        </p:txBody>
      </p:sp>
      <p:sp>
        <p:nvSpPr>
          <p:cNvPr id="88" name="Shape 2"/>
          <p:cNvSpPr/>
          <p:nvPr/>
        </p:nvSpPr>
        <p:spPr>
          <a:xfrm>
            <a:off x="457200" y="1097280"/>
            <a:ext cx="1279800" cy="1737000"/>
          </a:xfrm>
          <a:prstGeom prst="roundRect">
            <a:avLst>
              <a:gd name="adj" fmla="val 7143"/>
            </a:avLst>
          </a:prstGeom>
          <a:solidFill>
            <a:srgbClr val="141e38"/>
          </a:solidFill>
          <a:ln w="12700">
            <a:solidFill>
              <a:srgbClr val="141e3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9" name="Text 3"/>
          <p:cNvSpPr/>
          <p:nvPr/>
        </p:nvSpPr>
        <p:spPr>
          <a:xfrm>
            <a:off x="457200" y="1170360"/>
            <a:ext cx="127980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000" spc="-1" strike="noStrike">
                <a:solidFill>
                  <a:srgbClr val="22e6c4"/>
                </a:solidFill>
                <a:latin typeface="Calibri"/>
              </a:rPr>
              <a:t>1</a:t>
            </a:r>
            <a:endParaRPr b="0" lang="en-US" sz="2000" spc="-1" strike="noStrike">
              <a:solidFill>
                <a:srgbClr val="ffffff"/>
              </a:solidFill>
              <a:latin typeface="Arial"/>
            </a:endParaRPr>
          </a:p>
        </p:txBody>
      </p:sp>
      <p:sp>
        <p:nvSpPr>
          <p:cNvPr id="90" name="Text 4"/>
          <p:cNvSpPr/>
          <p:nvPr/>
        </p:nvSpPr>
        <p:spPr>
          <a:xfrm>
            <a:off x="502920" y="1572840"/>
            <a:ext cx="118836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e8f1ff"/>
                </a:solidFill>
                <a:latin typeface="Calibri"/>
              </a:rPr>
              <a:t>Pull</a:t>
            </a:r>
            <a:endParaRPr b="0" lang="en-US" sz="1400" spc="-1" strike="noStrike">
              <a:solidFill>
                <a:srgbClr val="ffffff"/>
              </a:solidFill>
              <a:latin typeface="Arial"/>
            </a:endParaRPr>
          </a:p>
        </p:txBody>
      </p:sp>
      <p:sp>
        <p:nvSpPr>
          <p:cNvPr id="91" name="Text 5"/>
          <p:cNvSpPr/>
          <p:nvPr/>
        </p:nvSpPr>
        <p:spPr>
          <a:xfrm>
            <a:off x="530280" y="1965960"/>
            <a:ext cx="1133640" cy="8226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100" spc="-1" strike="noStrike">
                <a:solidFill>
                  <a:srgbClr val="8fa3c7"/>
                </a:solidFill>
                <a:latin typeface="Calibri"/>
              </a:rPr>
              <a:t>⋯ → </a:t>
            </a:r>
            <a:r>
              <a:rPr b="0" lang="en-US" sz="1100" spc="-1" strike="noStrike">
                <a:solidFill>
                  <a:srgbClr val="8fa3c7"/>
                </a:solidFill>
                <a:latin typeface="Calibri"/>
              </a:rPr>
              <a:t>Pull</a:t>
            </a:r>
            <a:endParaRPr b="0" lang="en-US" sz="1100" spc="-1" strike="noStrike">
              <a:solidFill>
                <a:srgbClr val="ffffff"/>
              </a:solidFill>
              <a:latin typeface="Arial"/>
            </a:endParaRPr>
          </a:p>
        </p:txBody>
      </p:sp>
      <p:sp>
        <p:nvSpPr>
          <p:cNvPr id="92" name="Shape 6"/>
          <p:cNvSpPr/>
          <p:nvPr/>
        </p:nvSpPr>
        <p:spPr>
          <a:xfrm>
            <a:off x="1828800" y="1097280"/>
            <a:ext cx="1279800" cy="1737000"/>
          </a:xfrm>
          <a:prstGeom prst="roundRect">
            <a:avLst>
              <a:gd name="adj" fmla="val 7143"/>
            </a:avLst>
          </a:prstGeom>
          <a:solidFill>
            <a:srgbClr val="141e38"/>
          </a:solidFill>
          <a:ln w="12700">
            <a:solidFill>
              <a:srgbClr val="141e3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3" name="Text 7"/>
          <p:cNvSpPr/>
          <p:nvPr/>
        </p:nvSpPr>
        <p:spPr>
          <a:xfrm>
            <a:off x="1828800" y="1170360"/>
            <a:ext cx="127980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000" spc="-1" strike="noStrike">
                <a:solidFill>
                  <a:srgbClr val="22e6c4"/>
                </a:solidFill>
                <a:latin typeface="Calibri"/>
              </a:rPr>
              <a:t>2</a:t>
            </a:r>
            <a:endParaRPr b="0" lang="en-US" sz="2000" spc="-1" strike="noStrike">
              <a:solidFill>
                <a:srgbClr val="ffffff"/>
              </a:solidFill>
              <a:latin typeface="Arial"/>
            </a:endParaRPr>
          </a:p>
        </p:txBody>
      </p:sp>
      <p:sp>
        <p:nvSpPr>
          <p:cNvPr id="94" name="Text 8"/>
          <p:cNvSpPr/>
          <p:nvPr/>
        </p:nvSpPr>
        <p:spPr>
          <a:xfrm>
            <a:off x="1874520" y="1572840"/>
            <a:ext cx="118836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e8f1ff"/>
                </a:solidFill>
                <a:latin typeface="Calibri"/>
              </a:rPr>
              <a:t>New branch</a:t>
            </a:r>
            <a:endParaRPr b="0" lang="en-US" sz="1400" spc="-1" strike="noStrike">
              <a:solidFill>
                <a:srgbClr val="ffffff"/>
              </a:solidFill>
              <a:latin typeface="Arial"/>
            </a:endParaRPr>
          </a:p>
        </p:txBody>
      </p:sp>
      <p:sp>
        <p:nvSpPr>
          <p:cNvPr id="95" name="Text 9"/>
          <p:cNvSpPr/>
          <p:nvPr/>
        </p:nvSpPr>
        <p:spPr>
          <a:xfrm>
            <a:off x="1901880" y="1965960"/>
            <a:ext cx="1133640" cy="8226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100" spc="-1" strike="noStrike">
                <a:solidFill>
                  <a:srgbClr val="8fa3c7"/>
                </a:solidFill>
                <a:latin typeface="Calibri"/>
              </a:rPr>
              <a:t>branch name (bottom-left) → Create new branch</a:t>
            </a:r>
            <a:endParaRPr b="0" lang="en-US" sz="1100" spc="-1" strike="noStrike">
              <a:solidFill>
                <a:srgbClr val="ffffff"/>
              </a:solidFill>
              <a:latin typeface="Arial"/>
            </a:endParaRPr>
          </a:p>
        </p:txBody>
      </p:sp>
      <p:sp>
        <p:nvSpPr>
          <p:cNvPr id="96" name="Shape 10"/>
          <p:cNvSpPr/>
          <p:nvPr/>
        </p:nvSpPr>
        <p:spPr>
          <a:xfrm>
            <a:off x="3200400" y="1097280"/>
            <a:ext cx="1279800" cy="1737000"/>
          </a:xfrm>
          <a:prstGeom prst="roundRect">
            <a:avLst>
              <a:gd name="adj" fmla="val 7143"/>
            </a:avLst>
          </a:prstGeom>
          <a:solidFill>
            <a:srgbClr val="141e38"/>
          </a:solidFill>
          <a:ln w="12700">
            <a:solidFill>
              <a:srgbClr val="22e6c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7" name="Text 11"/>
          <p:cNvSpPr/>
          <p:nvPr/>
        </p:nvSpPr>
        <p:spPr>
          <a:xfrm>
            <a:off x="3200400" y="1170360"/>
            <a:ext cx="127980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000" spc="-1" strike="noStrike">
                <a:solidFill>
                  <a:srgbClr val="22e6c4"/>
                </a:solidFill>
                <a:latin typeface="Calibri"/>
              </a:rPr>
              <a:t>3</a:t>
            </a:r>
            <a:endParaRPr b="0" lang="en-US" sz="2000" spc="-1" strike="noStrike">
              <a:solidFill>
                <a:srgbClr val="ffffff"/>
              </a:solidFill>
              <a:latin typeface="Arial"/>
            </a:endParaRPr>
          </a:p>
        </p:txBody>
      </p:sp>
      <p:sp>
        <p:nvSpPr>
          <p:cNvPr id="98" name="Text 12"/>
          <p:cNvSpPr/>
          <p:nvPr/>
        </p:nvSpPr>
        <p:spPr>
          <a:xfrm>
            <a:off x="3246120" y="1572840"/>
            <a:ext cx="118836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e8f1ff"/>
                </a:solidFill>
                <a:latin typeface="Calibri"/>
              </a:rPr>
              <a:t>Edit + test</a:t>
            </a:r>
            <a:endParaRPr b="0" lang="en-US" sz="1400" spc="-1" strike="noStrike">
              <a:solidFill>
                <a:srgbClr val="ffffff"/>
              </a:solidFill>
              <a:latin typeface="Arial"/>
            </a:endParaRPr>
          </a:p>
        </p:txBody>
      </p:sp>
      <p:sp>
        <p:nvSpPr>
          <p:cNvPr id="99" name="Text 13"/>
          <p:cNvSpPr/>
          <p:nvPr/>
        </p:nvSpPr>
        <p:spPr>
          <a:xfrm>
            <a:off x="3273480" y="1965960"/>
            <a:ext cx="1133640" cy="8226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100" spc="-1" strike="noStrike">
                <a:solidFill>
                  <a:srgbClr val="8fa3c7"/>
                </a:solidFill>
                <a:latin typeface="Calibri"/>
              </a:rPr>
              <a:t>F5 on your run file</a:t>
            </a:r>
            <a:endParaRPr b="0" lang="en-US" sz="1100" spc="-1" strike="noStrike">
              <a:solidFill>
                <a:srgbClr val="ffffff"/>
              </a:solidFill>
              <a:latin typeface="Arial"/>
            </a:endParaRPr>
          </a:p>
        </p:txBody>
      </p:sp>
      <p:sp>
        <p:nvSpPr>
          <p:cNvPr id="100" name="Shape 14"/>
          <p:cNvSpPr/>
          <p:nvPr/>
        </p:nvSpPr>
        <p:spPr>
          <a:xfrm>
            <a:off x="4572000" y="1097280"/>
            <a:ext cx="1279800" cy="1737000"/>
          </a:xfrm>
          <a:prstGeom prst="roundRect">
            <a:avLst>
              <a:gd name="adj" fmla="val 7143"/>
            </a:avLst>
          </a:prstGeom>
          <a:solidFill>
            <a:srgbClr val="141e38"/>
          </a:solidFill>
          <a:ln w="12700">
            <a:solidFill>
              <a:srgbClr val="141e3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1" name="Text 15"/>
          <p:cNvSpPr/>
          <p:nvPr/>
        </p:nvSpPr>
        <p:spPr>
          <a:xfrm>
            <a:off x="4572000" y="1170360"/>
            <a:ext cx="127980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000" spc="-1" strike="noStrike">
                <a:solidFill>
                  <a:srgbClr val="22e6c4"/>
                </a:solidFill>
                <a:latin typeface="Calibri"/>
              </a:rPr>
              <a:t>4</a:t>
            </a:r>
            <a:endParaRPr b="0" lang="en-US" sz="2000" spc="-1" strike="noStrike">
              <a:solidFill>
                <a:srgbClr val="ffffff"/>
              </a:solidFill>
              <a:latin typeface="Arial"/>
            </a:endParaRPr>
          </a:p>
        </p:txBody>
      </p:sp>
      <p:sp>
        <p:nvSpPr>
          <p:cNvPr id="102" name="Text 16"/>
          <p:cNvSpPr/>
          <p:nvPr/>
        </p:nvSpPr>
        <p:spPr>
          <a:xfrm>
            <a:off x="4617720" y="1572840"/>
            <a:ext cx="118836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e8f1ff"/>
                </a:solidFill>
                <a:latin typeface="Calibri"/>
              </a:rPr>
              <a:t>Commit</a:t>
            </a:r>
            <a:endParaRPr b="0" lang="en-US" sz="1400" spc="-1" strike="noStrike">
              <a:solidFill>
                <a:srgbClr val="ffffff"/>
              </a:solidFill>
              <a:latin typeface="Arial"/>
            </a:endParaRPr>
          </a:p>
        </p:txBody>
      </p:sp>
      <p:sp>
        <p:nvSpPr>
          <p:cNvPr id="103" name="Text 17"/>
          <p:cNvSpPr/>
          <p:nvPr/>
        </p:nvSpPr>
        <p:spPr>
          <a:xfrm>
            <a:off x="4645080" y="1965960"/>
            <a:ext cx="1133640" cy="8226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100" spc="-1" strike="noStrike">
                <a:solidFill>
                  <a:srgbClr val="8fa3c7"/>
                </a:solidFill>
                <a:latin typeface="Calibri"/>
              </a:rPr>
              <a:t>message + Commit</a:t>
            </a:r>
            <a:endParaRPr b="0" lang="en-US" sz="1100" spc="-1" strike="noStrike">
              <a:solidFill>
                <a:srgbClr val="ffffff"/>
              </a:solidFill>
              <a:latin typeface="Arial"/>
            </a:endParaRPr>
          </a:p>
        </p:txBody>
      </p:sp>
      <p:sp>
        <p:nvSpPr>
          <p:cNvPr id="104" name="Shape 18"/>
          <p:cNvSpPr/>
          <p:nvPr/>
        </p:nvSpPr>
        <p:spPr>
          <a:xfrm>
            <a:off x="5943600" y="1097280"/>
            <a:ext cx="1279800" cy="1737000"/>
          </a:xfrm>
          <a:prstGeom prst="roundRect">
            <a:avLst>
              <a:gd name="adj" fmla="val 7143"/>
            </a:avLst>
          </a:prstGeom>
          <a:solidFill>
            <a:srgbClr val="141e38"/>
          </a:solidFill>
          <a:ln w="12700">
            <a:solidFill>
              <a:srgbClr val="141e3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5" name="Text 19"/>
          <p:cNvSpPr/>
          <p:nvPr/>
        </p:nvSpPr>
        <p:spPr>
          <a:xfrm>
            <a:off x="5943600" y="1170360"/>
            <a:ext cx="127980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000" spc="-1" strike="noStrike">
                <a:solidFill>
                  <a:srgbClr val="22e6c4"/>
                </a:solidFill>
                <a:latin typeface="Calibri"/>
              </a:rPr>
              <a:t>5</a:t>
            </a:r>
            <a:endParaRPr b="0" lang="en-US" sz="2000" spc="-1" strike="noStrike">
              <a:solidFill>
                <a:srgbClr val="ffffff"/>
              </a:solidFill>
              <a:latin typeface="Arial"/>
            </a:endParaRPr>
          </a:p>
        </p:txBody>
      </p:sp>
      <p:sp>
        <p:nvSpPr>
          <p:cNvPr id="106" name="Text 20"/>
          <p:cNvSpPr/>
          <p:nvPr/>
        </p:nvSpPr>
        <p:spPr>
          <a:xfrm>
            <a:off x="5989320" y="1572840"/>
            <a:ext cx="118836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e8f1ff"/>
                </a:solidFill>
                <a:latin typeface="Calibri"/>
              </a:rPr>
              <a:t>Push</a:t>
            </a:r>
            <a:endParaRPr b="0" lang="en-US" sz="1400" spc="-1" strike="noStrike">
              <a:solidFill>
                <a:srgbClr val="ffffff"/>
              </a:solidFill>
              <a:latin typeface="Arial"/>
            </a:endParaRPr>
          </a:p>
        </p:txBody>
      </p:sp>
      <p:sp>
        <p:nvSpPr>
          <p:cNvPr id="107" name="Text 21"/>
          <p:cNvSpPr/>
          <p:nvPr/>
        </p:nvSpPr>
        <p:spPr>
          <a:xfrm>
            <a:off x="6016680" y="1965960"/>
            <a:ext cx="1133640" cy="8226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100" spc="-1" strike="noStrike">
                <a:solidFill>
                  <a:srgbClr val="8fa3c7"/>
                </a:solidFill>
                <a:latin typeface="Calibri"/>
              </a:rPr>
              <a:t>Publish Branch / Sync</a:t>
            </a:r>
            <a:endParaRPr b="0" lang="en-US" sz="1100" spc="-1" strike="noStrike">
              <a:solidFill>
                <a:srgbClr val="ffffff"/>
              </a:solidFill>
              <a:latin typeface="Arial"/>
            </a:endParaRPr>
          </a:p>
        </p:txBody>
      </p:sp>
      <p:sp>
        <p:nvSpPr>
          <p:cNvPr id="108" name="Shape 22"/>
          <p:cNvSpPr/>
          <p:nvPr/>
        </p:nvSpPr>
        <p:spPr>
          <a:xfrm>
            <a:off x="7315200" y="1097280"/>
            <a:ext cx="1279800" cy="1737000"/>
          </a:xfrm>
          <a:prstGeom prst="roundRect">
            <a:avLst>
              <a:gd name="adj" fmla="val 7143"/>
            </a:avLst>
          </a:prstGeom>
          <a:solidFill>
            <a:srgbClr val="141e38"/>
          </a:solidFill>
          <a:ln w="12700">
            <a:solidFill>
              <a:srgbClr val="141e3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9" name="Text 23"/>
          <p:cNvSpPr/>
          <p:nvPr/>
        </p:nvSpPr>
        <p:spPr>
          <a:xfrm>
            <a:off x="7315200" y="1170360"/>
            <a:ext cx="127980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000" spc="-1" strike="noStrike">
                <a:solidFill>
                  <a:srgbClr val="22e6c4"/>
                </a:solidFill>
                <a:latin typeface="Calibri"/>
              </a:rPr>
              <a:t>6</a:t>
            </a:r>
            <a:endParaRPr b="0" lang="en-US" sz="2000" spc="-1" strike="noStrike">
              <a:solidFill>
                <a:srgbClr val="ffffff"/>
              </a:solidFill>
              <a:latin typeface="Arial"/>
            </a:endParaRPr>
          </a:p>
        </p:txBody>
      </p:sp>
      <p:sp>
        <p:nvSpPr>
          <p:cNvPr id="110" name="Text 24"/>
          <p:cNvSpPr/>
          <p:nvPr/>
        </p:nvSpPr>
        <p:spPr>
          <a:xfrm>
            <a:off x="7360920" y="1572840"/>
            <a:ext cx="118836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e8f1ff"/>
                </a:solidFill>
                <a:latin typeface="Calibri"/>
              </a:rPr>
              <a:t>Pull Request</a:t>
            </a:r>
            <a:endParaRPr b="0" lang="en-US" sz="1400" spc="-1" strike="noStrike">
              <a:solidFill>
                <a:srgbClr val="ffffff"/>
              </a:solidFill>
              <a:latin typeface="Arial"/>
            </a:endParaRPr>
          </a:p>
        </p:txBody>
      </p:sp>
      <p:sp>
        <p:nvSpPr>
          <p:cNvPr id="111" name="Text 25"/>
          <p:cNvSpPr/>
          <p:nvPr/>
        </p:nvSpPr>
        <p:spPr>
          <a:xfrm>
            <a:off x="7388280" y="1965960"/>
            <a:ext cx="1133640" cy="8226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100" spc="-1" strike="noStrike">
                <a:solidFill>
                  <a:srgbClr val="8fa3c7"/>
                </a:solidFill>
                <a:latin typeface="Calibri"/>
              </a:rPr>
              <a:t>GitHub: merge into main</a:t>
            </a:r>
            <a:endParaRPr b="0" lang="en-US" sz="1100" spc="-1" strike="noStrike">
              <a:solidFill>
                <a:srgbClr val="ffffff"/>
              </a:solidFill>
              <a:latin typeface="Arial"/>
            </a:endParaRPr>
          </a:p>
        </p:txBody>
      </p:sp>
      <p:sp>
        <p:nvSpPr>
          <p:cNvPr id="112" name="Shape 26"/>
          <p:cNvSpPr/>
          <p:nvPr/>
        </p:nvSpPr>
        <p:spPr>
          <a:xfrm>
            <a:off x="457200" y="3154680"/>
            <a:ext cx="8229240" cy="1279800"/>
          </a:xfrm>
          <a:prstGeom prst="roundRect">
            <a:avLst>
              <a:gd name="adj" fmla="val 7143"/>
            </a:avLst>
          </a:prstGeom>
          <a:solidFill>
            <a:srgbClr val="2a2210"/>
          </a:solidFill>
          <a:ln w="15875">
            <a:solidFill>
              <a:srgbClr val="ffc857"/>
            </a:solidFill>
            <a:prstDash val="dash"/>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3" name="Text 27"/>
          <p:cNvSpPr/>
          <p:nvPr/>
        </p:nvSpPr>
        <p:spPr>
          <a:xfrm>
            <a:off x="594360" y="3218760"/>
            <a:ext cx="7954920" cy="1151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c857"/>
                </a:solidFill>
                <a:latin typeface="Calibri"/>
                <a:ea typeface="Calibri"/>
              </a:rPr>
              <a:t>✎ </a:t>
            </a:r>
            <a:r>
              <a:rPr b="1" lang="en-US" sz="1300" spc="-1" strike="noStrike">
                <a:solidFill>
                  <a:srgbClr val="ffc857"/>
                </a:solidFill>
                <a:latin typeface="Calibri"/>
                <a:ea typeface="Calibri"/>
              </a:rPr>
              <a:t>Ethan, fill this in:  </a:t>
            </a:r>
            <a:r>
              <a:rPr b="0" lang="en-US" sz="1300" spc="-1" strike="noStrike">
                <a:solidFill>
                  <a:srgbClr val="e8f1ff"/>
                </a:solidFill>
                <a:latin typeface="Calibri"/>
                <a:ea typeface="Calibri"/>
              </a:rPr>
              <a:t>Why do we work on a branch instead of main? Who reviews the Pull Request, and who clicks Merge?</a:t>
            </a:r>
            <a:endParaRPr b="0" lang="en-US" sz="1300" spc="-1" strike="noStrike">
              <a:solidFill>
                <a:srgbClr val="ffffff"/>
              </a:solidFill>
              <a:latin typeface="Arial"/>
            </a:endParaRPr>
          </a:p>
        </p:txBody>
      </p:sp>
      <p:sp>
        <p:nvSpPr>
          <p:cNvPr id="114" name="PlaceHolder 1"/>
          <p:cNvSpPr>
            <a:spLocks noGrp="1"/>
          </p:cNvSpPr>
          <p:nvPr>
            <p:ph type="sldNum" idx="9"/>
          </p:nvPr>
        </p:nvSpPr>
        <p:spPr>
          <a:xfrm>
            <a:off x="8321040" y="4754880"/>
            <a:ext cx="456840" cy="388440"/>
          </a:xfrm>
          <a:prstGeom prst="rect">
            <a:avLst/>
          </a:prstGeom>
          <a:noFill/>
          <a:ln w="0">
            <a:noFill/>
          </a:ln>
        </p:spPr>
        <p:txBody>
          <a:bodyPr lIns="90000" rIns="90000" tIns="45000" bIns="45000" anchor="t">
            <a:noAutofit/>
          </a:bodyPr>
          <a:lstStyle>
            <a:lvl1pPr indent="0" algn="r" defTabSz="914400">
              <a:lnSpc>
                <a:spcPct val="100000"/>
              </a:lnSpc>
              <a:buNone/>
              <a:defRPr b="0" lang="en-US" sz="1000" spc="-1" strike="noStrike">
                <a:solidFill>
                  <a:srgbClr val="8fa3c7"/>
                </a:solidFill>
                <a:latin typeface="Calibri"/>
                <a:ea typeface="Calibri"/>
              </a:defRPr>
            </a:lvl1pPr>
          </a:lstStyle>
          <a:p>
            <a:pPr indent="0" algn="r" defTabSz="914400">
              <a:lnSpc>
                <a:spcPct val="100000"/>
              </a:lnSpc>
              <a:buNone/>
            </a:pPr>
            <a:fld id="{11D2EEDD-FACA-4BB7-B731-0E0DFC0C4277}" type="slidenum">
              <a:rPr b="0" lang="en-US" sz="1000" spc="-1" strike="noStrike">
                <a:solidFill>
                  <a:srgbClr val="8fa3c7"/>
                </a:solidFill>
                <a:latin typeface="Calibri"/>
                <a:ea typeface="Calibri"/>
              </a:rPr>
              <a:t>&lt;number&gt;</a:t>
            </a:fld>
            <a:endParaRPr b="0" lang="en-US" sz="10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Text 0"/>
          <p:cNvSpPr/>
          <p:nvPr/>
        </p:nvSpPr>
        <p:spPr>
          <a:xfrm>
            <a:off x="457200" y="274320"/>
            <a:ext cx="69490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e8f1ff"/>
                </a:solidFill>
                <a:latin typeface="Cambria"/>
                <a:ea typeface="Cambria"/>
              </a:rPr>
              <a:t>Organize the code for each run</a:t>
            </a:r>
            <a:endParaRPr b="0" lang="en-US" sz="2800" spc="-1" strike="noStrike">
              <a:solidFill>
                <a:srgbClr val="ffffff"/>
              </a:solidFill>
              <a:latin typeface="Arial"/>
            </a:endParaRPr>
          </a:p>
        </p:txBody>
      </p:sp>
      <p:sp>
        <p:nvSpPr>
          <p:cNvPr id="116" name="Text 1"/>
          <p:cNvSpPr/>
          <p:nvPr/>
        </p:nvSpPr>
        <p:spPr>
          <a:xfrm>
            <a:off x="7498080" y="347400"/>
            <a:ext cx="1188360" cy="310680"/>
          </a:xfrm>
          <a:prstGeom prst="roundRect">
            <a:avLst>
              <a:gd name="adj" fmla="val 50000"/>
            </a:avLst>
          </a:prstGeom>
          <a:solidFill>
            <a:srgbClr val="ffc857"/>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0a1020"/>
                </a:solidFill>
                <a:latin typeface="Calibri"/>
              </a:rPr>
              <a:t>Braxton</a:t>
            </a:r>
            <a:endParaRPr b="0" lang="en-US" sz="1100" spc="-1" strike="noStrike">
              <a:solidFill>
                <a:srgbClr val="000000"/>
              </a:solidFill>
              <a:latin typeface="Arial"/>
            </a:endParaRPr>
          </a:p>
        </p:txBody>
      </p:sp>
      <p:sp>
        <p:nvSpPr>
          <p:cNvPr id="117" name="Text 2"/>
          <p:cNvSpPr/>
          <p:nvPr/>
        </p:nvSpPr>
        <p:spPr>
          <a:xfrm>
            <a:off x="457200" y="1051560"/>
            <a:ext cx="3657240" cy="201132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0000"/>
              </a:lnSpc>
              <a:spcAft>
                <a:spcPts val="601"/>
              </a:spcAft>
              <a:buClr>
                <a:srgbClr val="e8f1ff"/>
              </a:buClr>
              <a:buFont typeface="Symbol" charset="2"/>
              <a:buChar char=""/>
            </a:pPr>
            <a:r>
              <a:rPr b="0" lang="en-US" sz="1400" spc="-1" strike="noStrike">
                <a:solidFill>
                  <a:srgbClr val="e8f1ff"/>
                </a:solidFill>
                <a:latin typeface="Calibri"/>
                <a:ea typeface="Calibri"/>
              </a:rPr>
              <a:t>One file per run, one run function inside</a:t>
            </a:r>
            <a:endParaRPr b="0" lang="en-US" sz="1400" spc="-1" strike="noStrike">
              <a:solidFill>
                <a:srgbClr val="ffffff"/>
              </a:solidFill>
              <a:latin typeface="Arial"/>
            </a:endParaRPr>
          </a:p>
          <a:p>
            <a:pPr marL="343080" indent="-343080" defTabSz="914400">
              <a:lnSpc>
                <a:spcPct val="100000"/>
              </a:lnSpc>
              <a:spcAft>
                <a:spcPts val="601"/>
              </a:spcAft>
              <a:buClr>
                <a:srgbClr val="e8f1ff"/>
              </a:buClr>
              <a:buFont typeface="Symbol" charset="2"/>
              <a:buChar char=""/>
            </a:pPr>
            <a:r>
              <a:rPr b="0" lang="en-US" sz="1400" spc="-1" strike="noStrike">
                <a:solidFill>
                  <a:srgbClr val="e8f1ff"/>
                </a:solidFill>
                <a:latin typeface="Calibri"/>
                <a:ea typeface="Calibri"/>
              </a:rPr>
              <a:t>Small functions for each attachment move</a:t>
            </a:r>
            <a:endParaRPr b="0" lang="en-US" sz="1400" spc="-1" strike="noStrike">
              <a:solidFill>
                <a:srgbClr val="ffffff"/>
              </a:solidFill>
              <a:latin typeface="Arial"/>
            </a:endParaRPr>
          </a:p>
          <a:p>
            <a:pPr marL="343080" indent="-343080" defTabSz="914400">
              <a:lnSpc>
                <a:spcPct val="100000"/>
              </a:lnSpc>
              <a:spcAft>
                <a:spcPts val="601"/>
              </a:spcAft>
              <a:buClr>
                <a:srgbClr val="e8f1ff"/>
              </a:buClr>
              <a:buFont typeface="Symbol" charset="2"/>
              <a:buChar char=""/>
            </a:pPr>
            <a:r>
              <a:rPr b="0" lang="en-US" sz="1400" spc="-1" strike="noStrike">
                <a:solidFill>
                  <a:srgbClr val="e8f1ff"/>
                </a:solidFill>
                <a:latin typeface="Calibri"/>
                <a:ea typeface="Calibri"/>
              </a:rPr>
              <a:t>Driving path reads like a story, top to bottom</a:t>
            </a:r>
            <a:endParaRPr b="0" lang="en-US" sz="1400" spc="-1" strike="noStrike">
              <a:solidFill>
                <a:srgbClr val="ffffff"/>
              </a:solidFill>
              <a:latin typeface="Arial"/>
            </a:endParaRPr>
          </a:p>
          <a:p>
            <a:pPr marL="343080" indent="-343080" defTabSz="914400">
              <a:lnSpc>
                <a:spcPct val="100000"/>
              </a:lnSpc>
              <a:spcAft>
                <a:spcPts val="601"/>
              </a:spcAft>
              <a:buClr>
                <a:srgbClr val="e8f1ff"/>
              </a:buClr>
              <a:buFont typeface="Symbol" charset="2"/>
              <a:buChar char=""/>
            </a:pPr>
            <a:r>
              <a:rPr b="0" lang="en-US" sz="1400" spc="-1" strike="noStrike">
                <a:solidFill>
                  <a:srgbClr val="e8f1ff"/>
                </a:solidFill>
                <a:latin typeface="Calibri"/>
                <a:ea typeface="Calibri"/>
              </a:rPr>
              <a:t>Runs on its own: open the file, press F5</a:t>
            </a:r>
            <a:endParaRPr b="0" lang="en-US" sz="1400" spc="-1" strike="noStrike">
              <a:solidFill>
                <a:srgbClr val="ffffff"/>
              </a:solidFill>
              <a:latin typeface="Arial"/>
            </a:endParaRPr>
          </a:p>
        </p:txBody>
      </p:sp>
      <p:sp>
        <p:nvSpPr>
          <p:cNvPr id="118" name="Shape 3"/>
          <p:cNvSpPr/>
          <p:nvPr/>
        </p:nvSpPr>
        <p:spPr>
          <a:xfrm>
            <a:off x="4297680" y="1005840"/>
            <a:ext cx="4388760" cy="2468520"/>
          </a:xfrm>
          <a:prstGeom prst="roundRect">
            <a:avLst>
              <a:gd name="adj" fmla="val 2963"/>
            </a:avLst>
          </a:prstGeom>
          <a:solidFill>
            <a:srgbClr val="050a16"/>
          </a:solidFill>
          <a:ln w="12700">
            <a:solidFill>
              <a:srgbClr val="22304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9" name="Text 4"/>
          <p:cNvSpPr/>
          <p:nvPr/>
        </p:nvSpPr>
        <p:spPr>
          <a:xfrm>
            <a:off x="4407480" y="1078920"/>
            <a:ext cx="4169160" cy="23223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00" spc="-1" strike="noStrike">
                <a:solidFill>
                  <a:srgbClr val="bffbef"/>
                </a:solidFill>
                <a:latin typeface="Courier New"/>
                <a:ea typeface="Courier New"/>
              </a:rPr>
              <a:t>from pybricks.tools import run_task</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from robot_config import DRIVE_BASE, LEFT_ATTACHMENT</a:t>
            </a:r>
            <a:endParaRPr b="0" lang="en-US" sz="1100" spc="-1" strike="noStrike">
              <a:solidFill>
                <a:srgbClr val="ffffff"/>
              </a:solidFill>
              <a:latin typeface="Arial"/>
            </a:endParaRPr>
          </a:p>
          <a:p>
            <a:pPr defTabSz="914400">
              <a:lnSpc>
                <a:spcPct val="100000"/>
              </a:lnSpc>
              <a:tabLst>
                <a:tab algn="l" pos="0"/>
              </a:tabLst>
            </a:pP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async def lift_arm_up():</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    </a:t>
            </a:r>
            <a:r>
              <a:rPr b="0" lang="en-US" sz="1100" spc="-1" strike="noStrike">
                <a:solidFill>
                  <a:srgbClr val="bffbef"/>
                </a:solidFill>
                <a:latin typeface="Courier New"/>
                <a:ea typeface="Courier New"/>
              </a:rPr>
              <a:t>await LEFT_ATTACHMENT.run_angle(720, -90)</a:t>
            </a:r>
            <a:endParaRPr b="0" lang="en-US" sz="1100" spc="-1" strike="noStrike">
              <a:solidFill>
                <a:srgbClr val="ffffff"/>
              </a:solidFill>
              <a:latin typeface="Arial"/>
            </a:endParaRPr>
          </a:p>
          <a:p>
            <a:pPr defTabSz="914400">
              <a:lnSpc>
                <a:spcPct val="100000"/>
              </a:lnSpc>
              <a:tabLst>
                <a:tab algn="l" pos="0"/>
              </a:tabLst>
            </a:pP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async def run3():</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    </a:t>
            </a:r>
            <a:r>
              <a:rPr b="0" lang="en-US" sz="1100" spc="-1" strike="noStrike">
                <a:solidFill>
                  <a:srgbClr val="bffbef"/>
                </a:solidFill>
                <a:latin typeface="Courier New"/>
                <a:ea typeface="Courier New"/>
              </a:rPr>
              <a:t>await DRIVE_BASE.straight(300)</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    </a:t>
            </a:r>
            <a:r>
              <a:rPr b="0" lang="en-US" sz="1100" spc="-1" strike="noStrike">
                <a:solidFill>
                  <a:srgbClr val="bffbef"/>
                </a:solidFill>
                <a:latin typeface="Courier New"/>
                <a:ea typeface="Courier New"/>
              </a:rPr>
              <a:t>await lift_arm_up()</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    </a:t>
            </a:r>
            <a:r>
              <a:rPr b="0" lang="en-US" sz="1100" spc="-1" strike="noStrike">
                <a:solidFill>
                  <a:srgbClr val="bffbef"/>
                </a:solidFill>
                <a:latin typeface="Courier New"/>
                <a:ea typeface="Courier New"/>
              </a:rPr>
              <a:t>await DRIVE_BASE.turn(-45)</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    </a:t>
            </a:r>
            <a:r>
              <a:rPr b="0" lang="en-US" sz="1100" spc="-1" strike="noStrike">
                <a:solidFill>
                  <a:srgbClr val="bffbef"/>
                </a:solidFill>
                <a:latin typeface="Courier New"/>
                <a:ea typeface="Courier New"/>
              </a:rPr>
              <a:t>await DRIVE_BASE.straight(-300)</a:t>
            </a:r>
            <a:endParaRPr b="0" lang="en-US" sz="1100" spc="-1" strike="noStrike">
              <a:solidFill>
                <a:srgbClr val="ffffff"/>
              </a:solidFill>
              <a:latin typeface="Arial"/>
            </a:endParaRPr>
          </a:p>
          <a:p>
            <a:pPr defTabSz="914400">
              <a:lnSpc>
                <a:spcPct val="100000"/>
              </a:lnSpc>
              <a:tabLst>
                <a:tab algn="l" pos="0"/>
              </a:tabLst>
            </a:pP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if __name__ == "__main__":</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    </a:t>
            </a:r>
            <a:r>
              <a:rPr b="0" lang="en-US" sz="1100" spc="-1" strike="noStrike">
                <a:solidFill>
                  <a:srgbClr val="bffbef"/>
                </a:solidFill>
                <a:latin typeface="Courier New"/>
                <a:ea typeface="Courier New"/>
              </a:rPr>
              <a:t>run_task(run3())</a:t>
            </a:r>
            <a:endParaRPr b="0" lang="en-US" sz="1100" spc="-1" strike="noStrike">
              <a:solidFill>
                <a:srgbClr val="ffffff"/>
              </a:solidFill>
              <a:latin typeface="Arial"/>
            </a:endParaRPr>
          </a:p>
        </p:txBody>
      </p:sp>
      <p:sp>
        <p:nvSpPr>
          <p:cNvPr id="120" name="Shape 5"/>
          <p:cNvSpPr/>
          <p:nvPr/>
        </p:nvSpPr>
        <p:spPr>
          <a:xfrm>
            <a:off x="457200" y="3611880"/>
            <a:ext cx="8229240" cy="959760"/>
          </a:xfrm>
          <a:prstGeom prst="roundRect">
            <a:avLst>
              <a:gd name="adj" fmla="val 9524"/>
            </a:avLst>
          </a:prstGeom>
          <a:solidFill>
            <a:srgbClr val="2a2210"/>
          </a:solidFill>
          <a:ln w="15875">
            <a:solidFill>
              <a:srgbClr val="ffc857"/>
            </a:solidFill>
            <a:prstDash val="dash"/>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1" name="Text 6"/>
          <p:cNvSpPr/>
          <p:nvPr/>
        </p:nvSpPr>
        <p:spPr>
          <a:xfrm>
            <a:off x="594360" y="3675960"/>
            <a:ext cx="7954920" cy="831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c857"/>
                </a:solidFill>
                <a:latin typeface="Calibri"/>
                <a:ea typeface="Calibri"/>
              </a:rPr>
              <a:t>✎ </a:t>
            </a:r>
            <a:r>
              <a:rPr b="1" lang="en-US" sz="1300" spc="-1" strike="noStrike">
                <a:solidFill>
                  <a:srgbClr val="ffc857"/>
                </a:solidFill>
                <a:latin typeface="Calibri"/>
                <a:ea typeface="Calibri"/>
              </a:rPr>
              <a:t>Braxton, fill this in:  </a:t>
            </a:r>
            <a:r>
              <a:rPr b="0" lang="en-US" sz="1300" spc="-1" strike="noStrike">
                <a:solidFill>
                  <a:srgbClr val="e8f1ff"/>
                </a:solidFill>
                <a:latin typeface="Calibri"/>
                <a:ea typeface="Calibri"/>
              </a:rPr>
              <a:t>Show one of your real runs. Which part is the attachment function and which part is the driving path? Where do you keep distances and angles so they are easy to tune?</a:t>
            </a:r>
            <a:endParaRPr b="0" lang="en-US" sz="1300" spc="-1" strike="noStrike">
              <a:solidFill>
                <a:srgbClr val="ffffff"/>
              </a:solidFill>
              <a:latin typeface="Arial"/>
            </a:endParaRPr>
          </a:p>
        </p:txBody>
      </p:sp>
      <p:sp>
        <p:nvSpPr>
          <p:cNvPr id="122" name="PlaceHolder 1"/>
          <p:cNvSpPr>
            <a:spLocks noGrp="1"/>
          </p:cNvSpPr>
          <p:nvPr>
            <p:ph type="sldNum" idx="10"/>
          </p:nvPr>
        </p:nvSpPr>
        <p:spPr>
          <a:xfrm>
            <a:off x="8321040" y="4754880"/>
            <a:ext cx="456840" cy="388440"/>
          </a:xfrm>
          <a:prstGeom prst="rect">
            <a:avLst/>
          </a:prstGeom>
          <a:noFill/>
          <a:ln w="0">
            <a:noFill/>
          </a:ln>
        </p:spPr>
        <p:txBody>
          <a:bodyPr lIns="90000" rIns="90000" tIns="45000" bIns="45000" anchor="t">
            <a:noAutofit/>
          </a:bodyPr>
          <a:lstStyle>
            <a:lvl1pPr indent="0" algn="r" defTabSz="914400">
              <a:lnSpc>
                <a:spcPct val="100000"/>
              </a:lnSpc>
              <a:buNone/>
              <a:defRPr b="0" lang="en-US" sz="1000" spc="-1" strike="noStrike">
                <a:solidFill>
                  <a:srgbClr val="8fa3c7"/>
                </a:solidFill>
                <a:latin typeface="Calibri"/>
                <a:ea typeface="Calibri"/>
              </a:defRPr>
            </a:lvl1pPr>
          </a:lstStyle>
          <a:p>
            <a:pPr indent="0" algn="r" defTabSz="914400">
              <a:lnSpc>
                <a:spcPct val="100000"/>
              </a:lnSpc>
              <a:buNone/>
            </a:pPr>
            <a:fld id="{32BB9E29-F810-45B1-8EF7-03010E1591EA}" type="slidenum">
              <a:rPr b="0" lang="en-US" sz="1000" spc="-1" strike="noStrike">
                <a:solidFill>
                  <a:srgbClr val="8fa3c7"/>
                </a:solidFill>
                <a:latin typeface="Calibri"/>
                <a:ea typeface="Calibri"/>
              </a:rPr>
              <a:t>&lt;number&gt;</a:t>
            </a:fld>
            <a:endParaRPr b="0" lang="en-US" sz="10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Text 0"/>
          <p:cNvSpPr/>
          <p:nvPr/>
        </p:nvSpPr>
        <p:spPr>
          <a:xfrm>
            <a:off x="457200" y="274320"/>
            <a:ext cx="69490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e8f1ff"/>
                </a:solidFill>
                <a:latin typeface="Cambria"/>
                <a:ea typeface="Cambria"/>
              </a:rPr>
              <a:t>Name runs so anyone can find them</a:t>
            </a:r>
            <a:endParaRPr b="0" lang="en-US" sz="2800" spc="-1" strike="noStrike">
              <a:solidFill>
                <a:srgbClr val="ffffff"/>
              </a:solidFill>
              <a:latin typeface="Arial"/>
            </a:endParaRPr>
          </a:p>
        </p:txBody>
      </p:sp>
      <p:sp>
        <p:nvSpPr>
          <p:cNvPr id="124" name="Text 1"/>
          <p:cNvSpPr/>
          <p:nvPr/>
        </p:nvSpPr>
        <p:spPr>
          <a:xfrm>
            <a:off x="7498080" y="347400"/>
            <a:ext cx="1188360" cy="310680"/>
          </a:xfrm>
          <a:prstGeom prst="roundRect">
            <a:avLst>
              <a:gd name="adj" fmla="val 50000"/>
            </a:avLst>
          </a:prstGeom>
          <a:solidFill>
            <a:srgbClr val="ffc857"/>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0a1020"/>
                </a:solidFill>
                <a:latin typeface="Calibri"/>
              </a:rPr>
              <a:t>Braxton</a:t>
            </a:r>
            <a:endParaRPr b="0" lang="en-US" sz="1100" spc="-1" strike="noStrike">
              <a:solidFill>
                <a:srgbClr val="000000"/>
              </a:solidFill>
              <a:latin typeface="Arial"/>
            </a:endParaRPr>
          </a:p>
        </p:txBody>
      </p:sp>
      <p:graphicFrame>
        <p:nvGraphicFramePr>
          <p:cNvPr id="125" name="Table 0"/>
          <p:cNvGraphicFramePr/>
          <p:nvPr/>
        </p:nvGraphicFramePr>
        <p:xfrm>
          <a:off x="457200" y="1005840"/>
          <a:ext cx="8229240" cy="1828800"/>
        </p:xfrm>
        <a:graphic>
          <a:graphicData uri="http://schemas.openxmlformats.org/drawingml/2006/table">
            <a:tbl>
              <a:tblPr/>
              <a:tblGrid>
                <a:gridCol w="2011680"/>
                <a:gridCol w="3108960"/>
                <a:gridCol w="3108960"/>
              </a:tblGrid>
              <a:tr h="365760">
                <a:tc>
                  <a:txBody>
                    <a:bodyPr tIns="0" bIns="0" anchor="ctr">
                      <a:noAutofit/>
                    </a:bodyPr>
                    <a:p>
                      <a:pPr defTabSz="914400">
                        <a:lnSpc>
                          <a:spcPct val="100000"/>
                        </a:lnSpc>
                        <a:tabLst>
                          <a:tab algn="l" pos="0"/>
                        </a:tabLst>
                      </a:pPr>
                      <a:r>
                        <a:rPr b="1" lang="en-US" sz="1300" spc="-1" strike="noStrike">
                          <a:solidFill>
                            <a:srgbClr val="8fa3c7"/>
                          </a:solidFill>
                          <a:latin typeface="Calibri"/>
                        </a:rPr>
                        <a:t>Thing</a:t>
                      </a:r>
                      <a:endParaRPr b="0" lang="en-US" sz="1300" spc="-1" strike="noStrike">
                        <a:solidFill>
                          <a:srgbClr val="ffffff"/>
                        </a:solidFill>
                        <a:latin typeface="Arial"/>
                      </a:endParaRPr>
                    </a:p>
                  </a:txBody>
                  <a:tcPr anchor="ctr" marL="91440" marR="91440">
                    <a:lnL w="25200">
                      <a:solidFill>
                        <a:srgbClr val="0a1020"/>
                      </a:solidFill>
                      <a:prstDash val="solid"/>
                    </a:lnL>
                    <a:lnR w="25200">
                      <a:solidFill>
                        <a:srgbClr val="0a1020"/>
                      </a:solidFill>
                      <a:prstDash val="solid"/>
                    </a:lnR>
                    <a:lnT w="25200">
                      <a:solidFill>
                        <a:srgbClr val="0a1020"/>
                      </a:solidFill>
                      <a:prstDash val="solid"/>
                    </a:lnT>
                    <a:lnB w="25200">
                      <a:solidFill>
                        <a:srgbClr val="0a1020"/>
                      </a:solidFill>
                      <a:prstDash val="solid"/>
                    </a:lnB>
                    <a:solidFill>
                      <a:srgbClr val="141e38"/>
                    </a:solidFill>
                  </a:tcPr>
                </a:tc>
                <a:tc>
                  <a:txBody>
                    <a:bodyPr tIns="0" bIns="0" anchor="ctr">
                      <a:noAutofit/>
                    </a:bodyPr>
                    <a:p>
                      <a:pPr defTabSz="914400">
                        <a:lnSpc>
                          <a:spcPct val="100000"/>
                        </a:lnSpc>
                        <a:tabLst>
                          <a:tab algn="l" pos="0"/>
                        </a:tabLst>
                      </a:pPr>
                      <a:r>
                        <a:rPr b="1" lang="en-US" sz="1300" spc="-1" strike="noStrike">
                          <a:solidFill>
                            <a:srgbClr val="22e6c4"/>
                          </a:solidFill>
                          <a:latin typeface="Calibri"/>
                        </a:rPr>
                        <a:t>Good</a:t>
                      </a:r>
                      <a:endParaRPr b="0" lang="en-US" sz="1300" spc="-1" strike="noStrike">
                        <a:solidFill>
                          <a:srgbClr val="ffffff"/>
                        </a:solidFill>
                        <a:latin typeface="Arial"/>
                      </a:endParaRPr>
                    </a:p>
                  </a:txBody>
                  <a:tcPr anchor="ctr" marL="91440" marR="91440">
                    <a:lnL w="25200">
                      <a:solidFill>
                        <a:srgbClr val="0a1020"/>
                      </a:solidFill>
                      <a:prstDash val="solid"/>
                    </a:lnL>
                    <a:lnR w="25200">
                      <a:solidFill>
                        <a:srgbClr val="0a1020"/>
                      </a:solidFill>
                      <a:prstDash val="solid"/>
                    </a:lnR>
                    <a:lnT w="25200">
                      <a:solidFill>
                        <a:srgbClr val="0a1020"/>
                      </a:solidFill>
                      <a:prstDash val="solid"/>
                    </a:lnT>
                    <a:lnB w="25200">
                      <a:solidFill>
                        <a:srgbClr val="0a1020"/>
                      </a:solidFill>
                      <a:prstDash val="solid"/>
                    </a:lnB>
                    <a:solidFill>
                      <a:srgbClr val="141e38"/>
                    </a:solidFill>
                  </a:tcPr>
                </a:tc>
                <a:tc>
                  <a:txBody>
                    <a:bodyPr tIns="0" bIns="0" anchor="ctr">
                      <a:noAutofit/>
                    </a:bodyPr>
                    <a:p>
                      <a:pPr defTabSz="914400">
                        <a:lnSpc>
                          <a:spcPct val="100000"/>
                        </a:lnSpc>
                        <a:tabLst>
                          <a:tab algn="l" pos="0"/>
                        </a:tabLst>
                      </a:pPr>
                      <a:r>
                        <a:rPr b="1" lang="en-US" sz="1300" spc="-1" strike="noStrike">
                          <a:solidFill>
                            <a:srgbClr val="ff5c8a"/>
                          </a:solidFill>
                          <a:latin typeface="Calibri"/>
                        </a:rPr>
                        <a:t>Avoid</a:t>
                      </a:r>
                      <a:endParaRPr b="0" lang="en-US" sz="1300" spc="-1" strike="noStrike">
                        <a:solidFill>
                          <a:srgbClr val="ffffff"/>
                        </a:solidFill>
                        <a:latin typeface="Arial"/>
                      </a:endParaRPr>
                    </a:p>
                  </a:txBody>
                  <a:tcPr anchor="ctr" marL="91440" marR="91440">
                    <a:lnL w="25200">
                      <a:solidFill>
                        <a:srgbClr val="0a1020"/>
                      </a:solidFill>
                      <a:prstDash val="solid"/>
                    </a:lnL>
                    <a:lnR w="25200">
                      <a:solidFill>
                        <a:srgbClr val="0a1020"/>
                      </a:solidFill>
                      <a:prstDash val="solid"/>
                    </a:lnR>
                    <a:lnT w="25200">
                      <a:solidFill>
                        <a:srgbClr val="0a1020"/>
                      </a:solidFill>
                      <a:prstDash val="solid"/>
                    </a:lnT>
                    <a:lnB w="25200">
                      <a:solidFill>
                        <a:srgbClr val="0a1020"/>
                      </a:solidFill>
                      <a:prstDash val="solid"/>
                    </a:lnB>
                    <a:solidFill>
                      <a:srgbClr val="141e38"/>
                    </a:solidFill>
                  </a:tcPr>
                </a:tc>
              </a:tr>
              <a:tr h="365760">
                <a:tc>
                  <a:txBody>
                    <a:bodyPr tIns="0" bIns="0" anchor="ctr">
                      <a:noAutofit/>
                    </a:bodyPr>
                    <a:p>
                      <a:pPr defTabSz="914400">
                        <a:lnSpc>
                          <a:spcPct val="100000"/>
                        </a:lnSpc>
                        <a:tabLst>
                          <a:tab algn="l" pos="0"/>
                        </a:tabLst>
                      </a:pPr>
                      <a:r>
                        <a:rPr b="0" lang="en-US" sz="1200" spc="-1" strike="noStrike">
                          <a:solidFill>
                            <a:srgbClr val="e8f1ff"/>
                          </a:solidFill>
                          <a:latin typeface="Calibri"/>
                        </a:rPr>
                        <a:t>Run file</a:t>
                      </a:r>
                      <a:endParaRPr b="0" lang="en-US" sz="1200" spc="-1" strike="noStrike">
                        <a:solidFill>
                          <a:srgbClr val="ffffff"/>
                        </a:solidFill>
                        <a:latin typeface="Arial"/>
                      </a:endParaRPr>
                    </a:p>
                  </a:txBody>
                  <a:tcPr anchor="ctr" marL="91440" marR="91440">
                    <a:lnL w="25200">
                      <a:solidFill>
                        <a:srgbClr val="0a1020"/>
                      </a:solidFill>
                      <a:prstDash val="solid"/>
                    </a:lnL>
                    <a:lnR w="25200">
                      <a:solidFill>
                        <a:srgbClr val="0a1020"/>
                      </a:solidFill>
                      <a:prstDash val="solid"/>
                    </a:lnR>
                    <a:lnT w="25200">
                      <a:solidFill>
                        <a:srgbClr val="0a1020"/>
                      </a:solidFill>
                      <a:prstDash val="solid"/>
                    </a:lnT>
                    <a:lnB w="25200">
                      <a:solidFill>
                        <a:srgbClr val="0a1020"/>
                      </a:solidFill>
                      <a:prstDash val="solid"/>
                    </a:lnB>
                    <a:solidFill>
                      <a:srgbClr val="141e38"/>
                    </a:solidFill>
                  </a:tcPr>
                </a:tc>
                <a:tc>
                  <a:txBody>
                    <a:bodyPr tIns="0" bIns="0" anchor="ctr">
                      <a:noAutofit/>
                    </a:bodyPr>
                    <a:p>
                      <a:pPr defTabSz="914400">
                        <a:lnSpc>
                          <a:spcPct val="100000"/>
                        </a:lnSpc>
                        <a:tabLst>
                          <a:tab algn="l" pos="0"/>
                        </a:tabLst>
                      </a:pPr>
                      <a:r>
                        <a:rPr b="0" lang="en-US" sz="1200" spc="-1" strike="noStrike">
                          <a:solidFill>
                            <a:srgbClr val="22e6c4"/>
                          </a:solidFill>
                          <a:latin typeface="Courier New"/>
                          <a:ea typeface="Courier New"/>
                        </a:rPr>
                        <a:t>run3_drone_survey.py</a:t>
                      </a:r>
                      <a:endParaRPr b="0" lang="en-US" sz="1200" spc="-1" strike="noStrike">
                        <a:solidFill>
                          <a:srgbClr val="ffffff"/>
                        </a:solidFill>
                        <a:latin typeface="Arial"/>
                      </a:endParaRPr>
                    </a:p>
                  </a:txBody>
                  <a:tcPr anchor="ctr" marL="91440" marR="91440">
                    <a:lnL w="25200">
                      <a:solidFill>
                        <a:srgbClr val="0a1020"/>
                      </a:solidFill>
                      <a:prstDash val="solid"/>
                    </a:lnL>
                    <a:lnR w="25200">
                      <a:solidFill>
                        <a:srgbClr val="0a1020"/>
                      </a:solidFill>
                      <a:prstDash val="solid"/>
                    </a:lnR>
                    <a:lnT w="25200">
                      <a:solidFill>
                        <a:srgbClr val="0a1020"/>
                      </a:solidFill>
                      <a:prstDash val="solid"/>
                    </a:lnT>
                    <a:lnB w="25200">
                      <a:solidFill>
                        <a:srgbClr val="0a1020"/>
                      </a:solidFill>
                      <a:prstDash val="solid"/>
                    </a:lnB>
                    <a:solidFill>
                      <a:srgbClr val="141e38"/>
                    </a:solidFill>
                  </a:tcPr>
                </a:tc>
                <a:tc>
                  <a:txBody>
                    <a:bodyPr tIns="0" bIns="0" anchor="ctr">
                      <a:noAutofit/>
                    </a:bodyPr>
                    <a:p>
                      <a:pPr defTabSz="914400">
                        <a:lnSpc>
                          <a:spcPct val="100000"/>
                        </a:lnSpc>
                        <a:tabLst>
                          <a:tab algn="l" pos="0"/>
                        </a:tabLst>
                      </a:pPr>
                      <a:r>
                        <a:rPr b="0" lang="en-US" sz="1200" spc="-1" strike="noStrike">
                          <a:solidFill>
                            <a:srgbClr val="ff5c8a"/>
                          </a:solidFill>
                          <a:latin typeface="Courier New"/>
                          <a:ea typeface="Courier New"/>
                        </a:rPr>
                        <a:t>RogerRun.py, new2.py</a:t>
                      </a:r>
                      <a:endParaRPr b="0" lang="en-US" sz="1200" spc="-1" strike="noStrike">
                        <a:solidFill>
                          <a:srgbClr val="ffffff"/>
                        </a:solidFill>
                        <a:latin typeface="Arial"/>
                      </a:endParaRPr>
                    </a:p>
                  </a:txBody>
                  <a:tcPr anchor="ctr" marL="91440" marR="91440">
                    <a:lnL w="25200">
                      <a:solidFill>
                        <a:srgbClr val="0a1020"/>
                      </a:solidFill>
                      <a:prstDash val="solid"/>
                    </a:lnL>
                    <a:lnR w="25200">
                      <a:solidFill>
                        <a:srgbClr val="0a1020"/>
                      </a:solidFill>
                      <a:prstDash val="solid"/>
                    </a:lnR>
                    <a:lnT w="25200">
                      <a:solidFill>
                        <a:srgbClr val="0a1020"/>
                      </a:solidFill>
                      <a:prstDash val="solid"/>
                    </a:lnT>
                    <a:lnB w="25200">
                      <a:solidFill>
                        <a:srgbClr val="0a1020"/>
                      </a:solidFill>
                      <a:prstDash val="solid"/>
                    </a:lnB>
                    <a:solidFill>
                      <a:srgbClr val="141e38"/>
                    </a:solidFill>
                  </a:tcPr>
                </a:tc>
              </a:tr>
              <a:tr h="365760">
                <a:tc>
                  <a:txBody>
                    <a:bodyPr tIns="0" bIns="0" anchor="ctr">
                      <a:noAutofit/>
                    </a:bodyPr>
                    <a:p>
                      <a:pPr defTabSz="914400">
                        <a:lnSpc>
                          <a:spcPct val="100000"/>
                        </a:lnSpc>
                        <a:tabLst>
                          <a:tab algn="l" pos="0"/>
                        </a:tabLst>
                      </a:pPr>
                      <a:r>
                        <a:rPr b="0" lang="en-US" sz="1200" spc="-1" strike="noStrike">
                          <a:solidFill>
                            <a:srgbClr val="e8f1ff"/>
                          </a:solidFill>
                          <a:latin typeface="Calibri"/>
                        </a:rPr>
                        <a:t>Run function</a:t>
                      </a:r>
                      <a:endParaRPr b="0" lang="en-US" sz="1200" spc="-1" strike="noStrike">
                        <a:solidFill>
                          <a:srgbClr val="ffffff"/>
                        </a:solidFill>
                        <a:latin typeface="Arial"/>
                      </a:endParaRPr>
                    </a:p>
                  </a:txBody>
                  <a:tcPr anchor="ctr" marL="91440" marR="91440">
                    <a:lnL w="25200">
                      <a:solidFill>
                        <a:srgbClr val="0a1020"/>
                      </a:solidFill>
                      <a:prstDash val="solid"/>
                    </a:lnL>
                    <a:lnR w="25200">
                      <a:solidFill>
                        <a:srgbClr val="0a1020"/>
                      </a:solidFill>
                      <a:prstDash val="solid"/>
                    </a:lnR>
                    <a:lnT w="25200">
                      <a:solidFill>
                        <a:srgbClr val="0a1020"/>
                      </a:solidFill>
                      <a:prstDash val="solid"/>
                    </a:lnT>
                    <a:lnB w="25200">
                      <a:solidFill>
                        <a:srgbClr val="0a1020"/>
                      </a:solidFill>
                      <a:prstDash val="solid"/>
                    </a:lnB>
                    <a:solidFill>
                      <a:srgbClr val="141e38"/>
                    </a:solidFill>
                  </a:tcPr>
                </a:tc>
                <a:tc>
                  <a:txBody>
                    <a:bodyPr tIns="0" bIns="0" anchor="ctr">
                      <a:noAutofit/>
                    </a:bodyPr>
                    <a:p>
                      <a:pPr defTabSz="914400">
                        <a:lnSpc>
                          <a:spcPct val="100000"/>
                        </a:lnSpc>
                        <a:tabLst>
                          <a:tab algn="l" pos="0"/>
                        </a:tabLst>
                      </a:pPr>
                      <a:r>
                        <a:rPr b="0" lang="en-US" sz="1200" spc="-1" strike="noStrike">
                          <a:solidFill>
                            <a:srgbClr val="22e6c4"/>
                          </a:solidFill>
                          <a:latin typeface="Courier New"/>
                          <a:ea typeface="Courier New"/>
                        </a:rPr>
                        <a:t>async def run3()</a:t>
                      </a:r>
                      <a:endParaRPr b="0" lang="en-US" sz="1200" spc="-1" strike="noStrike">
                        <a:solidFill>
                          <a:srgbClr val="ffffff"/>
                        </a:solidFill>
                        <a:latin typeface="Arial"/>
                      </a:endParaRPr>
                    </a:p>
                  </a:txBody>
                  <a:tcPr anchor="ctr" marL="91440" marR="91440">
                    <a:lnL w="25200">
                      <a:solidFill>
                        <a:srgbClr val="0a1020"/>
                      </a:solidFill>
                      <a:prstDash val="solid"/>
                    </a:lnL>
                    <a:lnR w="25200">
                      <a:solidFill>
                        <a:srgbClr val="0a1020"/>
                      </a:solidFill>
                      <a:prstDash val="solid"/>
                    </a:lnR>
                    <a:lnT w="25200">
                      <a:solidFill>
                        <a:srgbClr val="0a1020"/>
                      </a:solidFill>
                      <a:prstDash val="solid"/>
                    </a:lnT>
                    <a:lnB w="25200">
                      <a:solidFill>
                        <a:srgbClr val="0a1020"/>
                      </a:solidFill>
                      <a:prstDash val="solid"/>
                    </a:lnB>
                    <a:solidFill>
                      <a:srgbClr val="141e38"/>
                    </a:solidFill>
                  </a:tcPr>
                </a:tc>
                <a:tc>
                  <a:txBody>
                    <a:bodyPr tIns="0" bIns="0" anchor="ctr">
                      <a:noAutofit/>
                    </a:bodyPr>
                    <a:p>
                      <a:pPr defTabSz="914400">
                        <a:lnSpc>
                          <a:spcPct val="100000"/>
                        </a:lnSpc>
                        <a:tabLst>
                          <a:tab algn="l" pos="0"/>
                        </a:tabLst>
                      </a:pPr>
                      <a:r>
                        <a:rPr b="0" lang="en-US" sz="1200" spc="-1" strike="noStrike">
                          <a:solidFill>
                            <a:srgbClr val="ff5c8a"/>
                          </a:solidFill>
                          <a:latin typeface="Courier New"/>
                          <a:ea typeface="Courier New"/>
                        </a:rPr>
                        <a:t>async def go()</a:t>
                      </a:r>
                      <a:endParaRPr b="0" lang="en-US" sz="1200" spc="-1" strike="noStrike">
                        <a:solidFill>
                          <a:srgbClr val="ffffff"/>
                        </a:solidFill>
                        <a:latin typeface="Arial"/>
                      </a:endParaRPr>
                    </a:p>
                  </a:txBody>
                  <a:tcPr anchor="ctr" marL="91440" marR="91440">
                    <a:lnL w="25200">
                      <a:solidFill>
                        <a:srgbClr val="0a1020"/>
                      </a:solidFill>
                      <a:prstDash val="solid"/>
                    </a:lnL>
                    <a:lnR w="25200">
                      <a:solidFill>
                        <a:srgbClr val="0a1020"/>
                      </a:solidFill>
                      <a:prstDash val="solid"/>
                    </a:lnR>
                    <a:lnT w="25200">
                      <a:solidFill>
                        <a:srgbClr val="0a1020"/>
                      </a:solidFill>
                      <a:prstDash val="solid"/>
                    </a:lnT>
                    <a:lnB w="25200">
                      <a:solidFill>
                        <a:srgbClr val="0a1020"/>
                      </a:solidFill>
                      <a:prstDash val="solid"/>
                    </a:lnB>
                    <a:solidFill>
                      <a:srgbClr val="141e38"/>
                    </a:solidFill>
                  </a:tcPr>
                </a:tc>
              </a:tr>
              <a:tr h="365760">
                <a:tc>
                  <a:txBody>
                    <a:bodyPr tIns="0" bIns="0" anchor="ctr">
                      <a:noAutofit/>
                    </a:bodyPr>
                    <a:p>
                      <a:pPr defTabSz="914400">
                        <a:lnSpc>
                          <a:spcPct val="100000"/>
                        </a:lnSpc>
                        <a:tabLst>
                          <a:tab algn="l" pos="0"/>
                        </a:tabLst>
                      </a:pPr>
                      <a:r>
                        <a:rPr b="0" lang="en-US" sz="1200" spc="-1" strike="noStrike">
                          <a:solidFill>
                            <a:srgbClr val="e8f1ff"/>
                          </a:solidFill>
                          <a:latin typeface="Calibri"/>
                        </a:rPr>
                        <a:t>Attachment move</a:t>
                      </a:r>
                      <a:endParaRPr b="0" lang="en-US" sz="1200" spc="-1" strike="noStrike">
                        <a:solidFill>
                          <a:srgbClr val="ffffff"/>
                        </a:solidFill>
                        <a:latin typeface="Arial"/>
                      </a:endParaRPr>
                    </a:p>
                  </a:txBody>
                  <a:tcPr anchor="ctr" marL="91440" marR="91440">
                    <a:lnL w="25200">
                      <a:solidFill>
                        <a:srgbClr val="0a1020"/>
                      </a:solidFill>
                      <a:prstDash val="solid"/>
                    </a:lnL>
                    <a:lnR w="25200">
                      <a:solidFill>
                        <a:srgbClr val="0a1020"/>
                      </a:solidFill>
                      <a:prstDash val="solid"/>
                    </a:lnR>
                    <a:lnT w="25200">
                      <a:solidFill>
                        <a:srgbClr val="0a1020"/>
                      </a:solidFill>
                      <a:prstDash val="solid"/>
                    </a:lnT>
                    <a:lnB w="25200">
                      <a:solidFill>
                        <a:srgbClr val="0a1020"/>
                      </a:solidFill>
                      <a:prstDash val="solid"/>
                    </a:lnB>
                    <a:solidFill>
                      <a:srgbClr val="141e38"/>
                    </a:solidFill>
                  </a:tcPr>
                </a:tc>
                <a:tc>
                  <a:txBody>
                    <a:bodyPr tIns="0" bIns="0" anchor="ctr">
                      <a:noAutofit/>
                    </a:bodyPr>
                    <a:p>
                      <a:pPr defTabSz="914400">
                        <a:lnSpc>
                          <a:spcPct val="100000"/>
                        </a:lnSpc>
                        <a:tabLst>
                          <a:tab algn="l" pos="0"/>
                        </a:tabLst>
                      </a:pPr>
                      <a:r>
                        <a:rPr b="0" lang="en-US" sz="1200" spc="-1" strike="noStrike">
                          <a:solidFill>
                            <a:srgbClr val="22e6c4"/>
                          </a:solidFill>
                          <a:latin typeface="Courier New"/>
                          <a:ea typeface="Courier New"/>
                        </a:rPr>
                        <a:t>lift_arm_up()</a:t>
                      </a:r>
                      <a:endParaRPr b="0" lang="en-US" sz="1200" spc="-1" strike="noStrike">
                        <a:solidFill>
                          <a:srgbClr val="ffffff"/>
                        </a:solidFill>
                        <a:latin typeface="Arial"/>
                      </a:endParaRPr>
                    </a:p>
                  </a:txBody>
                  <a:tcPr anchor="ctr" marL="91440" marR="91440">
                    <a:lnL w="25200">
                      <a:solidFill>
                        <a:srgbClr val="0a1020"/>
                      </a:solidFill>
                      <a:prstDash val="solid"/>
                    </a:lnL>
                    <a:lnR w="25200">
                      <a:solidFill>
                        <a:srgbClr val="0a1020"/>
                      </a:solidFill>
                      <a:prstDash val="solid"/>
                    </a:lnR>
                    <a:lnT w="25200">
                      <a:solidFill>
                        <a:srgbClr val="0a1020"/>
                      </a:solidFill>
                      <a:prstDash val="solid"/>
                    </a:lnT>
                    <a:lnB w="25200">
                      <a:solidFill>
                        <a:srgbClr val="0a1020"/>
                      </a:solidFill>
                      <a:prstDash val="solid"/>
                    </a:lnB>
                    <a:solidFill>
                      <a:srgbClr val="141e38"/>
                    </a:solidFill>
                  </a:tcPr>
                </a:tc>
                <a:tc>
                  <a:txBody>
                    <a:bodyPr tIns="0" bIns="0" anchor="ctr">
                      <a:noAutofit/>
                    </a:bodyPr>
                    <a:p>
                      <a:pPr defTabSz="914400">
                        <a:lnSpc>
                          <a:spcPct val="100000"/>
                        </a:lnSpc>
                        <a:tabLst>
                          <a:tab algn="l" pos="0"/>
                        </a:tabLst>
                      </a:pPr>
                      <a:r>
                        <a:rPr b="0" lang="en-US" sz="1200" spc="-1" strike="noStrike">
                          <a:solidFill>
                            <a:srgbClr val="ff5c8a"/>
                          </a:solidFill>
                          <a:latin typeface="Courier New"/>
                          <a:ea typeface="Courier New"/>
                        </a:rPr>
                        <a:t>thing1()</a:t>
                      </a:r>
                      <a:endParaRPr b="0" lang="en-US" sz="1200" spc="-1" strike="noStrike">
                        <a:solidFill>
                          <a:srgbClr val="ffffff"/>
                        </a:solidFill>
                        <a:latin typeface="Arial"/>
                      </a:endParaRPr>
                    </a:p>
                  </a:txBody>
                  <a:tcPr anchor="ctr" marL="91440" marR="91440">
                    <a:lnL w="25200">
                      <a:solidFill>
                        <a:srgbClr val="0a1020"/>
                      </a:solidFill>
                      <a:prstDash val="solid"/>
                    </a:lnL>
                    <a:lnR w="25200">
                      <a:solidFill>
                        <a:srgbClr val="0a1020"/>
                      </a:solidFill>
                      <a:prstDash val="solid"/>
                    </a:lnR>
                    <a:lnT w="25200">
                      <a:solidFill>
                        <a:srgbClr val="0a1020"/>
                      </a:solidFill>
                      <a:prstDash val="solid"/>
                    </a:lnT>
                    <a:lnB w="25200">
                      <a:solidFill>
                        <a:srgbClr val="0a1020"/>
                      </a:solidFill>
                      <a:prstDash val="solid"/>
                    </a:lnB>
                    <a:solidFill>
                      <a:srgbClr val="141e38"/>
                    </a:solidFill>
                  </a:tcPr>
                </a:tc>
              </a:tr>
              <a:tr h="365760">
                <a:tc>
                  <a:txBody>
                    <a:bodyPr tIns="0" bIns="0" anchor="ctr">
                      <a:noAutofit/>
                    </a:bodyPr>
                    <a:p>
                      <a:pPr defTabSz="914400">
                        <a:lnSpc>
                          <a:spcPct val="100000"/>
                        </a:lnSpc>
                        <a:tabLst>
                          <a:tab algn="l" pos="0"/>
                        </a:tabLst>
                      </a:pPr>
                      <a:r>
                        <a:rPr b="0" lang="en-US" sz="1200" spc="-1" strike="noStrike">
                          <a:solidFill>
                            <a:srgbClr val="e8f1ff"/>
                          </a:solidFill>
                          <a:latin typeface="Calibri"/>
                        </a:rPr>
                        <a:t>Constants</a:t>
                      </a:r>
                      <a:endParaRPr b="0" lang="en-US" sz="1200" spc="-1" strike="noStrike">
                        <a:solidFill>
                          <a:srgbClr val="ffffff"/>
                        </a:solidFill>
                        <a:latin typeface="Arial"/>
                      </a:endParaRPr>
                    </a:p>
                  </a:txBody>
                  <a:tcPr anchor="ctr" marL="91440" marR="91440">
                    <a:lnL w="25200">
                      <a:solidFill>
                        <a:srgbClr val="0a1020"/>
                      </a:solidFill>
                      <a:prstDash val="solid"/>
                    </a:lnL>
                    <a:lnR w="25200">
                      <a:solidFill>
                        <a:srgbClr val="0a1020"/>
                      </a:solidFill>
                      <a:prstDash val="solid"/>
                    </a:lnR>
                    <a:lnT w="25200">
                      <a:solidFill>
                        <a:srgbClr val="0a1020"/>
                      </a:solidFill>
                      <a:prstDash val="solid"/>
                    </a:lnT>
                    <a:lnB w="25200">
                      <a:solidFill>
                        <a:srgbClr val="0a1020"/>
                      </a:solidFill>
                      <a:prstDash val="solid"/>
                    </a:lnB>
                    <a:solidFill>
                      <a:srgbClr val="141e38"/>
                    </a:solidFill>
                  </a:tcPr>
                </a:tc>
                <a:tc>
                  <a:txBody>
                    <a:bodyPr tIns="0" bIns="0" anchor="ctr">
                      <a:noAutofit/>
                    </a:bodyPr>
                    <a:p>
                      <a:pPr defTabSz="914400">
                        <a:lnSpc>
                          <a:spcPct val="100000"/>
                        </a:lnSpc>
                        <a:tabLst>
                          <a:tab algn="l" pos="0"/>
                        </a:tabLst>
                      </a:pPr>
                      <a:r>
                        <a:rPr b="0" lang="en-US" sz="1200" spc="-1" strike="noStrike">
                          <a:solidFill>
                            <a:srgbClr val="22e6c4"/>
                          </a:solidFill>
                          <a:latin typeface="Courier New"/>
                          <a:ea typeface="Courier New"/>
                        </a:rPr>
                        <a:t>TO_DRONE_MM = 630</a:t>
                      </a:r>
                      <a:endParaRPr b="0" lang="en-US" sz="1200" spc="-1" strike="noStrike">
                        <a:solidFill>
                          <a:srgbClr val="ffffff"/>
                        </a:solidFill>
                        <a:latin typeface="Arial"/>
                      </a:endParaRPr>
                    </a:p>
                  </a:txBody>
                  <a:tcPr anchor="ctr" marL="91440" marR="91440">
                    <a:lnL w="25200">
                      <a:solidFill>
                        <a:srgbClr val="0a1020"/>
                      </a:solidFill>
                      <a:prstDash val="solid"/>
                    </a:lnL>
                    <a:lnR w="25200">
                      <a:solidFill>
                        <a:srgbClr val="0a1020"/>
                      </a:solidFill>
                      <a:prstDash val="solid"/>
                    </a:lnR>
                    <a:lnT w="25200">
                      <a:solidFill>
                        <a:srgbClr val="0a1020"/>
                      </a:solidFill>
                      <a:prstDash val="solid"/>
                    </a:lnT>
                    <a:lnB w="25200">
                      <a:solidFill>
                        <a:srgbClr val="0a1020"/>
                      </a:solidFill>
                      <a:prstDash val="solid"/>
                    </a:lnB>
                    <a:solidFill>
                      <a:srgbClr val="141e38"/>
                    </a:solidFill>
                  </a:tcPr>
                </a:tc>
                <a:tc>
                  <a:txBody>
                    <a:bodyPr tIns="0" bIns="0" anchor="ctr">
                      <a:noAutofit/>
                    </a:bodyPr>
                    <a:p>
                      <a:pPr defTabSz="914400">
                        <a:lnSpc>
                          <a:spcPct val="100000"/>
                        </a:lnSpc>
                        <a:tabLst>
                          <a:tab algn="l" pos="0"/>
                        </a:tabLst>
                      </a:pPr>
                      <a:r>
                        <a:rPr b="0" lang="en-US" sz="1200" spc="-1" strike="noStrike">
                          <a:solidFill>
                            <a:srgbClr val="ff5c8a"/>
                          </a:solidFill>
                          <a:latin typeface="Courier New"/>
                          <a:ea typeface="Courier New"/>
                        </a:rPr>
                        <a:t>630 (magic number)</a:t>
                      </a:r>
                      <a:endParaRPr b="0" lang="en-US" sz="1200" spc="-1" strike="noStrike">
                        <a:solidFill>
                          <a:srgbClr val="ffffff"/>
                        </a:solidFill>
                        <a:latin typeface="Arial"/>
                      </a:endParaRPr>
                    </a:p>
                  </a:txBody>
                  <a:tcPr anchor="ctr" marL="91440" marR="91440">
                    <a:lnL w="25200">
                      <a:solidFill>
                        <a:srgbClr val="0a1020"/>
                      </a:solidFill>
                      <a:prstDash val="solid"/>
                    </a:lnL>
                    <a:lnR w="25200">
                      <a:solidFill>
                        <a:srgbClr val="0a1020"/>
                      </a:solidFill>
                      <a:prstDash val="solid"/>
                    </a:lnR>
                    <a:lnT w="25200">
                      <a:solidFill>
                        <a:srgbClr val="0a1020"/>
                      </a:solidFill>
                      <a:prstDash val="solid"/>
                    </a:lnT>
                    <a:lnB w="25200">
                      <a:solidFill>
                        <a:srgbClr val="0a1020"/>
                      </a:solidFill>
                      <a:prstDash val="solid"/>
                    </a:lnB>
                    <a:solidFill>
                      <a:srgbClr val="141e38"/>
                    </a:solidFill>
                  </a:tcPr>
                </a:tc>
              </a:tr>
            </a:tbl>
          </a:graphicData>
        </a:graphic>
      </p:graphicFrame>
      <p:sp>
        <p:nvSpPr>
          <p:cNvPr id="126" name="Text 2"/>
          <p:cNvSpPr/>
          <p:nvPr/>
        </p:nvSpPr>
        <p:spPr>
          <a:xfrm>
            <a:off x="457200" y="2880360"/>
            <a:ext cx="82292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pc="-1" strike="noStrike">
                <a:solidFill>
                  <a:srgbClr val="8fa3c7"/>
                </a:solidFill>
                <a:latin typeface="Calibri"/>
              </a:rPr>
              <a:t>Note: the repo today has RogerRun.py and M1_DroneSurvey.py. Decide whether to rename them to this pattern.</a:t>
            </a:r>
            <a:endParaRPr b="0" lang="en-US" sz="1300" spc="-1" strike="noStrike">
              <a:solidFill>
                <a:srgbClr val="ffffff"/>
              </a:solidFill>
              <a:latin typeface="Arial"/>
            </a:endParaRPr>
          </a:p>
        </p:txBody>
      </p:sp>
      <p:sp>
        <p:nvSpPr>
          <p:cNvPr id="127" name="Shape 3"/>
          <p:cNvSpPr/>
          <p:nvPr/>
        </p:nvSpPr>
        <p:spPr>
          <a:xfrm>
            <a:off x="457200" y="3383280"/>
            <a:ext cx="8229240" cy="1188360"/>
          </a:xfrm>
          <a:prstGeom prst="roundRect">
            <a:avLst>
              <a:gd name="adj" fmla="val 7692"/>
            </a:avLst>
          </a:prstGeom>
          <a:solidFill>
            <a:srgbClr val="2a2210"/>
          </a:solidFill>
          <a:ln w="15875">
            <a:solidFill>
              <a:srgbClr val="ffc857"/>
            </a:solidFill>
            <a:prstDash val="dash"/>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8" name="Text 4"/>
          <p:cNvSpPr/>
          <p:nvPr/>
        </p:nvSpPr>
        <p:spPr>
          <a:xfrm>
            <a:off x="594360" y="3447360"/>
            <a:ext cx="7954920" cy="1060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c857"/>
                </a:solidFill>
                <a:latin typeface="Calibri"/>
                <a:ea typeface="Calibri"/>
              </a:rPr>
              <a:t>✎ </a:t>
            </a:r>
            <a:r>
              <a:rPr b="1" lang="en-US" sz="1300" spc="-1" strike="noStrike">
                <a:solidFill>
                  <a:srgbClr val="ffc857"/>
                </a:solidFill>
                <a:latin typeface="Calibri"/>
                <a:ea typeface="Calibri"/>
              </a:rPr>
              <a:t>Braxton, fill this in:  </a:t>
            </a:r>
            <a:r>
              <a:rPr b="0" lang="en-US" sz="1300" spc="-1" strike="noStrike">
                <a:solidFill>
                  <a:srgbClr val="e8f1ff"/>
                </a:solidFill>
                <a:latin typeface="Calibri"/>
                <a:ea typeface="Calibri"/>
              </a:rPr>
              <a:t>Agree on our rule: file name = run&lt;number&gt;_&lt;short_mission_name&gt;.py? Who owns each number? Write 3 naming rules the whole team will follow.</a:t>
            </a:r>
            <a:endParaRPr b="0" lang="en-US" sz="1300" spc="-1" strike="noStrike">
              <a:solidFill>
                <a:srgbClr val="ffffff"/>
              </a:solidFill>
              <a:latin typeface="Arial"/>
            </a:endParaRPr>
          </a:p>
        </p:txBody>
      </p:sp>
      <p:sp>
        <p:nvSpPr>
          <p:cNvPr id="129" name="PlaceHolder 1"/>
          <p:cNvSpPr>
            <a:spLocks noGrp="1"/>
          </p:cNvSpPr>
          <p:nvPr>
            <p:ph type="sldNum" idx="11"/>
          </p:nvPr>
        </p:nvSpPr>
        <p:spPr>
          <a:xfrm>
            <a:off x="8321040" y="4754880"/>
            <a:ext cx="456840" cy="388440"/>
          </a:xfrm>
          <a:prstGeom prst="rect">
            <a:avLst/>
          </a:prstGeom>
          <a:noFill/>
          <a:ln w="0">
            <a:noFill/>
          </a:ln>
        </p:spPr>
        <p:txBody>
          <a:bodyPr lIns="90000" rIns="90000" tIns="45000" bIns="45000" anchor="t">
            <a:noAutofit/>
          </a:bodyPr>
          <a:lstStyle>
            <a:lvl1pPr indent="0" algn="r" defTabSz="914400">
              <a:lnSpc>
                <a:spcPct val="100000"/>
              </a:lnSpc>
              <a:buNone/>
              <a:defRPr b="0" lang="en-US" sz="1000" spc="-1" strike="noStrike">
                <a:solidFill>
                  <a:srgbClr val="8fa3c7"/>
                </a:solidFill>
                <a:latin typeface="Calibri"/>
                <a:ea typeface="Calibri"/>
              </a:defRPr>
            </a:lvl1pPr>
          </a:lstStyle>
          <a:p>
            <a:pPr indent="0" algn="r" defTabSz="914400">
              <a:lnSpc>
                <a:spcPct val="100000"/>
              </a:lnSpc>
              <a:buNone/>
            </a:pPr>
            <a:fld id="{D5814C11-8FD5-4580-95C5-87D5869CFC51}" type="slidenum">
              <a:rPr b="0" lang="en-US" sz="1000" spc="-1" strike="noStrike">
                <a:solidFill>
                  <a:srgbClr val="8fa3c7"/>
                </a:solidFill>
                <a:latin typeface="Calibri"/>
                <a:ea typeface="Calibri"/>
              </a:rPr>
              <a:t>&lt;number&gt;</a:t>
            </a:fld>
            <a:endParaRPr b="0" lang="en-US" sz="10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Text 0"/>
          <p:cNvSpPr/>
          <p:nvPr/>
        </p:nvSpPr>
        <p:spPr>
          <a:xfrm>
            <a:off x="457200" y="274320"/>
            <a:ext cx="69490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e8f1ff"/>
                </a:solidFill>
                <a:latin typeface="Cambria"/>
                <a:ea typeface="Cambria"/>
              </a:rPr>
              <a:t>Add every run to robot.py</a:t>
            </a:r>
            <a:endParaRPr b="0" lang="en-US" sz="2800" spc="-1" strike="noStrike">
              <a:solidFill>
                <a:srgbClr val="ffffff"/>
              </a:solidFill>
              <a:latin typeface="Arial"/>
            </a:endParaRPr>
          </a:p>
        </p:txBody>
      </p:sp>
      <p:sp>
        <p:nvSpPr>
          <p:cNvPr id="131" name="Text 1"/>
          <p:cNvSpPr/>
          <p:nvPr/>
        </p:nvSpPr>
        <p:spPr>
          <a:xfrm>
            <a:off x="7498080" y="347400"/>
            <a:ext cx="1188360" cy="310680"/>
          </a:xfrm>
          <a:prstGeom prst="roundRect">
            <a:avLst>
              <a:gd name="adj" fmla="val 50000"/>
            </a:avLst>
          </a:prstGeom>
          <a:solidFill>
            <a:srgbClr val="ffc857"/>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0a1020"/>
                </a:solidFill>
                <a:latin typeface="Calibri"/>
              </a:rPr>
              <a:t>Braxton</a:t>
            </a:r>
            <a:endParaRPr b="0" lang="en-US" sz="1100" spc="-1" strike="noStrike">
              <a:solidFill>
                <a:srgbClr val="000000"/>
              </a:solidFill>
              <a:latin typeface="Arial"/>
            </a:endParaRPr>
          </a:p>
        </p:txBody>
      </p:sp>
      <p:sp>
        <p:nvSpPr>
          <p:cNvPr id="132" name="Shape 2"/>
          <p:cNvSpPr/>
          <p:nvPr/>
        </p:nvSpPr>
        <p:spPr>
          <a:xfrm>
            <a:off x="457200" y="1005840"/>
            <a:ext cx="4754520" cy="2422800"/>
          </a:xfrm>
          <a:prstGeom prst="roundRect">
            <a:avLst>
              <a:gd name="adj" fmla="val 3019"/>
            </a:avLst>
          </a:prstGeom>
          <a:solidFill>
            <a:srgbClr val="050a16"/>
          </a:solidFill>
          <a:ln w="12700">
            <a:solidFill>
              <a:srgbClr val="22304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3" name="Text 3"/>
          <p:cNvSpPr/>
          <p:nvPr/>
        </p:nvSpPr>
        <p:spPr>
          <a:xfrm>
            <a:off x="567000" y="1078920"/>
            <a:ext cx="4534920" cy="22766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00" spc="-1" strike="noStrike">
                <a:solidFill>
                  <a:srgbClr val="bffbef"/>
                </a:solidFill>
                <a:latin typeface="Courier New"/>
                <a:ea typeface="Courier New"/>
              </a:rPr>
              <a:t>from pybricks.parameters import Color</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from run1_xxx import run1</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from run2_xxx import run2</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from run3_drone_survey import run3</a:t>
            </a:r>
            <a:endParaRPr b="0" lang="en-US" sz="1100" spc="-1" strike="noStrike">
              <a:solidFill>
                <a:srgbClr val="ffffff"/>
              </a:solidFill>
              <a:latin typeface="Arial"/>
            </a:endParaRPr>
          </a:p>
          <a:p>
            <a:pPr defTabSz="914400">
              <a:lnSpc>
                <a:spcPct val="100000"/>
              </a:lnSpc>
              <a:tabLst>
                <a:tab algn="l" pos="0"/>
              </a:tabLst>
            </a:pP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 inside main(), after set_drivebase():</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await add_program(run1, '1', Color.GREEN)</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await add_program(run2, '2', Color.BLUE)</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await add_program(run3, '3', Color.WHITE)</a:t>
            </a:r>
            <a:endParaRPr b="0" lang="en-US" sz="1100" spc="-1" strike="noStrike">
              <a:solidFill>
                <a:srgbClr val="ffffff"/>
              </a:solidFill>
              <a:latin typeface="Arial"/>
            </a:endParaRPr>
          </a:p>
          <a:p>
            <a:pPr defTabSz="914400">
              <a:lnSpc>
                <a:spcPct val="100000"/>
              </a:lnSpc>
              <a:tabLst>
                <a:tab algn="l" pos="0"/>
              </a:tabLst>
            </a:pP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await user_interface()   # keep this last</a:t>
            </a:r>
            <a:endParaRPr b="0" lang="en-US" sz="1100" spc="-1" strike="noStrike">
              <a:solidFill>
                <a:srgbClr val="ffffff"/>
              </a:solidFill>
              <a:latin typeface="Arial"/>
            </a:endParaRPr>
          </a:p>
        </p:txBody>
      </p:sp>
      <p:sp>
        <p:nvSpPr>
          <p:cNvPr id="134" name="Text 4"/>
          <p:cNvSpPr/>
          <p:nvPr/>
        </p:nvSpPr>
        <p:spPr>
          <a:xfrm>
            <a:off x="5394960" y="1051560"/>
            <a:ext cx="3291480" cy="237708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0000"/>
              </a:lnSpc>
              <a:spcAft>
                <a:spcPts val="601"/>
              </a:spcAft>
              <a:buClr>
                <a:srgbClr val="e8f1ff"/>
              </a:buClr>
              <a:buFont typeface="Symbol" charset="2"/>
              <a:buChar char=""/>
            </a:pPr>
            <a:r>
              <a:rPr b="0" lang="en-US" sz="1400" spc="-1" strike="noStrike">
                <a:solidFill>
                  <a:srgbClr val="e8f1ff"/>
                </a:solidFill>
                <a:latin typeface="Calibri"/>
                <a:ea typeface="Calibri"/>
              </a:rPr>
              <a:t>Menu order = order of add_program</a:t>
            </a:r>
            <a:endParaRPr b="0" lang="en-US" sz="1400" spc="-1" strike="noStrike">
              <a:solidFill>
                <a:srgbClr val="ffffff"/>
              </a:solidFill>
              <a:latin typeface="Arial"/>
            </a:endParaRPr>
          </a:p>
          <a:p>
            <a:pPr marL="343080" indent="-343080" defTabSz="914400">
              <a:lnSpc>
                <a:spcPct val="100000"/>
              </a:lnSpc>
              <a:spcAft>
                <a:spcPts val="601"/>
              </a:spcAft>
              <a:buClr>
                <a:srgbClr val="e8f1ff"/>
              </a:buClr>
              <a:buFont typeface="Symbol" charset="2"/>
              <a:buChar char=""/>
            </a:pPr>
            <a:r>
              <a:rPr b="0" lang="en-US" sz="1400" spc="-1" strike="noStrike">
                <a:solidFill>
                  <a:srgbClr val="e8f1ff"/>
                </a:solidFill>
                <a:latin typeface="Calibri"/>
                <a:ea typeface="Calibri"/>
              </a:rPr>
              <a:t>Hub shows the number; light matches the attachment color</a:t>
            </a:r>
            <a:endParaRPr b="0" lang="en-US" sz="1400" spc="-1" strike="noStrike">
              <a:solidFill>
                <a:srgbClr val="ffffff"/>
              </a:solidFill>
              <a:latin typeface="Arial"/>
            </a:endParaRPr>
          </a:p>
          <a:p>
            <a:pPr marL="343080" indent="-343080" defTabSz="914400">
              <a:lnSpc>
                <a:spcPct val="100000"/>
              </a:lnSpc>
              <a:spcAft>
                <a:spcPts val="601"/>
              </a:spcAft>
              <a:buClr>
                <a:srgbClr val="e8f1ff"/>
              </a:buClr>
              <a:buFont typeface="Symbol" charset="2"/>
              <a:buChar char=""/>
            </a:pPr>
            <a:r>
              <a:rPr b="0" lang="en-US" sz="1400" spc="-1" strike="noStrike">
                <a:solidFill>
                  <a:srgbClr val="e8f1ff"/>
                </a:solidFill>
                <a:latin typeface="Calibri"/>
                <a:ea typeface="Calibri"/>
              </a:rPr>
              <a:t>LEFT / RIGHT button: pick run</a:t>
            </a:r>
            <a:endParaRPr b="0" lang="en-US" sz="1400" spc="-1" strike="noStrike">
              <a:solidFill>
                <a:srgbClr val="ffffff"/>
              </a:solidFill>
              <a:latin typeface="Arial"/>
            </a:endParaRPr>
          </a:p>
          <a:p>
            <a:pPr marL="343080" indent="-343080" defTabSz="914400">
              <a:lnSpc>
                <a:spcPct val="100000"/>
              </a:lnSpc>
              <a:spcAft>
                <a:spcPts val="601"/>
              </a:spcAft>
              <a:buClr>
                <a:srgbClr val="e8f1ff"/>
              </a:buClr>
              <a:buFont typeface="Symbol" charset="2"/>
              <a:buChar char=""/>
            </a:pPr>
            <a:r>
              <a:rPr b="0" lang="en-US" sz="1400" spc="-1" strike="noStrike">
                <a:solidFill>
                  <a:srgbClr val="e8f1ff"/>
                </a:solidFill>
                <a:latin typeface="Calibri"/>
                <a:ea typeface="Calibri"/>
              </a:rPr>
              <a:t>CENTER button: start it</a:t>
            </a:r>
            <a:endParaRPr b="0" lang="en-US" sz="1400" spc="-1" strike="noStrike">
              <a:solidFill>
                <a:srgbClr val="ffffff"/>
              </a:solidFill>
              <a:latin typeface="Arial"/>
            </a:endParaRPr>
          </a:p>
        </p:txBody>
      </p:sp>
      <p:sp>
        <p:nvSpPr>
          <p:cNvPr id="135" name="Shape 5"/>
          <p:cNvSpPr/>
          <p:nvPr/>
        </p:nvSpPr>
        <p:spPr>
          <a:xfrm>
            <a:off x="457200" y="3611880"/>
            <a:ext cx="8229240" cy="959760"/>
          </a:xfrm>
          <a:prstGeom prst="roundRect">
            <a:avLst>
              <a:gd name="adj" fmla="val 9524"/>
            </a:avLst>
          </a:prstGeom>
          <a:solidFill>
            <a:srgbClr val="2a2210"/>
          </a:solidFill>
          <a:ln w="15875">
            <a:solidFill>
              <a:srgbClr val="ffc857"/>
            </a:solidFill>
            <a:prstDash val="dash"/>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6" name="Text 6"/>
          <p:cNvSpPr/>
          <p:nvPr/>
        </p:nvSpPr>
        <p:spPr>
          <a:xfrm>
            <a:off x="594360" y="3675960"/>
            <a:ext cx="7954920" cy="831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c857"/>
                </a:solidFill>
                <a:latin typeface="Calibri"/>
                <a:ea typeface="Calibri"/>
              </a:rPr>
              <a:t>✎ </a:t>
            </a:r>
            <a:r>
              <a:rPr b="1" lang="en-US" sz="1300" spc="-1" strike="noStrike">
                <a:solidFill>
                  <a:srgbClr val="ffc857"/>
                </a:solidFill>
                <a:latin typeface="Calibri"/>
                <a:ea typeface="Calibri"/>
              </a:rPr>
              <a:t>Braxton, fill this in:  </a:t>
            </a:r>
            <a:r>
              <a:rPr b="0" lang="en-US" sz="1300" spc="-1" strike="noStrike">
                <a:solidFill>
                  <a:srgbClr val="e8f1ff"/>
                </a:solidFill>
                <a:latin typeface="Calibri"/>
                <a:ea typeface="Calibri"/>
              </a:rPr>
              <a:t>What color is each attachment set? Fill in: Run 1 = ___, Run 2 = ___, Run 3 = ___. What happens if you forget the import or the await?</a:t>
            </a:r>
            <a:endParaRPr b="0" lang="en-US" sz="1300" spc="-1" strike="noStrike">
              <a:solidFill>
                <a:srgbClr val="ffffff"/>
              </a:solidFill>
              <a:latin typeface="Arial"/>
            </a:endParaRPr>
          </a:p>
        </p:txBody>
      </p:sp>
      <p:sp>
        <p:nvSpPr>
          <p:cNvPr id="137" name="PlaceHolder 1"/>
          <p:cNvSpPr>
            <a:spLocks noGrp="1"/>
          </p:cNvSpPr>
          <p:nvPr>
            <p:ph type="sldNum" idx="12"/>
          </p:nvPr>
        </p:nvSpPr>
        <p:spPr>
          <a:xfrm>
            <a:off x="8321040" y="4754880"/>
            <a:ext cx="456840" cy="388440"/>
          </a:xfrm>
          <a:prstGeom prst="rect">
            <a:avLst/>
          </a:prstGeom>
          <a:noFill/>
          <a:ln w="0">
            <a:noFill/>
          </a:ln>
        </p:spPr>
        <p:txBody>
          <a:bodyPr lIns="90000" rIns="90000" tIns="45000" bIns="45000" anchor="t">
            <a:noAutofit/>
          </a:bodyPr>
          <a:lstStyle>
            <a:lvl1pPr indent="0" algn="r" defTabSz="914400">
              <a:lnSpc>
                <a:spcPct val="100000"/>
              </a:lnSpc>
              <a:buNone/>
              <a:defRPr b="0" lang="en-US" sz="1000" spc="-1" strike="noStrike">
                <a:solidFill>
                  <a:srgbClr val="8fa3c7"/>
                </a:solidFill>
                <a:latin typeface="Calibri"/>
                <a:ea typeface="Calibri"/>
              </a:defRPr>
            </a:lvl1pPr>
          </a:lstStyle>
          <a:p>
            <a:pPr indent="0" algn="r" defTabSz="914400">
              <a:lnSpc>
                <a:spcPct val="100000"/>
              </a:lnSpc>
              <a:buNone/>
            </a:pPr>
            <a:fld id="{7814F7E7-6988-456B-B0FF-F4D18C54522A}" type="slidenum">
              <a:rPr b="0" lang="en-US" sz="1000" spc="-1" strike="noStrike">
                <a:solidFill>
                  <a:srgbClr val="8fa3c7"/>
                </a:solidFill>
                <a:latin typeface="Calibri"/>
                <a:ea typeface="Calibri"/>
              </a:rPr>
              <a:t>&lt;number&gt;</a:t>
            </a:fld>
            <a:endParaRPr b="0" lang="en-US" sz="10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Text 0"/>
          <p:cNvSpPr/>
          <p:nvPr/>
        </p:nvSpPr>
        <p:spPr>
          <a:xfrm>
            <a:off x="457200" y="274320"/>
            <a:ext cx="69490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e8f1ff"/>
                </a:solidFill>
                <a:latin typeface="Cambria"/>
                <a:ea typeface="Cambria"/>
              </a:rPr>
              <a:t>Reconfigure the gear chain for each run</a:t>
            </a:r>
            <a:endParaRPr b="0" lang="en-US" sz="2800" spc="-1" strike="noStrike">
              <a:solidFill>
                <a:srgbClr val="ffffff"/>
              </a:solidFill>
              <a:latin typeface="Arial"/>
            </a:endParaRPr>
          </a:p>
        </p:txBody>
      </p:sp>
      <p:sp>
        <p:nvSpPr>
          <p:cNvPr id="139" name="Text 1"/>
          <p:cNvSpPr/>
          <p:nvPr/>
        </p:nvSpPr>
        <p:spPr>
          <a:xfrm>
            <a:off x="7498080" y="347400"/>
            <a:ext cx="1188360" cy="310680"/>
          </a:xfrm>
          <a:prstGeom prst="roundRect">
            <a:avLst>
              <a:gd name="adj" fmla="val 50000"/>
            </a:avLst>
          </a:prstGeom>
          <a:solidFill>
            <a:srgbClr val="ffc857"/>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0a1020"/>
                </a:solidFill>
                <a:latin typeface="Calibri"/>
              </a:rPr>
              <a:t>Braxton</a:t>
            </a:r>
            <a:endParaRPr b="0" lang="en-US" sz="1100" spc="-1" strike="noStrike">
              <a:solidFill>
                <a:srgbClr val="000000"/>
              </a:solidFill>
              <a:latin typeface="Arial"/>
            </a:endParaRPr>
          </a:p>
        </p:txBody>
      </p:sp>
      <p:sp>
        <p:nvSpPr>
          <p:cNvPr id="140" name="Shape 2"/>
          <p:cNvSpPr/>
          <p:nvPr/>
        </p:nvSpPr>
        <p:spPr>
          <a:xfrm>
            <a:off x="457200" y="1005840"/>
            <a:ext cx="5028840" cy="2514240"/>
          </a:xfrm>
          <a:prstGeom prst="roundRect">
            <a:avLst>
              <a:gd name="adj" fmla="val 2909"/>
            </a:avLst>
          </a:prstGeom>
          <a:solidFill>
            <a:srgbClr val="050a16"/>
          </a:solidFill>
          <a:ln w="12700">
            <a:solidFill>
              <a:srgbClr val="22304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1" name="Text 3"/>
          <p:cNvSpPr/>
          <p:nvPr/>
        </p:nvSpPr>
        <p:spPr>
          <a:xfrm>
            <a:off x="567000" y="1078920"/>
            <a:ext cx="4809240" cy="23680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50" spc="-1" strike="noStrike">
                <a:solidFill>
                  <a:srgbClr val="bffbef"/>
                </a:solidFill>
                <a:latin typeface="Courier New"/>
                <a:ea typeface="Courier New"/>
              </a:rPr>
              <a:t>from pybricks.parameters import Direction</a:t>
            </a:r>
            <a:endParaRPr b="0" lang="en-US" sz="1050" spc="-1" strike="noStrike">
              <a:solidFill>
                <a:srgbClr val="ffffff"/>
              </a:solidFill>
              <a:latin typeface="Arial"/>
            </a:endParaRPr>
          </a:p>
          <a:p>
            <a:pPr defTabSz="914400">
              <a:lnSpc>
                <a:spcPct val="100000"/>
              </a:lnSpc>
              <a:tabLst>
                <a:tab algn="l" pos="0"/>
              </a:tabLst>
            </a:pPr>
            <a:endParaRPr b="0" lang="en-US" sz="1050" spc="-1" strike="noStrike">
              <a:solidFill>
                <a:srgbClr val="ffffff"/>
              </a:solidFill>
              <a:latin typeface="Arial"/>
            </a:endParaRPr>
          </a:p>
          <a:p>
            <a:pPr defTabSz="914400">
              <a:lnSpc>
                <a:spcPct val="100000"/>
              </a:lnSpc>
              <a:tabLst>
                <a:tab algn="l" pos="0"/>
              </a:tabLst>
            </a:pPr>
            <a:r>
              <a:rPr b="0" lang="en-US" sz="1050" spc="-1" strike="noStrike">
                <a:solidFill>
                  <a:srgbClr val="bffbef"/>
                </a:solidFill>
                <a:latin typeface="Courier New"/>
                <a:ea typeface="Courier New"/>
              </a:rPr>
              <a:t>async def run3():</a:t>
            </a:r>
            <a:endParaRPr b="0" lang="en-US" sz="1050" spc="-1" strike="noStrike">
              <a:solidFill>
                <a:srgbClr val="ffffff"/>
              </a:solidFill>
              <a:latin typeface="Arial"/>
            </a:endParaRPr>
          </a:p>
          <a:p>
            <a:pPr defTabSz="914400">
              <a:lnSpc>
                <a:spcPct val="100000"/>
              </a:lnSpc>
              <a:tabLst>
                <a:tab algn="l" pos="0"/>
              </a:tabLst>
            </a:pPr>
            <a:r>
              <a:rPr b="0" lang="en-US" sz="1050" spc="-1" strike="noStrike">
                <a:solidFill>
                  <a:srgbClr val="bffbef"/>
                </a:solidFill>
                <a:latin typeface="Courier New"/>
                <a:ea typeface="Courier New"/>
              </a:rPr>
              <a:t>    </a:t>
            </a:r>
            <a:r>
              <a:rPr b="0" lang="en-US" sz="1050" spc="-1" strike="noStrike">
                <a:solidFill>
                  <a:srgbClr val="bffbef"/>
                </a:solidFill>
                <a:latin typeface="Courier New"/>
                <a:ea typeface="Courier New"/>
              </a:rPr>
              <a:t># first line of the run: tell the motor what is attached</a:t>
            </a:r>
            <a:endParaRPr b="0" lang="en-US" sz="1050" spc="-1" strike="noStrike">
              <a:solidFill>
                <a:srgbClr val="ffffff"/>
              </a:solidFill>
              <a:latin typeface="Arial"/>
            </a:endParaRPr>
          </a:p>
          <a:p>
            <a:pPr defTabSz="914400">
              <a:lnSpc>
                <a:spcPct val="100000"/>
              </a:lnSpc>
              <a:tabLst>
                <a:tab algn="l" pos="0"/>
              </a:tabLst>
            </a:pPr>
            <a:r>
              <a:rPr b="0" lang="en-US" sz="1050" spc="-1" strike="noStrike">
                <a:solidFill>
                  <a:srgbClr val="bffbef"/>
                </a:solidFill>
                <a:latin typeface="Courier New"/>
                <a:ea typeface="Courier New"/>
              </a:rPr>
              <a:t>    </a:t>
            </a:r>
            <a:r>
              <a:rPr b="0" lang="en-US" sz="1050" spc="-1" strike="noStrike">
                <a:solidFill>
                  <a:srgbClr val="bffbef"/>
                </a:solidFill>
                <a:latin typeface="Courier New"/>
                <a:ea typeface="Courier New"/>
              </a:rPr>
              <a:t>LEFT_ATTACHMENT.reconfigure(Direction.CLOCKWISE, [12, 36])</a:t>
            </a:r>
            <a:endParaRPr b="0" lang="en-US" sz="1050" spc="-1" strike="noStrike">
              <a:solidFill>
                <a:srgbClr val="ffffff"/>
              </a:solidFill>
              <a:latin typeface="Arial"/>
            </a:endParaRPr>
          </a:p>
          <a:p>
            <a:pPr defTabSz="914400">
              <a:lnSpc>
                <a:spcPct val="100000"/>
              </a:lnSpc>
              <a:tabLst>
                <a:tab algn="l" pos="0"/>
              </a:tabLst>
            </a:pPr>
            <a:r>
              <a:rPr b="0" lang="en-US" sz="1050" spc="-1" strike="noStrike">
                <a:solidFill>
                  <a:srgbClr val="bffbef"/>
                </a:solidFill>
                <a:latin typeface="Courier New"/>
                <a:ea typeface="Courier New"/>
              </a:rPr>
              <a:t>    </a:t>
            </a:r>
            <a:r>
              <a:rPr b="0" lang="en-US" sz="1050" spc="-1" strike="noStrike">
                <a:solidFill>
                  <a:srgbClr val="bffbef"/>
                </a:solidFill>
                <a:latin typeface="Courier New"/>
                <a:ea typeface="Courier New"/>
              </a:rPr>
              <a:t>await LEFT_ATTACHMENT.run_angle(720, -90)  # OUTPUT gear degrees</a:t>
            </a:r>
            <a:endParaRPr b="0" lang="en-US" sz="1050" spc="-1" strike="noStrike">
              <a:solidFill>
                <a:srgbClr val="ffffff"/>
              </a:solidFill>
              <a:latin typeface="Arial"/>
            </a:endParaRPr>
          </a:p>
          <a:p>
            <a:pPr defTabSz="914400">
              <a:lnSpc>
                <a:spcPct val="100000"/>
              </a:lnSpc>
              <a:tabLst>
                <a:tab algn="l" pos="0"/>
              </a:tabLst>
            </a:pPr>
            <a:endParaRPr b="0" lang="en-US" sz="1050" spc="-1" strike="noStrike">
              <a:solidFill>
                <a:srgbClr val="ffffff"/>
              </a:solidFill>
              <a:latin typeface="Arial"/>
            </a:endParaRPr>
          </a:p>
          <a:p>
            <a:pPr defTabSz="914400">
              <a:lnSpc>
                <a:spcPct val="100000"/>
              </a:lnSpc>
              <a:tabLst>
                <a:tab algn="l" pos="0"/>
              </a:tabLst>
            </a:pPr>
            <a:r>
              <a:rPr b="0" lang="en-US" sz="1050" spc="-1" strike="noStrike">
                <a:solidFill>
                  <a:srgbClr val="bffbef"/>
                </a:solidFill>
                <a:latin typeface="Courier New"/>
                <a:ea typeface="Courier New"/>
              </a:rPr>
              <a:t>async def run4():   # different attachment, different gears</a:t>
            </a:r>
            <a:endParaRPr b="0" lang="en-US" sz="1050" spc="-1" strike="noStrike">
              <a:solidFill>
                <a:srgbClr val="ffffff"/>
              </a:solidFill>
              <a:latin typeface="Arial"/>
            </a:endParaRPr>
          </a:p>
          <a:p>
            <a:pPr defTabSz="914400">
              <a:lnSpc>
                <a:spcPct val="100000"/>
              </a:lnSpc>
              <a:tabLst>
                <a:tab algn="l" pos="0"/>
              </a:tabLst>
            </a:pPr>
            <a:r>
              <a:rPr b="0" lang="en-US" sz="1050" spc="-1" strike="noStrike">
                <a:solidFill>
                  <a:srgbClr val="bffbef"/>
                </a:solidFill>
                <a:latin typeface="Courier New"/>
                <a:ea typeface="Courier New"/>
              </a:rPr>
              <a:t>    </a:t>
            </a:r>
            <a:r>
              <a:rPr b="0" lang="en-US" sz="1050" spc="-1" strike="noStrike">
                <a:solidFill>
                  <a:srgbClr val="bffbef"/>
                </a:solidFill>
                <a:latin typeface="Courier New"/>
                <a:ea typeface="Courier New"/>
              </a:rPr>
              <a:t>LEFT_ATTACHMENT.reconfigure(</a:t>
            </a:r>
            <a:endParaRPr b="0" lang="en-US" sz="1050" spc="-1" strike="noStrike">
              <a:solidFill>
                <a:srgbClr val="ffffff"/>
              </a:solidFill>
              <a:latin typeface="Arial"/>
            </a:endParaRPr>
          </a:p>
          <a:p>
            <a:pPr defTabSz="914400">
              <a:lnSpc>
                <a:spcPct val="100000"/>
              </a:lnSpc>
              <a:tabLst>
                <a:tab algn="l" pos="0"/>
              </a:tabLst>
            </a:pPr>
            <a:r>
              <a:rPr b="0" lang="en-US" sz="1050" spc="-1" strike="noStrike">
                <a:solidFill>
                  <a:srgbClr val="bffbef"/>
                </a:solidFill>
                <a:latin typeface="Courier New"/>
                <a:ea typeface="Courier New"/>
              </a:rPr>
              <a:t>        </a:t>
            </a:r>
            <a:r>
              <a:rPr b="0" lang="en-US" sz="1050" spc="-1" strike="noStrike">
                <a:solidFill>
                  <a:srgbClr val="bffbef"/>
                </a:solidFill>
                <a:latin typeface="Courier New"/>
                <a:ea typeface="Courier New"/>
              </a:rPr>
              <a:t>Direction.COUNTERCLOCKWISE, [8, (24, 8), 40])</a:t>
            </a:r>
            <a:endParaRPr b="0" lang="en-US" sz="1050" spc="-1" strike="noStrike">
              <a:solidFill>
                <a:srgbClr val="ffffff"/>
              </a:solidFill>
              <a:latin typeface="Arial"/>
            </a:endParaRPr>
          </a:p>
          <a:p>
            <a:pPr defTabSz="914400">
              <a:lnSpc>
                <a:spcPct val="100000"/>
              </a:lnSpc>
              <a:tabLst>
                <a:tab algn="l" pos="0"/>
              </a:tabLst>
            </a:pPr>
            <a:r>
              <a:rPr b="0" lang="en-US" sz="1050" spc="-1" strike="noStrike">
                <a:solidFill>
                  <a:srgbClr val="bffbef"/>
                </a:solidFill>
                <a:latin typeface="Courier New"/>
                <a:ea typeface="Courier New"/>
              </a:rPr>
              <a:t>    </a:t>
            </a:r>
            <a:r>
              <a:rPr b="0" lang="en-US" sz="1050" spc="-1" strike="noStrike">
                <a:solidFill>
                  <a:srgbClr val="bffbef"/>
                </a:solidFill>
                <a:latin typeface="Courier New"/>
                <a:ea typeface="Courier New"/>
              </a:rPr>
              <a:t>await LEFT_ATTACHMENT.run_angle(360, 180)</a:t>
            </a:r>
            <a:endParaRPr b="0" lang="en-US" sz="1050" spc="-1" strike="noStrike">
              <a:solidFill>
                <a:srgbClr val="ffffff"/>
              </a:solidFill>
              <a:latin typeface="Arial"/>
            </a:endParaRPr>
          </a:p>
        </p:txBody>
      </p:sp>
      <p:sp>
        <p:nvSpPr>
          <p:cNvPr id="142" name="Text 4"/>
          <p:cNvSpPr/>
          <p:nvPr/>
        </p:nvSpPr>
        <p:spPr>
          <a:xfrm>
            <a:off x="5669280" y="1005840"/>
            <a:ext cx="3017160" cy="255996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0000"/>
              </a:lnSpc>
              <a:spcAft>
                <a:spcPts val="601"/>
              </a:spcAft>
              <a:buClr>
                <a:srgbClr val="e8f1ff"/>
              </a:buClr>
              <a:buFont typeface="Symbol" charset="2"/>
              <a:buChar char=""/>
            </a:pPr>
            <a:r>
              <a:rPr b="0" lang="en-US" sz="1200" spc="-1" strike="noStrike">
                <a:solidFill>
                  <a:srgbClr val="e8f1ff"/>
                </a:solidFill>
                <a:latin typeface="Calibri"/>
                <a:ea typeface="Calibri"/>
              </a:rPr>
              <a:t>Gears list: motor gear first, final gear last</a:t>
            </a:r>
            <a:endParaRPr b="0" lang="en-US" sz="1200" spc="-1" strike="noStrike">
              <a:solidFill>
                <a:srgbClr val="ffffff"/>
              </a:solidFill>
              <a:latin typeface="Arial"/>
            </a:endParaRPr>
          </a:p>
          <a:p>
            <a:pPr marL="343080" indent="-343080" defTabSz="914400">
              <a:lnSpc>
                <a:spcPct val="100000"/>
              </a:lnSpc>
              <a:spcAft>
                <a:spcPts val="601"/>
              </a:spcAft>
              <a:buClr>
                <a:srgbClr val="e8f1ff"/>
              </a:buClr>
              <a:buFont typeface="Symbol" charset="2"/>
              <a:buChar char=""/>
            </a:pPr>
            <a:r>
              <a:rPr b="0" lang="en-US" sz="1200" spc="-1" strike="noStrike">
                <a:solidFill>
                  <a:srgbClr val="e8f1ff"/>
                </a:solidFill>
                <a:latin typeface="Calibri"/>
                <a:ea typeface="Calibri"/>
              </a:rPr>
              <a:t>Idler gears cancel out: [8, 16, 24] = ratio 3</a:t>
            </a:r>
            <a:endParaRPr b="0" lang="en-US" sz="1200" spc="-1" strike="noStrike">
              <a:solidFill>
                <a:srgbClr val="ffffff"/>
              </a:solidFill>
              <a:latin typeface="Arial"/>
            </a:endParaRPr>
          </a:p>
          <a:p>
            <a:pPr marL="343080" indent="-343080" defTabSz="914400">
              <a:lnSpc>
                <a:spcPct val="100000"/>
              </a:lnSpc>
              <a:spcAft>
                <a:spcPts val="601"/>
              </a:spcAft>
              <a:buClr>
                <a:srgbClr val="e8f1ff"/>
              </a:buClr>
              <a:buFont typeface="Symbol" charset="2"/>
              <a:buChar char=""/>
            </a:pPr>
            <a:r>
              <a:rPr b="0" lang="en-US" sz="1200" spc="-1" strike="noStrike">
                <a:solidFill>
                  <a:srgbClr val="e8f1ff"/>
                </a:solidFill>
                <a:latin typeface="Calibri"/>
                <a:ea typeface="Calibri"/>
              </a:rPr>
              <a:t>(24, 8) = two gears on the SAME axle</a:t>
            </a:r>
            <a:endParaRPr b="0" lang="en-US" sz="1200" spc="-1" strike="noStrike">
              <a:solidFill>
                <a:srgbClr val="ffffff"/>
              </a:solidFill>
              <a:latin typeface="Arial"/>
            </a:endParaRPr>
          </a:p>
          <a:p>
            <a:pPr marL="343080" indent="-343080" defTabSz="914400">
              <a:lnSpc>
                <a:spcPct val="100000"/>
              </a:lnSpc>
              <a:spcAft>
                <a:spcPts val="601"/>
              </a:spcAft>
              <a:buClr>
                <a:srgbClr val="e8f1ff"/>
              </a:buClr>
              <a:buFont typeface="Symbol" charset="2"/>
              <a:buChar char=""/>
            </a:pPr>
            <a:r>
              <a:rPr b="0" lang="en-US" sz="1200" spc="-1" strike="noStrike">
                <a:solidFill>
                  <a:srgbClr val="e8f1ff"/>
                </a:solidFill>
                <a:latin typeface="Calibri"/>
                <a:ea typeface="Calibri"/>
              </a:rPr>
              <a:t>[8, 24, 8, 40] means four gears in a line</a:t>
            </a:r>
            <a:endParaRPr b="0" lang="en-US" sz="1200" spc="-1" strike="noStrike">
              <a:solidFill>
                <a:srgbClr val="ffffff"/>
              </a:solidFill>
              <a:latin typeface="Arial"/>
            </a:endParaRPr>
          </a:p>
          <a:p>
            <a:pPr marL="343080" indent="-343080" defTabSz="914400">
              <a:lnSpc>
                <a:spcPct val="100000"/>
              </a:lnSpc>
              <a:spcAft>
                <a:spcPts val="601"/>
              </a:spcAft>
              <a:buClr>
                <a:srgbClr val="e8f1ff"/>
              </a:buClr>
              <a:buFont typeface="Symbol" charset="2"/>
              <a:buChar char=""/>
            </a:pPr>
            <a:r>
              <a:rPr b="0" lang="en-US" sz="1200" spc="-1" strike="noStrike">
                <a:solidFill>
                  <a:srgbClr val="e8f1ff"/>
                </a:solidFill>
                <a:latin typeface="Calibri"/>
                <a:ea typeface="Calibri"/>
              </a:rPr>
              <a:t>run_angle uses output angle and speed; it resets the angle each call</a:t>
            </a:r>
            <a:endParaRPr b="0" lang="en-US" sz="1200" spc="-1" strike="noStrike">
              <a:solidFill>
                <a:srgbClr val="ffffff"/>
              </a:solidFill>
              <a:latin typeface="Arial"/>
            </a:endParaRPr>
          </a:p>
        </p:txBody>
      </p:sp>
      <p:sp>
        <p:nvSpPr>
          <p:cNvPr id="143" name="Shape 5"/>
          <p:cNvSpPr/>
          <p:nvPr/>
        </p:nvSpPr>
        <p:spPr>
          <a:xfrm>
            <a:off x="457200" y="3657600"/>
            <a:ext cx="8229240" cy="914040"/>
          </a:xfrm>
          <a:prstGeom prst="roundRect">
            <a:avLst>
              <a:gd name="adj" fmla="val 10000"/>
            </a:avLst>
          </a:prstGeom>
          <a:solidFill>
            <a:srgbClr val="2a2210"/>
          </a:solidFill>
          <a:ln w="15875">
            <a:solidFill>
              <a:srgbClr val="ffc857"/>
            </a:solidFill>
            <a:prstDash val="dash"/>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4" name="Text 6"/>
          <p:cNvSpPr/>
          <p:nvPr/>
        </p:nvSpPr>
        <p:spPr>
          <a:xfrm>
            <a:off x="594360" y="3721680"/>
            <a:ext cx="7954920" cy="785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c857"/>
                </a:solidFill>
                <a:latin typeface="Calibri"/>
                <a:ea typeface="Calibri"/>
              </a:rPr>
              <a:t>✎ </a:t>
            </a:r>
            <a:r>
              <a:rPr b="1" lang="en-US" sz="1300" spc="-1" strike="noStrike">
                <a:solidFill>
                  <a:srgbClr val="ffc857"/>
                </a:solidFill>
                <a:latin typeface="Calibri"/>
                <a:ea typeface="Calibri"/>
              </a:rPr>
              <a:t>Braxton, fill this in:  </a:t>
            </a:r>
            <a:r>
              <a:rPr b="0" lang="en-US" sz="1300" spc="-1" strike="noStrike">
                <a:solidFill>
                  <a:srgbClr val="e8f1ff"/>
                </a:solidFill>
                <a:latin typeface="Calibri"/>
                <a:ea typeface="Calibri"/>
              </a:rPr>
              <a:t>Fill in per run: Run 1 gears ___ direction ___; Run 2 gears ___ direction ___. Does the motor reach the speed you ask for through the ratio?</a:t>
            </a:r>
            <a:endParaRPr b="0" lang="en-US" sz="1300" spc="-1" strike="noStrike">
              <a:solidFill>
                <a:srgbClr val="ffffff"/>
              </a:solidFill>
              <a:latin typeface="Arial"/>
            </a:endParaRPr>
          </a:p>
        </p:txBody>
      </p:sp>
      <p:sp>
        <p:nvSpPr>
          <p:cNvPr id="145" name="PlaceHolder 1"/>
          <p:cNvSpPr>
            <a:spLocks noGrp="1"/>
          </p:cNvSpPr>
          <p:nvPr>
            <p:ph type="sldNum" idx="13"/>
          </p:nvPr>
        </p:nvSpPr>
        <p:spPr>
          <a:xfrm>
            <a:off x="8321040" y="4754880"/>
            <a:ext cx="456840" cy="388440"/>
          </a:xfrm>
          <a:prstGeom prst="rect">
            <a:avLst/>
          </a:prstGeom>
          <a:noFill/>
          <a:ln w="0">
            <a:noFill/>
          </a:ln>
        </p:spPr>
        <p:txBody>
          <a:bodyPr lIns="90000" rIns="90000" tIns="45000" bIns="45000" anchor="t">
            <a:noAutofit/>
          </a:bodyPr>
          <a:lstStyle>
            <a:lvl1pPr indent="0" algn="r" defTabSz="914400">
              <a:lnSpc>
                <a:spcPct val="100000"/>
              </a:lnSpc>
              <a:buNone/>
              <a:defRPr b="0" lang="en-US" sz="1000" spc="-1" strike="noStrike">
                <a:solidFill>
                  <a:srgbClr val="8fa3c7"/>
                </a:solidFill>
                <a:latin typeface="Calibri"/>
                <a:ea typeface="Calibri"/>
              </a:defRPr>
            </a:lvl1pPr>
          </a:lstStyle>
          <a:p>
            <a:pPr indent="0" algn="r" defTabSz="914400">
              <a:lnSpc>
                <a:spcPct val="100000"/>
              </a:lnSpc>
              <a:buNone/>
            </a:pPr>
            <a:fld id="{54B8A6F2-E19E-4883-88C4-52983B9C7BCA}" type="slidenum">
              <a:rPr b="0" lang="en-US" sz="1000" spc="-1" strike="noStrike">
                <a:solidFill>
                  <a:srgbClr val="8fa3c7"/>
                </a:solidFill>
                <a:latin typeface="Calibri"/>
                <a:ea typeface="Calibri"/>
              </a:rPr>
              <a:t>&lt;number&gt;</a:t>
            </a:fld>
            <a:endParaRPr b="0" lang="en-US" sz="10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Text 0"/>
          <p:cNvSpPr/>
          <p:nvPr/>
        </p:nvSpPr>
        <p:spPr>
          <a:xfrm>
            <a:off x="457200" y="274320"/>
            <a:ext cx="69490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e8f1ff"/>
                </a:solidFill>
                <a:latin typeface="Cambria"/>
                <a:ea typeface="Cambria"/>
              </a:rPr>
              <a:t>Multitask 1: drive and move an attachment</a:t>
            </a:r>
            <a:endParaRPr b="0" lang="en-US" sz="2800" spc="-1" strike="noStrike">
              <a:solidFill>
                <a:srgbClr val="ffffff"/>
              </a:solidFill>
              <a:latin typeface="Arial"/>
            </a:endParaRPr>
          </a:p>
        </p:txBody>
      </p:sp>
      <p:sp>
        <p:nvSpPr>
          <p:cNvPr id="147" name="Text 1"/>
          <p:cNvSpPr/>
          <p:nvPr/>
        </p:nvSpPr>
        <p:spPr>
          <a:xfrm>
            <a:off x="7498080" y="347400"/>
            <a:ext cx="1188360" cy="310680"/>
          </a:xfrm>
          <a:prstGeom prst="roundRect">
            <a:avLst>
              <a:gd name="adj" fmla="val 50000"/>
            </a:avLst>
          </a:prstGeom>
          <a:solidFill>
            <a:srgbClr val="22e6c4"/>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0a1020"/>
                </a:solidFill>
                <a:latin typeface="Calibri"/>
              </a:rPr>
              <a:t>Ethan</a:t>
            </a:r>
            <a:endParaRPr b="0" lang="en-US" sz="1100" spc="-1" strike="noStrike">
              <a:solidFill>
                <a:srgbClr val="000000"/>
              </a:solidFill>
              <a:latin typeface="Arial"/>
            </a:endParaRPr>
          </a:p>
        </p:txBody>
      </p:sp>
      <p:sp>
        <p:nvSpPr>
          <p:cNvPr id="148" name="Shape 2"/>
          <p:cNvSpPr/>
          <p:nvPr/>
        </p:nvSpPr>
        <p:spPr>
          <a:xfrm>
            <a:off x="457200" y="1005840"/>
            <a:ext cx="4937400" cy="2102760"/>
          </a:xfrm>
          <a:prstGeom prst="roundRect">
            <a:avLst>
              <a:gd name="adj" fmla="val 3478"/>
            </a:avLst>
          </a:prstGeom>
          <a:solidFill>
            <a:srgbClr val="050a16"/>
          </a:solidFill>
          <a:ln w="12700">
            <a:solidFill>
              <a:srgbClr val="22304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9" name="Text 3"/>
          <p:cNvSpPr/>
          <p:nvPr/>
        </p:nvSpPr>
        <p:spPr>
          <a:xfrm>
            <a:off x="567000" y="1078920"/>
            <a:ext cx="4717800" cy="19566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00" spc="-1" strike="noStrike">
                <a:solidFill>
                  <a:srgbClr val="bffbef"/>
                </a:solidFill>
                <a:latin typeface="Courier New"/>
                <a:ea typeface="Courier New"/>
              </a:rPr>
              <a:t>from pybricks.tools import multitask</a:t>
            </a:r>
            <a:endParaRPr b="0" lang="en-US" sz="1100" spc="-1" strike="noStrike">
              <a:solidFill>
                <a:srgbClr val="ffffff"/>
              </a:solidFill>
              <a:latin typeface="Arial"/>
            </a:endParaRPr>
          </a:p>
          <a:p>
            <a:pPr defTabSz="914400">
              <a:lnSpc>
                <a:spcPct val="100000"/>
              </a:lnSpc>
              <a:tabLst>
                <a:tab algn="l" pos="0"/>
              </a:tabLst>
            </a:pP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async def run3():</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    </a:t>
            </a:r>
            <a:r>
              <a:rPr b="0" lang="en-US" sz="1100" spc="-1" strike="noStrike">
                <a:solidFill>
                  <a:srgbClr val="bffbef"/>
                </a:solidFill>
                <a:latin typeface="Courier New"/>
                <a:ea typeface="Courier New"/>
              </a:rPr>
              <a:t>await multitask(</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        </a:t>
            </a:r>
            <a:r>
              <a:rPr b="0" lang="en-US" sz="1100" spc="-1" strike="noStrike">
                <a:solidFill>
                  <a:srgbClr val="bffbef"/>
                </a:solidFill>
                <a:latin typeface="Courier New"/>
                <a:ea typeface="Courier New"/>
              </a:rPr>
              <a:t>DRIVE_BASE.straight(400),   # lane 1: drive</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        </a:t>
            </a:r>
            <a:r>
              <a:rPr b="0" lang="en-US" sz="1100" spc="-1" strike="noStrike">
                <a:solidFill>
                  <a:srgbClr val="bffbef"/>
                </a:solidFill>
                <a:latin typeface="Courier New"/>
                <a:ea typeface="Courier New"/>
              </a:rPr>
              <a:t>lift_arm_up(),              # lane 2: arm moves</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    </a:t>
            </a:r>
            <a:r>
              <a:rPr b="0" lang="en-US" sz="1100" spc="-1" strike="noStrike">
                <a:solidFill>
                  <a:srgbClr val="bffbef"/>
                </a:solidFill>
                <a:latin typeface="Courier New"/>
                <a:ea typeface="Courier New"/>
              </a:rPr>
              <a:t>)</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    </a:t>
            </a:r>
            <a:r>
              <a:rPr b="0" lang="en-US" sz="1100" spc="-1" strike="noStrike">
                <a:solidFill>
                  <a:srgbClr val="bffbef"/>
                </a:solidFill>
                <a:latin typeface="Courier New"/>
                <a:ea typeface="Courier New"/>
              </a:rPr>
              <a:t># code below waits until BOTH are done</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    </a:t>
            </a:r>
            <a:r>
              <a:rPr b="0" lang="en-US" sz="1100" spc="-1" strike="noStrike">
                <a:solidFill>
                  <a:srgbClr val="bffbef"/>
                </a:solidFill>
                <a:latin typeface="Courier New"/>
                <a:ea typeface="Courier New"/>
              </a:rPr>
              <a:t>await DRIVE_BASE.turn(90)</a:t>
            </a:r>
            <a:endParaRPr b="0" lang="en-US" sz="1100" spc="-1" strike="noStrike">
              <a:solidFill>
                <a:srgbClr val="ffffff"/>
              </a:solidFill>
              <a:latin typeface="Arial"/>
            </a:endParaRPr>
          </a:p>
        </p:txBody>
      </p:sp>
      <p:sp>
        <p:nvSpPr>
          <p:cNvPr id="150" name="Shape 4"/>
          <p:cNvSpPr/>
          <p:nvPr/>
        </p:nvSpPr>
        <p:spPr>
          <a:xfrm>
            <a:off x="5577840" y="1005840"/>
            <a:ext cx="3108600" cy="2102760"/>
          </a:xfrm>
          <a:prstGeom prst="roundRect">
            <a:avLst>
              <a:gd name="adj" fmla="val 4348"/>
            </a:avLst>
          </a:prstGeom>
          <a:solidFill>
            <a:srgbClr val="141e38"/>
          </a:solidFill>
          <a:ln w="12700">
            <a:solidFill>
              <a:srgbClr val="141e3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1" name="Text 5"/>
          <p:cNvSpPr/>
          <p:nvPr/>
        </p:nvSpPr>
        <p:spPr>
          <a:xfrm>
            <a:off x="5715000" y="1188720"/>
            <a:ext cx="283428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pc="-1" strike="noStrike">
                <a:solidFill>
                  <a:srgbClr val="22e6c4"/>
                </a:solidFill>
                <a:latin typeface="Courier New"/>
                <a:ea typeface="Courier New"/>
              </a:rPr>
              <a:t>Lane 1  drive ━━━━━━▶</a:t>
            </a:r>
            <a:endParaRPr b="0" lang="en-US" sz="1300" spc="-1" strike="noStrike">
              <a:solidFill>
                <a:srgbClr val="ffffff"/>
              </a:solidFill>
              <a:latin typeface="Arial"/>
            </a:endParaRPr>
          </a:p>
        </p:txBody>
      </p:sp>
      <p:sp>
        <p:nvSpPr>
          <p:cNvPr id="152" name="Text 6"/>
          <p:cNvSpPr/>
          <p:nvPr/>
        </p:nvSpPr>
        <p:spPr>
          <a:xfrm>
            <a:off x="5715000" y="1645920"/>
            <a:ext cx="283428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pc="-1" strike="noStrike">
                <a:solidFill>
                  <a:srgbClr val="b26bff"/>
                </a:solidFill>
                <a:latin typeface="Courier New"/>
                <a:ea typeface="Courier New"/>
              </a:rPr>
              <a:t>Lane 2  arm   ━━━▶</a:t>
            </a:r>
            <a:endParaRPr b="0" lang="en-US" sz="1300" spc="-1" strike="noStrike">
              <a:solidFill>
                <a:srgbClr val="ffffff"/>
              </a:solidFill>
              <a:latin typeface="Arial"/>
            </a:endParaRPr>
          </a:p>
        </p:txBody>
      </p:sp>
      <p:sp>
        <p:nvSpPr>
          <p:cNvPr id="153" name="Text 7"/>
          <p:cNvSpPr/>
          <p:nvPr/>
        </p:nvSpPr>
        <p:spPr>
          <a:xfrm>
            <a:off x="5715000" y="2194560"/>
            <a:ext cx="2834280" cy="731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00" spc="-1" strike="noStrike">
                <a:solidFill>
                  <a:srgbClr val="e8f1ff"/>
                </a:solidFill>
                <a:latin typeface="Calibri"/>
              </a:rPr>
              <a:t>Next step starts when the slowest lane finishes.</a:t>
            </a:r>
            <a:endParaRPr b="0" lang="en-US" sz="1300" spc="-1" strike="noStrike">
              <a:solidFill>
                <a:srgbClr val="ffffff"/>
              </a:solidFill>
              <a:latin typeface="Arial"/>
            </a:endParaRPr>
          </a:p>
        </p:txBody>
      </p:sp>
      <p:sp>
        <p:nvSpPr>
          <p:cNvPr id="154" name="Shape 8"/>
          <p:cNvSpPr/>
          <p:nvPr/>
        </p:nvSpPr>
        <p:spPr>
          <a:xfrm>
            <a:off x="457200" y="3291840"/>
            <a:ext cx="8229240" cy="1188360"/>
          </a:xfrm>
          <a:prstGeom prst="roundRect">
            <a:avLst>
              <a:gd name="adj" fmla="val 7692"/>
            </a:avLst>
          </a:prstGeom>
          <a:solidFill>
            <a:srgbClr val="2a2210"/>
          </a:solidFill>
          <a:ln w="15875">
            <a:solidFill>
              <a:srgbClr val="ffc857"/>
            </a:solidFill>
            <a:prstDash val="dash"/>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5" name="Text 9"/>
          <p:cNvSpPr/>
          <p:nvPr/>
        </p:nvSpPr>
        <p:spPr>
          <a:xfrm>
            <a:off x="594360" y="3355920"/>
            <a:ext cx="7954920" cy="1060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c857"/>
                </a:solidFill>
                <a:latin typeface="Calibri"/>
                <a:ea typeface="Calibri"/>
              </a:rPr>
              <a:t>✎ </a:t>
            </a:r>
            <a:r>
              <a:rPr b="1" lang="en-US" sz="1300" spc="-1" strike="noStrike">
                <a:solidFill>
                  <a:srgbClr val="ffc857"/>
                </a:solidFill>
                <a:latin typeface="Calibri"/>
                <a:ea typeface="Calibri"/>
              </a:rPr>
              <a:t>Ethan, fill this in:  </a:t>
            </a:r>
            <a:r>
              <a:rPr b="0" lang="en-US" sz="1300" spc="-1" strike="noStrike">
                <a:solidFill>
                  <a:srgbClr val="e8f1ff"/>
                </a:solidFill>
                <a:latin typeface="Calibri"/>
                <a:ea typeface="Calibri"/>
              </a:rPr>
              <a:t>Run the demo (depreciated/run_demo_6_multi_tasking.py). What changed on the robot? Why does it save time on the mat?</a:t>
            </a:r>
            <a:endParaRPr b="0" lang="en-US" sz="1300" spc="-1" strike="noStrike">
              <a:solidFill>
                <a:srgbClr val="ffffff"/>
              </a:solidFill>
              <a:latin typeface="Arial"/>
            </a:endParaRPr>
          </a:p>
        </p:txBody>
      </p:sp>
      <p:sp>
        <p:nvSpPr>
          <p:cNvPr id="156" name="PlaceHolder 1"/>
          <p:cNvSpPr>
            <a:spLocks noGrp="1"/>
          </p:cNvSpPr>
          <p:nvPr>
            <p:ph type="sldNum" idx="14"/>
          </p:nvPr>
        </p:nvSpPr>
        <p:spPr>
          <a:xfrm>
            <a:off x="8321040" y="4754880"/>
            <a:ext cx="456840" cy="388440"/>
          </a:xfrm>
          <a:prstGeom prst="rect">
            <a:avLst/>
          </a:prstGeom>
          <a:noFill/>
          <a:ln w="0">
            <a:noFill/>
          </a:ln>
        </p:spPr>
        <p:txBody>
          <a:bodyPr lIns="90000" rIns="90000" tIns="45000" bIns="45000" anchor="t">
            <a:noAutofit/>
          </a:bodyPr>
          <a:lstStyle>
            <a:lvl1pPr indent="0" algn="r" defTabSz="914400">
              <a:lnSpc>
                <a:spcPct val="100000"/>
              </a:lnSpc>
              <a:buNone/>
              <a:defRPr b="0" lang="en-US" sz="1000" spc="-1" strike="noStrike">
                <a:solidFill>
                  <a:srgbClr val="8fa3c7"/>
                </a:solidFill>
                <a:latin typeface="Calibri"/>
                <a:ea typeface="Calibri"/>
              </a:defRPr>
            </a:lvl1pPr>
          </a:lstStyle>
          <a:p>
            <a:pPr indent="0" algn="r" defTabSz="914400">
              <a:lnSpc>
                <a:spcPct val="100000"/>
              </a:lnSpc>
              <a:buNone/>
            </a:pPr>
            <a:fld id="{EFFFBB4F-178B-481D-831F-96686E296E75}" type="slidenum">
              <a:rPr b="0" lang="en-US" sz="1000" spc="-1" strike="noStrike">
                <a:solidFill>
                  <a:srgbClr val="8fa3c7"/>
                </a:solidFill>
                <a:latin typeface="Calibri"/>
                <a:ea typeface="Calibri"/>
              </a:rPr>
              <a:t>&lt;number&gt;</a:t>
            </a:fld>
            <a:endParaRPr b="0" lang="en-US" sz="10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Text 0"/>
          <p:cNvSpPr/>
          <p:nvPr/>
        </p:nvSpPr>
        <p:spPr>
          <a:xfrm>
            <a:off x="457200" y="274320"/>
            <a:ext cx="69490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e8f1ff"/>
                </a:solidFill>
                <a:latin typeface="Cambria"/>
                <a:ea typeface="Cambria"/>
              </a:rPr>
              <a:t>Multitask 2: drive while the sensor watches</a:t>
            </a:r>
            <a:endParaRPr b="0" lang="en-US" sz="2800" spc="-1" strike="noStrike">
              <a:solidFill>
                <a:srgbClr val="ffffff"/>
              </a:solidFill>
              <a:latin typeface="Arial"/>
            </a:endParaRPr>
          </a:p>
        </p:txBody>
      </p:sp>
      <p:sp>
        <p:nvSpPr>
          <p:cNvPr id="158" name="Text 1"/>
          <p:cNvSpPr/>
          <p:nvPr/>
        </p:nvSpPr>
        <p:spPr>
          <a:xfrm>
            <a:off x="7498080" y="347400"/>
            <a:ext cx="1188360" cy="310680"/>
          </a:xfrm>
          <a:prstGeom prst="roundRect">
            <a:avLst>
              <a:gd name="adj" fmla="val 50000"/>
            </a:avLst>
          </a:prstGeom>
          <a:solidFill>
            <a:srgbClr val="22e6c4"/>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0a1020"/>
                </a:solidFill>
                <a:latin typeface="Calibri"/>
              </a:rPr>
              <a:t>Ethan</a:t>
            </a:r>
            <a:endParaRPr b="0" lang="en-US" sz="1100" spc="-1" strike="noStrike">
              <a:solidFill>
                <a:srgbClr val="000000"/>
              </a:solidFill>
              <a:latin typeface="Arial"/>
            </a:endParaRPr>
          </a:p>
        </p:txBody>
      </p:sp>
      <p:sp>
        <p:nvSpPr>
          <p:cNvPr id="159" name="Shape 2"/>
          <p:cNvSpPr/>
          <p:nvPr/>
        </p:nvSpPr>
        <p:spPr>
          <a:xfrm>
            <a:off x="457200" y="1005840"/>
            <a:ext cx="5120280" cy="2742840"/>
          </a:xfrm>
          <a:prstGeom prst="roundRect">
            <a:avLst>
              <a:gd name="adj" fmla="val 2667"/>
            </a:avLst>
          </a:prstGeom>
          <a:solidFill>
            <a:srgbClr val="050a16"/>
          </a:solidFill>
          <a:ln w="12700">
            <a:solidFill>
              <a:srgbClr val="22304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0" name="Text 3"/>
          <p:cNvSpPr/>
          <p:nvPr/>
        </p:nvSpPr>
        <p:spPr>
          <a:xfrm>
            <a:off x="567000" y="1078920"/>
            <a:ext cx="4900680" cy="2596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00" spc="-1" strike="noStrike">
                <a:solidFill>
                  <a:srgbClr val="bffbef"/>
                </a:solidFill>
                <a:latin typeface="Courier New"/>
                <a:ea typeface="Courier New"/>
              </a:rPr>
              <a:t>async def wait_for_black(sensor, limit=15):</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    </a:t>
            </a:r>
            <a:r>
              <a:rPr b="0" lang="en-US" sz="1100" spc="-1" strike="noStrike">
                <a:solidFill>
                  <a:srgbClr val="bffbef"/>
                </a:solidFill>
                <a:latin typeface="Courier New"/>
                <a:ea typeface="Courier New"/>
              </a:rPr>
              <a:t>while await sensor.reflection() &gt; limit:</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        </a:t>
            </a:r>
            <a:r>
              <a:rPr b="0" lang="en-US" sz="1100" spc="-1" strike="noStrike">
                <a:solidFill>
                  <a:srgbClr val="bffbef"/>
                </a:solidFill>
                <a:latin typeface="Courier New"/>
                <a:ea typeface="Courier New"/>
              </a:rPr>
              <a:t>await wait(10)</a:t>
            </a:r>
            <a:endParaRPr b="0" lang="en-US" sz="1100" spc="-1" strike="noStrike">
              <a:solidFill>
                <a:srgbClr val="ffffff"/>
              </a:solidFill>
              <a:latin typeface="Arial"/>
            </a:endParaRPr>
          </a:p>
          <a:p>
            <a:pPr defTabSz="914400">
              <a:lnSpc>
                <a:spcPct val="100000"/>
              </a:lnSpc>
              <a:tabLst>
                <a:tab algn="l" pos="0"/>
              </a:tabLst>
            </a:pP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async def drive_to_line():</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    </a:t>
            </a:r>
            <a:r>
              <a:rPr b="0" lang="en-US" sz="1100" spc="-1" strike="noStrike">
                <a:solidFill>
                  <a:srgbClr val="bffbef"/>
                </a:solidFill>
                <a:latin typeface="Courier New"/>
                <a:ea typeface="Courier New"/>
              </a:rPr>
              <a:t>await multitask(</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        </a:t>
            </a:r>
            <a:r>
              <a:rPr b="0" lang="en-US" sz="1100" spc="-1" strike="noStrike">
                <a:solidFill>
                  <a:srgbClr val="bffbef"/>
                </a:solidFill>
                <a:latin typeface="Courier New"/>
                <a:ea typeface="Courier New"/>
              </a:rPr>
              <a:t>DRIVE_BASE.straight(600),</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        </a:t>
            </a:r>
            <a:r>
              <a:rPr b="0" lang="en-US" sz="1100" spc="-1" strike="noStrike">
                <a:solidFill>
                  <a:srgbClr val="bffbef"/>
                </a:solidFill>
                <a:latin typeface="Courier New"/>
                <a:ea typeface="Courier New"/>
              </a:rPr>
              <a:t>wait_for_black(RIGHT_COLOR_SENSOR),</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        </a:t>
            </a:r>
            <a:r>
              <a:rPr b="0" lang="en-US" sz="1100" spc="-1" strike="noStrike">
                <a:solidFill>
                  <a:srgbClr val="bffbef"/>
                </a:solidFill>
                <a:latin typeface="Courier New"/>
                <a:ea typeface="Courier New"/>
              </a:rPr>
              <a:t>race=True,          # stop when the FIRST lane ends</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    </a:t>
            </a:r>
            <a:r>
              <a:rPr b="0" lang="en-US" sz="1100" spc="-1" strike="noStrike">
                <a:solidFill>
                  <a:srgbClr val="bffbef"/>
                </a:solidFill>
                <a:latin typeface="Courier New"/>
                <a:ea typeface="Courier New"/>
              </a:rPr>
              <a:t>)</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    </a:t>
            </a:r>
            <a:r>
              <a:rPr b="0" lang="en-US" sz="1100" spc="-1" strike="noStrike">
                <a:solidFill>
                  <a:srgbClr val="bffbef"/>
                </a:solidFill>
                <a:latin typeface="Courier New"/>
                <a:ea typeface="Courier New"/>
              </a:rPr>
              <a:t>DRIVE_BASE.stop()</a:t>
            </a:r>
            <a:endParaRPr b="0" lang="en-US" sz="1100" spc="-1" strike="noStrike">
              <a:solidFill>
                <a:srgbClr val="ffffff"/>
              </a:solidFill>
              <a:latin typeface="Arial"/>
            </a:endParaRPr>
          </a:p>
          <a:p>
            <a:pPr defTabSz="914400">
              <a:lnSpc>
                <a:spcPct val="100000"/>
              </a:lnSpc>
              <a:tabLst>
                <a:tab algn="l" pos="0"/>
              </a:tabLst>
            </a:pP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 arm moves while we drive to the line</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await multitask(drive_to_line(), lift_arm_up())</a:t>
            </a:r>
            <a:endParaRPr b="0" lang="en-US" sz="1100" spc="-1" strike="noStrike">
              <a:solidFill>
                <a:srgbClr val="ffffff"/>
              </a:solidFill>
              <a:latin typeface="Arial"/>
            </a:endParaRPr>
          </a:p>
        </p:txBody>
      </p:sp>
      <p:sp>
        <p:nvSpPr>
          <p:cNvPr id="161" name="Text 4"/>
          <p:cNvSpPr/>
          <p:nvPr/>
        </p:nvSpPr>
        <p:spPr>
          <a:xfrm>
            <a:off x="5760720" y="1051560"/>
            <a:ext cx="2925720" cy="201132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0000"/>
              </a:lnSpc>
              <a:spcAft>
                <a:spcPts val="601"/>
              </a:spcAft>
              <a:buClr>
                <a:srgbClr val="e8f1ff"/>
              </a:buClr>
              <a:buFont typeface="Symbol" charset="2"/>
              <a:buChar char=""/>
            </a:pPr>
            <a:r>
              <a:rPr b="0" lang="en-US" sz="1300" spc="-1" strike="noStrike">
                <a:solidFill>
                  <a:srgbClr val="e8f1ff"/>
                </a:solidFill>
                <a:latin typeface="Calibri"/>
                <a:ea typeface="Calibri"/>
              </a:rPr>
              <a:t>race=True: first lane to finish cancels the rest</a:t>
            </a:r>
            <a:endParaRPr b="0" lang="en-US" sz="1300" spc="-1" strike="noStrike">
              <a:solidFill>
                <a:srgbClr val="ffffff"/>
              </a:solidFill>
              <a:latin typeface="Arial"/>
            </a:endParaRPr>
          </a:p>
          <a:p>
            <a:pPr marL="343080" indent="-343080" defTabSz="914400">
              <a:lnSpc>
                <a:spcPct val="100000"/>
              </a:lnSpc>
              <a:spcAft>
                <a:spcPts val="601"/>
              </a:spcAft>
              <a:buClr>
                <a:srgbClr val="e8f1ff"/>
              </a:buClr>
              <a:buFont typeface="Symbol" charset="2"/>
              <a:buChar char=""/>
            </a:pPr>
            <a:r>
              <a:rPr b="0" lang="en-US" sz="1300" spc="-1" strike="noStrike">
                <a:solidFill>
                  <a:srgbClr val="e8f1ff"/>
                </a:solidFill>
                <a:latin typeface="Calibri"/>
                <a:ea typeface="Calibri"/>
              </a:rPr>
              <a:t>Line = a known spot, so drift is reset</a:t>
            </a:r>
            <a:endParaRPr b="0" lang="en-US" sz="1300" spc="-1" strike="noStrike">
              <a:solidFill>
                <a:srgbClr val="ffffff"/>
              </a:solidFill>
              <a:latin typeface="Arial"/>
            </a:endParaRPr>
          </a:p>
          <a:p>
            <a:pPr marL="343080" indent="-343080" defTabSz="914400">
              <a:lnSpc>
                <a:spcPct val="100000"/>
              </a:lnSpc>
              <a:spcAft>
                <a:spcPts val="601"/>
              </a:spcAft>
              <a:buClr>
                <a:srgbClr val="e8f1ff"/>
              </a:buClr>
              <a:buFont typeface="Symbol" charset="2"/>
              <a:buChar char=""/>
            </a:pPr>
            <a:r>
              <a:rPr b="0" lang="en-US" sz="1300" spc="-1" strike="noStrike">
                <a:solidFill>
                  <a:srgbClr val="e8f1ff"/>
                </a:solidFill>
                <a:latin typeface="Calibri"/>
                <a:ea typeface="Calibri"/>
              </a:rPr>
              <a:t>After the line, drive a fixed distance</a:t>
            </a:r>
            <a:endParaRPr b="0" lang="en-US" sz="1300" spc="-1" strike="noStrike">
              <a:solidFill>
                <a:srgbClr val="ffffff"/>
              </a:solidFill>
              <a:latin typeface="Arial"/>
            </a:endParaRPr>
          </a:p>
        </p:txBody>
      </p:sp>
      <p:sp>
        <p:nvSpPr>
          <p:cNvPr id="162" name="Shape 5"/>
          <p:cNvSpPr/>
          <p:nvPr/>
        </p:nvSpPr>
        <p:spPr>
          <a:xfrm>
            <a:off x="457200" y="3840480"/>
            <a:ext cx="8229240" cy="731160"/>
          </a:xfrm>
          <a:prstGeom prst="roundRect">
            <a:avLst>
              <a:gd name="adj" fmla="val 12500"/>
            </a:avLst>
          </a:prstGeom>
          <a:solidFill>
            <a:srgbClr val="2a2210"/>
          </a:solidFill>
          <a:ln w="15875">
            <a:solidFill>
              <a:srgbClr val="ffc857"/>
            </a:solidFill>
            <a:prstDash val="dash"/>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3" name="Text 6"/>
          <p:cNvSpPr/>
          <p:nvPr/>
        </p:nvSpPr>
        <p:spPr>
          <a:xfrm>
            <a:off x="594360" y="3904560"/>
            <a:ext cx="7954920" cy="603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c857"/>
                </a:solidFill>
                <a:latin typeface="Calibri"/>
                <a:ea typeface="Calibri"/>
              </a:rPr>
              <a:t>✎ </a:t>
            </a:r>
            <a:r>
              <a:rPr b="1" lang="en-US" sz="1300" spc="-1" strike="noStrike">
                <a:solidFill>
                  <a:srgbClr val="ffc857"/>
                </a:solidFill>
                <a:latin typeface="Calibri"/>
                <a:ea typeface="Calibri"/>
              </a:rPr>
              <a:t>Ethan, fill this in:  </a:t>
            </a:r>
            <a:r>
              <a:rPr b="0" lang="en-US" sz="1300" spc="-1" strike="noStrike">
                <a:solidFill>
                  <a:srgbClr val="e8f1ff"/>
                </a:solidFill>
                <a:latin typeface="Calibri"/>
                <a:ea typeface="Calibri"/>
              </a:rPr>
              <a:t>Which mission line will the sensor use to correct the position? Verify on the robot that stop() is called with or without await.</a:t>
            </a:r>
            <a:endParaRPr b="0" lang="en-US" sz="1300" spc="-1" strike="noStrike">
              <a:solidFill>
                <a:srgbClr val="ffffff"/>
              </a:solidFill>
              <a:latin typeface="Arial"/>
            </a:endParaRPr>
          </a:p>
        </p:txBody>
      </p:sp>
      <p:sp>
        <p:nvSpPr>
          <p:cNvPr id="164" name="PlaceHolder 1"/>
          <p:cNvSpPr>
            <a:spLocks noGrp="1"/>
          </p:cNvSpPr>
          <p:nvPr>
            <p:ph type="sldNum" idx="15"/>
          </p:nvPr>
        </p:nvSpPr>
        <p:spPr>
          <a:xfrm>
            <a:off x="8321040" y="4754880"/>
            <a:ext cx="456840" cy="388440"/>
          </a:xfrm>
          <a:prstGeom prst="rect">
            <a:avLst/>
          </a:prstGeom>
          <a:noFill/>
          <a:ln w="0">
            <a:noFill/>
          </a:ln>
        </p:spPr>
        <p:txBody>
          <a:bodyPr lIns="90000" rIns="90000" tIns="45000" bIns="45000" anchor="t">
            <a:noAutofit/>
          </a:bodyPr>
          <a:lstStyle>
            <a:lvl1pPr indent="0" algn="r" defTabSz="914400">
              <a:lnSpc>
                <a:spcPct val="100000"/>
              </a:lnSpc>
              <a:buNone/>
              <a:defRPr b="0" lang="en-US" sz="1000" spc="-1" strike="noStrike">
                <a:solidFill>
                  <a:srgbClr val="8fa3c7"/>
                </a:solidFill>
                <a:latin typeface="Calibri"/>
                <a:ea typeface="Calibri"/>
              </a:defRPr>
            </a:lvl1pPr>
          </a:lstStyle>
          <a:p>
            <a:pPr indent="0" algn="r" defTabSz="914400">
              <a:lnSpc>
                <a:spcPct val="100000"/>
              </a:lnSpc>
              <a:buNone/>
            </a:pPr>
            <a:fld id="{583E36E9-F913-44A4-ADFA-860525A6DB84}" type="slidenum">
              <a:rPr b="0" lang="en-US" sz="1000" spc="-1" strike="noStrike">
                <a:solidFill>
                  <a:srgbClr val="8fa3c7"/>
                </a:solidFill>
                <a:latin typeface="Calibri"/>
                <a:ea typeface="Calibri"/>
              </a:rPr>
              <a:t>&lt;number&gt;</a:t>
            </a:fld>
            <a:endParaRPr b="0" lang="en-US" sz="10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Text 0"/>
          <p:cNvSpPr/>
          <p:nvPr/>
        </p:nvSpPr>
        <p:spPr>
          <a:xfrm>
            <a:off x="457200" y="274320"/>
            <a:ext cx="69490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e8f1ff"/>
                </a:solidFill>
                <a:latin typeface="Cambria"/>
                <a:ea typeface="Cambria"/>
              </a:rPr>
              <a:t>Multitask 3: drive until black or white</a:t>
            </a:r>
            <a:endParaRPr b="0" lang="en-US" sz="2800" spc="-1" strike="noStrike">
              <a:solidFill>
                <a:srgbClr val="ffffff"/>
              </a:solidFill>
              <a:latin typeface="Arial"/>
            </a:endParaRPr>
          </a:p>
        </p:txBody>
      </p:sp>
      <p:sp>
        <p:nvSpPr>
          <p:cNvPr id="166" name="Text 1"/>
          <p:cNvSpPr/>
          <p:nvPr/>
        </p:nvSpPr>
        <p:spPr>
          <a:xfrm>
            <a:off x="7498080" y="347400"/>
            <a:ext cx="1188360" cy="310680"/>
          </a:xfrm>
          <a:prstGeom prst="roundRect">
            <a:avLst>
              <a:gd name="adj" fmla="val 50000"/>
            </a:avLst>
          </a:prstGeom>
          <a:solidFill>
            <a:srgbClr val="22e6c4"/>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0a1020"/>
                </a:solidFill>
                <a:latin typeface="Calibri"/>
              </a:rPr>
              <a:t>Ethan</a:t>
            </a:r>
            <a:endParaRPr b="0" lang="en-US" sz="1100" spc="-1" strike="noStrike">
              <a:solidFill>
                <a:srgbClr val="000000"/>
              </a:solidFill>
              <a:latin typeface="Arial"/>
            </a:endParaRPr>
          </a:p>
        </p:txBody>
      </p:sp>
      <p:sp>
        <p:nvSpPr>
          <p:cNvPr id="167" name="Shape 2"/>
          <p:cNvSpPr/>
          <p:nvPr/>
        </p:nvSpPr>
        <p:spPr>
          <a:xfrm>
            <a:off x="457200" y="1005840"/>
            <a:ext cx="5120280" cy="2377080"/>
          </a:xfrm>
          <a:prstGeom prst="roundRect">
            <a:avLst>
              <a:gd name="adj" fmla="val 3077"/>
            </a:avLst>
          </a:prstGeom>
          <a:solidFill>
            <a:srgbClr val="050a16"/>
          </a:solidFill>
          <a:ln w="12700">
            <a:solidFill>
              <a:srgbClr val="22304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8" name="Text 3"/>
          <p:cNvSpPr/>
          <p:nvPr/>
        </p:nvSpPr>
        <p:spPr>
          <a:xfrm>
            <a:off x="567000" y="1078920"/>
            <a:ext cx="4900680" cy="22309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00" spc="-1" strike="noStrike">
                <a:solidFill>
                  <a:srgbClr val="bffbef"/>
                </a:solidFill>
                <a:latin typeface="Courier New"/>
                <a:ea typeface="Courier New"/>
              </a:rPr>
              <a:t>async def wait_for_reflection(sensor, dark, limit):</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    </a:t>
            </a:r>
            <a:r>
              <a:rPr b="0" lang="en-US" sz="1100" spc="-1" strike="noStrike">
                <a:solidFill>
                  <a:srgbClr val="bffbef"/>
                </a:solidFill>
                <a:latin typeface="Courier New"/>
                <a:ea typeface="Courier New"/>
              </a:rPr>
              <a:t>while True:</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        </a:t>
            </a:r>
            <a:r>
              <a:rPr b="0" lang="en-US" sz="1100" spc="-1" strike="noStrike">
                <a:solidFill>
                  <a:srgbClr val="bffbef"/>
                </a:solidFill>
                <a:latin typeface="Courier New"/>
                <a:ea typeface="Courier New"/>
              </a:rPr>
              <a:t>r = await sensor.reflection()</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        </a:t>
            </a:r>
            <a:r>
              <a:rPr b="0" lang="en-US" sz="1100" spc="-1" strike="noStrike">
                <a:solidFill>
                  <a:srgbClr val="bffbef"/>
                </a:solidFill>
                <a:latin typeface="Courier New"/>
                <a:ea typeface="Courier New"/>
              </a:rPr>
              <a:t>if (r &lt; limit) if dark else (r &gt; limit):</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            </a:t>
            </a:r>
            <a:r>
              <a:rPr b="0" lang="en-US" sz="1100" spc="-1" strike="noStrike">
                <a:solidFill>
                  <a:srgbClr val="bffbef"/>
                </a:solidFill>
                <a:latin typeface="Courier New"/>
                <a:ea typeface="Courier New"/>
              </a:rPr>
              <a:t>return</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        </a:t>
            </a:r>
            <a:r>
              <a:rPr b="0" lang="en-US" sz="1100" spc="-1" strike="noStrike">
                <a:solidFill>
                  <a:srgbClr val="bffbef"/>
                </a:solidFill>
                <a:latin typeface="Courier New"/>
                <a:ea typeface="Courier New"/>
              </a:rPr>
              <a:t>await wait(10)      # check often (not 1000 ms)</a:t>
            </a:r>
            <a:endParaRPr b="0" lang="en-US" sz="1100" spc="-1" strike="noStrike">
              <a:solidFill>
                <a:srgbClr val="ffffff"/>
              </a:solidFill>
              <a:latin typeface="Arial"/>
            </a:endParaRPr>
          </a:p>
          <a:p>
            <a:pPr defTabSz="914400">
              <a:lnSpc>
                <a:spcPct val="100000"/>
              </a:lnSpc>
              <a:tabLst>
                <a:tab algn="l" pos="0"/>
              </a:tabLst>
            </a:pP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async def drive_until(sensor, dark, limit, max_mm=800):</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    </a:t>
            </a:r>
            <a:r>
              <a:rPr b="0" lang="en-US" sz="1100" spc="-1" strike="noStrike">
                <a:solidFill>
                  <a:srgbClr val="bffbef"/>
                </a:solidFill>
                <a:latin typeface="Courier New"/>
                <a:ea typeface="Courier New"/>
              </a:rPr>
              <a:t>await multitask(</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        </a:t>
            </a:r>
            <a:r>
              <a:rPr b="0" lang="en-US" sz="1100" spc="-1" strike="noStrike">
                <a:solidFill>
                  <a:srgbClr val="bffbef"/>
                </a:solidFill>
                <a:latin typeface="Courier New"/>
                <a:ea typeface="Courier New"/>
              </a:rPr>
              <a:t>DRIVE_BASE.straight(max_mm),</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        </a:t>
            </a:r>
            <a:r>
              <a:rPr b="0" lang="en-US" sz="1100" spc="-1" strike="noStrike">
                <a:solidFill>
                  <a:srgbClr val="bffbef"/>
                </a:solidFill>
                <a:latin typeface="Courier New"/>
                <a:ea typeface="Courier New"/>
              </a:rPr>
              <a:t>wait_for_reflection(sensor, dark, limit),</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        </a:t>
            </a:r>
            <a:r>
              <a:rPr b="0" lang="en-US" sz="1100" spc="-1" strike="noStrike">
                <a:solidFill>
                  <a:srgbClr val="bffbef"/>
                </a:solidFill>
                <a:latin typeface="Courier New"/>
                <a:ea typeface="Courier New"/>
              </a:rPr>
              <a:t>race=True,</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    </a:t>
            </a:r>
            <a:r>
              <a:rPr b="0" lang="en-US" sz="1100" spc="-1" strike="noStrike">
                <a:solidFill>
                  <a:srgbClr val="bffbef"/>
                </a:solidFill>
                <a:latin typeface="Courier New"/>
                <a:ea typeface="Courier New"/>
              </a:rPr>
              <a:t>)</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    </a:t>
            </a:r>
            <a:r>
              <a:rPr b="0" lang="en-US" sz="1100" spc="-1" strike="noStrike">
                <a:solidFill>
                  <a:srgbClr val="bffbef"/>
                </a:solidFill>
                <a:latin typeface="Courier New"/>
                <a:ea typeface="Courier New"/>
              </a:rPr>
              <a:t>DRIVE_BASE.stop()</a:t>
            </a:r>
            <a:endParaRPr b="0" lang="en-US" sz="1100" spc="-1" strike="noStrike">
              <a:solidFill>
                <a:srgbClr val="ffffff"/>
              </a:solidFill>
              <a:latin typeface="Arial"/>
            </a:endParaRPr>
          </a:p>
        </p:txBody>
      </p:sp>
      <p:sp>
        <p:nvSpPr>
          <p:cNvPr id="169" name="Shape 4"/>
          <p:cNvSpPr/>
          <p:nvPr/>
        </p:nvSpPr>
        <p:spPr>
          <a:xfrm>
            <a:off x="5760720" y="1005840"/>
            <a:ext cx="2925720" cy="2377080"/>
          </a:xfrm>
          <a:prstGeom prst="roundRect">
            <a:avLst>
              <a:gd name="adj" fmla="val 3846"/>
            </a:avLst>
          </a:prstGeom>
          <a:solidFill>
            <a:srgbClr val="141e38"/>
          </a:solidFill>
          <a:ln w="12700">
            <a:solidFill>
              <a:srgbClr val="141e3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0" name="Text 5"/>
          <p:cNvSpPr/>
          <p:nvPr/>
        </p:nvSpPr>
        <p:spPr>
          <a:xfrm>
            <a:off x="5897880" y="1097280"/>
            <a:ext cx="265140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ffc857"/>
                </a:solidFill>
                <a:latin typeface="Calibri"/>
                <a:ea typeface="Calibri"/>
              </a:rPr>
              <a:t>Measure on the mat</a:t>
            </a:r>
            <a:endParaRPr b="0" lang="en-US" sz="1500" spc="-1" strike="noStrike">
              <a:solidFill>
                <a:srgbClr val="ffffff"/>
              </a:solidFill>
              <a:latin typeface="Arial"/>
            </a:endParaRPr>
          </a:p>
        </p:txBody>
      </p:sp>
      <p:sp>
        <p:nvSpPr>
          <p:cNvPr id="171" name="Text 6"/>
          <p:cNvSpPr/>
          <p:nvPr/>
        </p:nvSpPr>
        <p:spPr>
          <a:xfrm>
            <a:off x="5897880" y="1444680"/>
            <a:ext cx="2651400" cy="18468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00" spc="-1" strike="noStrike">
                <a:solidFill>
                  <a:srgbClr val="e8f1ff"/>
                </a:solidFill>
                <a:latin typeface="Calibri"/>
                <a:ea typeface="Calibri"/>
              </a:rPr>
              <a:t>Black: ____</a:t>
            </a:r>
            <a:endParaRPr b="0" lang="en-US" sz="1300" spc="-1" strike="noStrike">
              <a:solidFill>
                <a:srgbClr val="ffffff"/>
              </a:solidFill>
              <a:latin typeface="Arial"/>
            </a:endParaRPr>
          </a:p>
          <a:p>
            <a:pPr defTabSz="914400">
              <a:lnSpc>
                <a:spcPct val="100000"/>
              </a:lnSpc>
              <a:tabLst>
                <a:tab algn="l" pos="0"/>
              </a:tabLst>
            </a:pPr>
            <a:r>
              <a:rPr b="0" lang="en-US" sz="1300" spc="-1" strike="noStrike">
                <a:solidFill>
                  <a:srgbClr val="e8f1ff"/>
                </a:solidFill>
                <a:latin typeface="Calibri"/>
                <a:ea typeface="Calibri"/>
              </a:rPr>
              <a:t>White: ____</a:t>
            </a:r>
            <a:endParaRPr b="0" lang="en-US" sz="1300" spc="-1" strike="noStrike">
              <a:solidFill>
                <a:srgbClr val="ffffff"/>
              </a:solidFill>
              <a:latin typeface="Arial"/>
            </a:endParaRPr>
          </a:p>
          <a:p>
            <a:pPr defTabSz="914400">
              <a:lnSpc>
                <a:spcPct val="100000"/>
              </a:lnSpc>
              <a:tabLst>
                <a:tab algn="l" pos="0"/>
              </a:tabLst>
            </a:pPr>
            <a:r>
              <a:rPr b="0" lang="en-US" sz="1300" spc="-1" strike="noStrike">
                <a:solidFill>
                  <a:srgbClr val="e8f1ff"/>
                </a:solidFill>
                <a:latin typeface="Calibri"/>
                <a:ea typeface="Calibri"/>
              </a:rPr>
              <a:t>Threshold: ____</a:t>
            </a:r>
            <a:endParaRPr b="0" lang="en-US" sz="1300" spc="-1" strike="noStrike">
              <a:solidFill>
                <a:srgbClr val="ffffff"/>
              </a:solidFill>
              <a:latin typeface="Arial"/>
            </a:endParaRPr>
          </a:p>
          <a:p>
            <a:pPr defTabSz="914400">
              <a:lnSpc>
                <a:spcPct val="100000"/>
              </a:lnSpc>
              <a:tabLst>
                <a:tab algn="l" pos="0"/>
              </a:tabLst>
            </a:pPr>
            <a:endParaRPr b="0" lang="en-US" sz="1300" spc="-1" strike="noStrike">
              <a:solidFill>
                <a:srgbClr val="ffffff"/>
              </a:solidFill>
              <a:latin typeface="Arial"/>
            </a:endParaRPr>
          </a:p>
          <a:p>
            <a:pPr defTabSz="914400">
              <a:lnSpc>
                <a:spcPct val="100000"/>
              </a:lnSpc>
              <a:tabLst>
                <a:tab algn="l" pos="0"/>
              </a:tabLst>
            </a:pPr>
            <a:r>
              <a:rPr b="0" lang="en-US" sz="1300" spc="-1" strike="noStrike">
                <a:solidFill>
                  <a:srgbClr val="e8f1ff"/>
                </a:solidFill>
                <a:latin typeface="Calibri"/>
                <a:ea typeface="Calibri"/>
              </a:rPr>
              <a:t>(print reflection() and write it in)</a:t>
            </a:r>
            <a:endParaRPr b="0" lang="en-US" sz="1300" spc="-1" strike="noStrike">
              <a:solidFill>
                <a:srgbClr val="ffffff"/>
              </a:solidFill>
              <a:latin typeface="Arial"/>
            </a:endParaRPr>
          </a:p>
        </p:txBody>
      </p:sp>
      <p:sp>
        <p:nvSpPr>
          <p:cNvPr id="172" name="Shape 7"/>
          <p:cNvSpPr/>
          <p:nvPr/>
        </p:nvSpPr>
        <p:spPr>
          <a:xfrm>
            <a:off x="457200" y="3566160"/>
            <a:ext cx="8229240" cy="1005480"/>
          </a:xfrm>
          <a:prstGeom prst="roundRect">
            <a:avLst>
              <a:gd name="adj" fmla="val 9091"/>
            </a:avLst>
          </a:prstGeom>
          <a:solidFill>
            <a:srgbClr val="2a2210"/>
          </a:solidFill>
          <a:ln w="15875">
            <a:solidFill>
              <a:srgbClr val="ffc857"/>
            </a:solidFill>
            <a:prstDash val="dash"/>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3" name="Text 8"/>
          <p:cNvSpPr/>
          <p:nvPr/>
        </p:nvSpPr>
        <p:spPr>
          <a:xfrm>
            <a:off x="594360" y="3630240"/>
            <a:ext cx="7954920" cy="877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c857"/>
                </a:solidFill>
                <a:latin typeface="Calibri"/>
                <a:ea typeface="Calibri"/>
              </a:rPr>
              <a:t>✎ </a:t>
            </a:r>
            <a:r>
              <a:rPr b="1" lang="en-US" sz="1300" spc="-1" strike="noStrike">
                <a:solidFill>
                  <a:srgbClr val="ffc857"/>
                </a:solidFill>
                <a:latin typeface="Calibri"/>
                <a:ea typeface="Calibri"/>
              </a:rPr>
              <a:t>Ethan, fill this in:  </a:t>
            </a:r>
            <a:r>
              <a:rPr b="0" lang="en-US" sz="1300" spc="-1" strike="noStrike">
                <a:solidFill>
                  <a:srgbClr val="e8f1ff"/>
                </a:solidFill>
                <a:latin typeface="Calibri"/>
                <a:ea typeface="Calibri"/>
              </a:rPr>
              <a:t>The color demo polls every 1000 ms. Why is that too slow for driving? Always set max_mm: what could go wrong without it?</a:t>
            </a:r>
            <a:endParaRPr b="0" lang="en-US" sz="1300" spc="-1" strike="noStrike">
              <a:solidFill>
                <a:srgbClr val="ffffff"/>
              </a:solidFill>
              <a:latin typeface="Arial"/>
            </a:endParaRPr>
          </a:p>
        </p:txBody>
      </p:sp>
      <p:sp>
        <p:nvSpPr>
          <p:cNvPr id="174" name="PlaceHolder 1"/>
          <p:cNvSpPr>
            <a:spLocks noGrp="1"/>
          </p:cNvSpPr>
          <p:nvPr>
            <p:ph type="sldNum" idx="16"/>
          </p:nvPr>
        </p:nvSpPr>
        <p:spPr>
          <a:xfrm>
            <a:off x="8321040" y="4754880"/>
            <a:ext cx="456840" cy="388440"/>
          </a:xfrm>
          <a:prstGeom prst="rect">
            <a:avLst/>
          </a:prstGeom>
          <a:noFill/>
          <a:ln w="0">
            <a:noFill/>
          </a:ln>
        </p:spPr>
        <p:txBody>
          <a:bodyPr lIns="90000" rIns="90000" tIns="45000" bIns="45000" anchor="t">
            <a:noAutofit/>
          </a:bodyPr>
          <a:lstStyle>
            <a:lvl1pPr indent="0" algn="r" defTabSz="914400">
              <a:lnSpc>
                <a:spcPct val="100000"/>
              </a:lnSpc>
              <a:buNone/>
              <a:defRPr b="0" lang="en-US" sz="1000" spc="-1" strike="noStrike">
                <a:solidFill>
                  <a:srgbClr val="8fa3c7"/>
                </a:solidFill>
                <a:latin typeface="Calibri"/>
                <a:ea typeface="Calibri"/>
              </a:defRPr>
            </a:lvl1pPr>
          </a:lstStyle>
          <a:p>
            <a:pPr indent="0" algn="r" defTabSz="914400">
              <a:lnSpc>
                <a:spcPct val="100000"/>
              </a:lnSpc>
              <a:buNone/>
            </a:pPr>
            <a:fld id="{86369F9F-47B9-4B6A-8149-D503A8E95B1F}" type="slidenum">
              <a:rPr b="0" lang="en-US" sz="1000" spc="-1" strike="noStrike">
                <a:solidFill>
                  <a:srgbClr val="8fa3c7"/>
                </a:solidFill>
                <a:latin typeface="Calibri"/>
                <a:ea typeface="Calibri"/>
              </a:rPr>
              <a:t>&lt;number&gt;</a:t>
            </a:fld>
            <a:endParaRPr b="0" lang="en-US" sz="10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Text 0"/>
          <p:cNvSpPr/>
          <p:nvPr/>
        </p:nvSpPr>
        <p:spPr>
          <a:xfrm>
            <a:off x="457200" y="274320"/>
            <a:ext cx="69490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e8f1ff"/>
                </a:solidFill>
                <a:latin typeface="Cambria"/>
                <a:ea typeface="Cambria"/>
              </a:rPr>
              <a:t>Stop a run and start over</a:t>
            </a:r>
            <a:endParaRPr b="0" lang="en-US" sz="2800" spc="-1" strike="noStrike">
              <a:solidFill>
                <a:srgbClr val="ffffff"/>
              </a:solidFill>
              <a:latin typeface="Arial"/>
            </a:endParaRPr>
          </a:p>
        </p:txBody>
      </p:sp>
      <p:sp>
        <p:nvSpPr>
          <p:cNvPr id="176" name="Text 1"/>
          <p:cNvSpPr/>
          <p:nvPr/>
        </p:nvSpPr>
        <p:spPr>
          <a:xfrm>
            <a:off x="7498080" y="347400"/>
            <a:ext cx="1188360" cy="310680"/>
          </a:xfrm>
          <a:prstGeom prst="roundRect">
            <a:avLst>
              <a:gd name="adj" fmla="val 50000"/>
            </a:avLst>
          </a:prstGeom>
          <a:solidFill>
            <a:srgbClr val="22e6c4"/>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0a1020"/>
                </a:solidFill>
                <a:latin typeface="Calibri"/>
              </a:rPr>
              <a:t>Ethan</a:t>
            </a:r>
            <a:endParaRPr b="0" lang="en-US" sz="1100" spc="-1" strike="noStrike">
              <a:solidFill>
                <a:srgbClr val="000000"/>
              </a:solidFill>
              <a:latin typeface="Arial"/>
            </a:endParaRPr>
          </a:p>
        </p:txBody>
      </p:sp>
      <p:sp>
        <p:nvSpPr>
          <p:cNvPr id="177" name="Shape 2"/>
          <p:cNvSpPr/>
          <p:nvPr/>
        </p:nvSpPr>
        <p:spPr>
          <a:xfrm>
            <a:off x="457200" y="1005840"/>
            <a:ext cx="4023000" cy="1416960"/>
          </a:xfrm>
          <a:prstGeom prst="roundRect">
            <a:avLst>
              <a:gd name="adj" fmla="val 6452"/>
            </a:avLst>
          </a:prstGeom>
          <a:solidFill>
            <a:srgbClr val="141e38"/>
          </a:solidFill>
          <a:ln w="12700">
            <a:solidFill>
              <a:srgbClr val="141e3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8" name="Text 3"/>
          <p:cNvSpPr/>
          <p:nvPr/>
        </p:nvSpPr>
        <p:spPr>
          <a:xfrm>
            <a:off x="594360" y="1097280"/>
            <a:ext cx="374868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ff5c8a"/>
                </a:solidFill>
                <a:latin typeface="Calibri"/>
                <a:ea typeface="Calibri"/>
              </a:rPr>
              <a:t>Today</a:t>
            </a:r>
            <a:endParaRPr b="0" lang="en-US" sz="1500" spc="-1" strike="noStrike">
              <a:solidFill>
                <a:srgbClr val="ffffff"/>
              </a:solidFill>
              <a:latin typeface="Arial"/>
            </a:endParaRPr>
          </a:p>
        </p:txBody>
      </p:sp>
      <p:sp>
        <p:nvSpPr>
          <p:cNvPr id="179" name="Text 4"/>
          <p:cNvSpPr/>
          <p:nvPr/>
        </p:nvSpPr>
        <p:spPr>
          <a:xfrm>
            <a:off x="594360" y="1444680"/>
            <a:ext cx="3748680" cy="886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00" spc="-1" strike="noStrike">
                <a:solidFill>
                  <a:srgbClr val="e8f1ff"/>
                </a:solidFill>
                <a:latin typeface="Calibri"/>
                <a:ea typeface="Calibri"/>
              </a:rPr>
              <a:t>ui.py disables the built-in stop button: set_stop_button(None). Center starts a run, and nothing stops it mid-run.</a:t>
            </a:r>
            <a:endParaRPr b="0" lang="en-US" sz="1300" spc="-1" strike="noStrike">
              <a:solidFill>
                <a:srgbClr val="ffffff"/>
              </a:solidFill>
              <a:latin typeface="Arial"/>
            </a:endParaRPr>
          </a:p>
        </p:txBody>
      </p:sp>
      <p:sp>
        <p:nvSpPr>
          <p:cNvPr id="180" name="Shape 5"/>
          <p:cNvSpPr/>
          <p:nvPr/>
        </p:nvSpPr>
        <p:spPr>
          <a:xfrm>
            <a:off x="4663440" y="1005840"/>
            <a:ext cx="4023000" cy="1416960"/>
          </a:xfrm>
          <a:prstGeom prst="roundRect">
            <a:avLst>
              <a:gd name="adj" fmla="val 6452"/>
            </a:avLst>
          </a:prstGeom>
          <a:solidFill>
            <a:srgbClr val="141e38"/>
          </a:solidFill>
          <a:ln w="12700">
            <a:solidFill>
              <a:srgbClr val="141e3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1" name="Text 6"/>
          <p:cNvSpPr/>
          <p:nvPr/>
        </p:nvSpPr>
        <p:spPr>
          <a:xfrm>
            <a:off x="4800600" y="1097280"/>
            <a:ext cx="374868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22e6c4"/>
                </a:solidFill>
                <a:latin typeface="Calibri"/>
                <a:ea typeface="Calibri"/>
              </a:rPr>
              <a:t>Goal</a:t>
            </a:r>
            <a:endParaRPr b="0" lang="en-US" sz="1500" spc="-1" strike="noStrike">
              <a:solidFill>
                <a:srgbClr val="ffffff"/>
              </a:solidFill>
              <a:latin typeface="Arial"/>
            </a:endParaRPr>
          </a:p>
        </p:txBody>
      </p:sp>
      <p:sp>
        <p:nvSpPr>
          <p:cNvPr id="182" name="Text 7"/>
          <p:cNvSpPr/>
          <p:nvPr/>
        </p:nvSpPr>
        <p:spPr>
          <a:xfrm>
            <a:off x="4800600" y="1444680"/>
            <a:ext cx="3748680" cy="886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00" spc="-1" strike="noStrike">
                <a:solidFill>
                  <a:srgbClr val="e8f1ff"/>
                </a:solidFill>
                <a:latin typeface="Calibri"/>
                <a:ea typeface="Calibri"/>
              </a:rPr>
              <a:t>Press center during a run: motors stop, the menu comes back, pick any run and start again.</a:t>
            </a:r>
            <a:endParaRPr b="0" lang="en-US" sz="1300" spc="-1" strike="noStrike">
              <a:solidFill>
                <a:srgbClr val="ffffff"/>
              </a:solidFill>
              <a:latin typeface="Arial"/>
            </a:endParaRPr>
          </a:p>
        </p:txBody>
      </p:sp>
      <p:sp>
        <p:nvSpPr>
          <p:cNvPr id="183" name="Shape 8"/>
          <p:cNvSpPr/>
          <p:nvPr/>
        </p:nvSpPr>
        <p:spPr>
          <a:xfrm>
            <a:off x="457200" y="2560320"/>
            <a:ext cx="8229240" cy="914040"/>
          </a:xfrm>
          <a:prstGeom prst="roundRect">
            <a:avLst>
              <a:gd name="adj" fmla="val 8000"/>
            </a:avLst>
          </a:prstGeom>
          <a:solidFill>
            <a:srgbClr val="050a16"/>
          </a:solidFill>
          <a:ln w="12700">
            <a:solidFill>
              <a:srgbClr val="22304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4" name="Text 9"/>
          <p:cNvSpPr/>
          <p:nvPr/>
        </p:nvSpPr>
        <p:spPr>
          <a:xfrm>
            <a:off x="567000" y="2633400"/>
            <a:ext cx="8009640" cy="767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00" spc="-1" strike="noStrike">
                <a:solidFill>
                  <a:srgbClr val="bffbef"/>
                </a:solidFill>
                <a:latin typeface="Courier New"/>
                <a:ea typeface="Courier New"/>
              </a:rPr>
              <a:t># idea (Ethan's code replaces this)</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async def run_with_stop(run_func):</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    </a:t>
            </a:r>
            <a:r>
              <a:rPr b="0" lang="en-US" sz="1100" spc="-1" strike="noStrike">
                <a:solidFill>
                  <a:srgbClr val="bffbef"/>
                </a:solidFill>
                <a:latin typeface="Courier New"/>
                <a:ea typeface="Courier New"/>
              </a:rPr>
              <a:t>await multitask(run_func(), wait_for_center(), race=True)</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    </a:t>
            </a:r>
            <a:r>
              <a:rPr b="0" lang="en-US" sz="1100" spc="-1" strike="noStrike">
                <a:solidFill>
                  <a:srgbClr val="bffbef"/>
                </a:solidFill>
                <a:latin typeface="Courier New"/>
                <a:ea typeface="Courier New"/>
              </a:rPr>
              <a:t>DRIVE_BASE.stop()</a:t>
            </a:r>
            <a:endParaRPr b="0" lang="en-US" sz="1100" spc="-1" strike="noStrike">
              <a:solidFill>
                <a:srgbClr val="ffffff"/>
              </a:solidFill>
              <a:latin typeface="Arial"/>
            </a:endParaRPr>
          </a:p>
          <a:p>
            <a:pPr defTabSz="914400">
              <a:lnSpc>
                <a:spcPct val="100000"/>
              </a:lnSpc>
              <a:tabLst>
                <a:tab algn="l" pos="0"/>
              </a:tabLst>
            </a:pPr>
            <a:r>
              <a:rPr b="0" lang="en-US" sz="1100" spc="-1" strike="noStrike">
                <a:solidFill>
                  <a:srgbClr val="bffbef"/>
                </a:solidFill>
                <a:latin typeface="Courier New"/>
                <a:ea typeface="Courier New"/>
              </a:rPr>
              <a:t>    </a:t>
            </a:r>
            <a:r>
              <a:rPr b="0" lang="en-US" sz="1100" spc="-1" strike="noStrike">
                <a:solidFill>
                  <a:srgbClr val="bffbef"/>
                </a:solidFill>
                <a:latin typeface="Courier New"/>
                <a:ea typeface="Courier New"/>
              </a:rPr>
              <a:t># stop attachments too, then return to menu</a:t>
            </a:r>
            <a:endParaRPr b="0" lang="en-US" sz="1100" spc="-1" strike="noStrike">
              <a:solidFill>
                <a:srgbClr val="ffffff"/>
              </a:solidFill>
              <a:latin typeface="Arial"/>
            </a:endParaRPr>
          </a:p>
        </p:txBody>
      </p:sp>
      <p:sp>
        <p:nvSpPr>
          <p:cNvPr id="185" name="Shape 10"/>
          <p:cNvSpPr/>
          <p:nvPr/>
        </p:nvSpPr>
        <p:spPr>
          <a:xfrm>
            <a:off x="457200" y="3611880"/>
            <a:ext cx="8229240" cy="959760"/>
          </a:xfrm>
          <a:prstGeom prst="roundRect">
            <a:avLst>
              <a:gd name="adj" fmla="val 9524"/>
            </a:avLst>
          </a:prstGeom>
          <a:solidFill>
            <a:srgbClr val="2a2210"/>
          </a:solidFill>
          <a:ln w="15875">
            <a:solidFill>
              <a:srgbClr val="ffc857"/>
            </a:solidFill>
            <a:prstDash val="dash"/>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6" name="Text 11"/>
          <p:cNvSpPr/>
          <p:nvPr/>
        </p:nvSpPr>
        <p:spPr>
          <a:xfrm>
            <a:off x="594360" y="3675960"/>
            <a:ext cx="7954920" cy="831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c857"/>
                </a:solidFill>
                <a:latin typeface="Calibri"/>
                <a:ea typeface="Calibri"/>
              </a:rPr>
              <a:t>✎ </a:t>
            </a:r>
            <a:r>
              <a:rPr b="1" lang="en-US" sz="1300" spc="-1" strike="noStrike">
                <a:solidFill>
                  <a:srgbClr val="ffc857"/>
                </a:solidFill>
                <a:latin typeface="Calibri"/>
                <a:ea typeface="Calibri"/>
              </a:rPr>
              <a:t>Ethan, fill this in:  </a:t>
            </a:r>
            <a:r>
              <a:rPr b="0" lang="en-US" sz="1300" spc="-1" strike="noStrike">
                <a:solidFill>
                  <a:srgbClr val="e8f1ff"/>
                </a:solidFill>
                <a:latin typeface="Calibri"/>
                <a:ea typeface="Calibri"/>
              </a:rPr>
              <a:t>Upload your stop-button code to the repo (branch name: ____). Paste the key lines here. How do you avoid the same center press that starts a run from stopping it right away?</a:t>
            </a:r>
            <a:endParaRPr b="0" lang="en-US" sz="1300" spc="-1" strike="noStrike">
              <a:solidFill>
                <a:srgbClr val="ffffff"/>
              </a:solidFill>
              <a:latin typeface="Arial"/>
            </a:endParaRPr>
          </a:p>
        </p:txBody>
      </p:sp>
      <p:sp>
        <p:nvSpPr>
          <p:cNvPr id="187" name="PlaceHolder 1"/>
          <p:cNvSpPr>
            <a:spLocks noGrp="1"/>
          </p:cNvSpPr>
          <p:nvPr>
            <p:ph type="sldNum" idx="17"/>
          </p:nvPr>
        </p:nvSpPr>
        <p:spPr>
          <a:xfrm>
            <a:off x="8321040" y="4754880"/>
            <a:ext cx="456840" cy="388440"/>
          </a:xfrm>
          <a:prstGeom prst="rect">
            <a:avLst/>
          </a:prstGeom>
          <a:noFill/>
          <a:ln w="0">
            <a:noFill/>
          </a:ln>
        </p:spPr>
        <p:txBody>
          <a:bodyPr lIns="90000" rIns="90000" tIns="45000" bIns="45000" anchor="t">
            <a:noAutofit/>
          </a:bodyPr>
          <a:lstStyle>
            <a:lvl1pPr indent="0" algn="r" defTabSz="914400">
              <a:lnSpc>
                <a:spcPct val="100000"/>
              </a:lnSpc>
              <a:buNone/>
              <a:defRPr b="0" lang="en-US" sz="1000" spc="-1" strike="noStrike">
                <a:solidFill>
                  <a:srgbClr val="8fa3c7"/>
                </a:solidFill>
                <a:latin typeface="Calibri"/>
                <a:ea typeface="Calibri"/>
              </a:defRPr>
            </a:lvl1pPr>
          </a:lstStyle>
          <a:p>
            <a:pPr indent="0" algn="r" defTabSz="914400">
              <a:lnSpc>
                <a:spcPct val="100000"/>
              </a:lnSpc>
              <a:buNone/>
            </a:pPr>
            <a:fld id="{EC0F0CEC-440D-4968-9E31-CDA880D12F4F}" type="slidenum">
              <a:rPr b="0" lang="en-US" sz="1000" spc="-1" strike="noStrike">
                <a:solidFill>
                  <a:srgbClr val="8fa3c7"/>
                </a:solidFill>
                <a:latin typeface="Calibri"/>
                <a:ea typeface="Calibri"/>
              </a:rPr>
              <a:t>&lt;number&gt;</a:t>
            </a:fld>
            <a:endParaRPr b="0" lang="en-US" sz="10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Text 0"/>
          <p:cNvSpPr/>
          <p:nvPr/>
        </p:nvSpPr>
        <p:spPr>
          <a:xfrm>
            <a:off x="457200" y="274320"/>
            <a:ext cx="69490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e8f1ff"/>
                </a:solidFill>
                <a:latin typeface="Cambria"/>
                <a:ea typeface="Cambria"/>
              </a:rPr>
              <a:t>Before you push: test checklist</a:t>
            </a:r>
            <a:endParaRPr b="0" lang="en-US" sz="2800" spc="-1" strike="noStrike">
              <a:solidFill>
                <a:srgbClr val="ffffff"/>
              </a:solidFill>
              <a:latin typeface="Arial"/>
            </a:endParaRPr>
          </a:p>
        </p:txBody>
      </p:sp>
      <p:sp>
        <p:nvSpPr>
          <p:cNvPr id="189" name="Text 1"/>
          <p:cNvSpPr/>
          <p:nvPr/>
        </p:nvSpPr>
        <p:spPr>
          <a:xfrm>
            <a:off x="7498080" y="347400"/>
            <a:ext cx="1188360" cy="310680"/>
          </a:xfrm>
          <a:prstGeom prst="roundRect">
            <a:avLst>
              <a:gd name="adj" fmla="val 50000"/>
            </a:avLst>
          </a:prstGeom>
          <a:solidFill>
            <a:srgbClr val="ffc857"/>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0a1020"/>
                </a:solidFill>
                <a:latin typeface="Calibri"/>
              </a:rPr>
              <a:t>Braxton</a:t>
            </a:r>
            <a:endParaRPr b="0" lang="en-US" sz="1100" spc="-1" strike="noStrike">
              <a:solidFill>
                <a:srgbClr val="000000"/>
              </a:solidFill>
              <a:latin typeface="Arial"/>
            </a:endParaRPr>
          </a:p>
        </p:txBody>
      </p:sp>
      <p:sp>
        <p:nvSpPr>
          <p:cNvPr id="190" name="Text 2"/>
          <p:cNvSpPr/>
          <p:nvPr/>
        </p:nvSpPr>
        <p:spPr>
          <a:xfrm>
            <a:off x="457200" y="1051560"/>
            <a:ext cx="4571640" cy="274284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0000"/>
              </a:lnSpc>
              <a:spcAft>
                <a:spcPts val="601"/>
              </a:spcAft>
              <a:buClr>
                <a:srgbClr val="e8f1ff"/>
              </a:buClr>
              <a:buFont typeface="Symbol" charset="2"/>
              <a:buChar char=""/>
            </a:pPr>
            <a:r>
              <a:rPr b="0" lang="en-US" sz="1500" spc="-1" strike="noStrike">
                <a:solidFill>
                  <a:srgbClr val="e8f1ff"/>
                </a:solidFill>
                <a:latin typeface="Calibri"/>
                <a:ea typeface="Calibri"/>
              </a:rPr>
              <a:t>Battery charged, hub name matches launch.json</a:t>
            </a:r>
            <a:endParaRPr b="0" lang="en-US" sz="1500" spc="-1" strike="noStrike">
              <a:solidFill>
                <a:srgbClr val="ffffff"/>
              </a:solidFill>
              <a:latin typeface="Arial"/>
            </a:endParaRPr>
          </a:p>
          <a:p>
            <a:pPr marL="343080" indent="-343080" defTabSz="914400">
              <a:lnSpc>
                <a:spcPct val="100000"/>
              </a:lnSpc>
              <a:spcAft>
                <a:spcPts val="601"/>
              </a:spcAft>
              <a:buClr>
                <a:srgbClr val="e8f1ff"/>
              </a:buClr>
              <a:buFont typeface="Symbol" charset="2"/>
              <a:buChar char=""/>
            </a:pPr>
            <a:r>
              <a:rPr b="0" lang="en-US" sz="1500" spc="-1" strike="noStrike">
                <a:solidFill>
                  <a:srgbClr val="e8f1ff"/>
                </a:solidFill>
                <a:latin typeface="Calibri"/>
                <a:ea typeface="Calibri"/>
              </a:rPr>
              <a:t>F5 on the run file: does it finish and return?</a:t>
            </a:r>
            <a:endParaRPr b="0" lang="en-US" sz="1500" spc="-1" strike="noStrike">
              <a:solidFill>
                <a:srgbClr val="ffffff"/>
              </a:solidFill>
              <a:latin typeface="Arial"/>
            </a:endParaRPr>
          </a:p>
          <a:p>
            <a:pPr marL="343080" indent="-343080" defTabSz="914400">
              <a:lnSpc>
                <a:spcPct val="100000"/>
              </a:lnSpc>
              <a:spcAft>
                <a:spcPts val="601"/>
              </a:spcAft>
              <a:buClr>
                <a:srgbClr val="e8f1ff"/>
              </a:buClr>
              <a:buFont typeface="Symbol" charset="2"/>
              <a:buChar char=""/>
            </a:pPr>
            <a:r>
              <a:rPr b="0" lang="en-US" sz="1500" spc="-1" strike="noStrike">
                <a:solidFill>
                  <a:srgbClr val="e8f1ff"/>
                </a:solidFill>
                <a:latin typeface="Calibri"/>
                <a:ea typeface="Calibri"/>
              </a:rPr>
              <a:t>Run it three times: same result every time?</a:t>
            </a:r>
            <a:endParaRPr b="0" lang="en-US" sz="1500" spc="-1" strike="noStrike">
              <a:solidFill>
                <a:srgbClr val="ffffff"/>
              </a:solidFill>
              <a:latin typeface="Arial"/>
            </a:endParaRPr>
          </a:p>
          <a:p>
            <a:pPr marL="343080" indent="-343080" defTabSz="914400">
              <a:lnSpc>
                <a:spcPct val="100000"/>
              </a:lnSpc>
              <a:spcAft>
                <a:spcPts val="601"/>
              </a:spcAft>
              <a:buClr>
                <a:srgbClr val="e8f1ff"/>
              </a:buClr>
              <a:buFont typeface="Symbol" charset="2"/>
              <a:buChar char=""/>
            </a:pPr>
            <a:r>
              <a:rPr b="0" lang="en-US" sz="1500" spc="-1" strike="noStrike">
                <a:solidFill>
                  <a:srgbClr val="e8f1ff"/>
                </a:solidFill>
                <a:latin typeface="Calibri"/>
                <a:ea typeface="Calibri"/>
              </a:rPr>
              <a:t>Run it from the hub menu through robot.py</a:t>
            </a:r>
            <a:endParaRPr b="0" lang="en-US" sz="1500" spc="-1" strike="noStrike">
              <a:solidFill>
                <a:srgbClr val="ffffff"/>
              </a:solidFill>
              <a:latin typeface="Arial"/>
            </a:endParaRPr>
          </a:p>
          <a:p>
            <a:pPr marL="343080" indent="-343080" defTabSz="914400">
              <a:lnSpc>
                <a:spcPct val="100000"/>
              </a:lnSpc>
              <a:spcAft>
                <a:spcPts val="601"/>
              </a:spcAft>
              <a:buClr>
                <a:srgbClr val="e8f1ff"/>
              </a:buClr>
              <a:buFont typeface="Symbol" charset="2"/>
              <a:buChar char=""/>
            </a:pPr>
            <a:r>
              <a:rPr b="0" lang="en-US" sz="1500" spc="-1" strike="noStrike">
                <a:solidFill>
                  <a:srgbClr val="e8f1ff"/>
                </a:solidFill>
                <a:latin typeface="Calibri"/>
                <a:ea typeface="Calibri"/>
              </a:rPr>
              <a:t>Commit only your files, then open a Pull Request</a:t>
            </a:r>
            <a:endParaRPr b="0" lang="en-US" sz="1500" spc="-1" strike="noStrike">
              <a:solidFill>
                <a:srgbClr val="ffffff"/>
              </a:solidFill>
              <a:latin typeface="Arial"/>
            </a:endParaRPr>
          </a:p>
        </p:txBody>
      </p:sp>
      <p:sp>
        <p:nvSpPr>
          <p:cNvPr id="191" name="Shape 3"/>
          <p:cNvSpPr/>
          <p:nvPr/>
        </p:nvSpPr>
        <p:spPr>
          <a:xfrm>
            <a:off x="5303520" y="1051560"/>
            <a:ext cx="3382920" cy="1554120"/>
          </a:xfrm>
          <a:prstGeom prst="roundRect">
            <a:avLst>
              <a:gd name="adj" fmla="val 5882"/>
            </a:avLst>
          </a:prstGeom>
          <a:solidFill>
            <a:srgbClr val="141e38"/>
          </a:solidFill>
          <a:ln w="12700">
            <a:solidFill>
              <a:srgbClr val="141e3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2" name="Text 4"/>
          <p:cNvSpPr/>
          <p:nvPr/>
        </p:nvSpPr>
        <p:spPr>
          <a:xfrm>
            <a:off x="5440680" y="1143000"/>
            <a:ext cx="310860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22e6c4"/>
                </a:solidFill>
                <a:latin typeface="Calibri"/>
                <a:ea typeface="Calibri"/>
              </a:rPr>
              <a:t>If F5 fails</a:t>
            </a:r>
            <a:endParaRPr b="0" lang="en-US" sz="1500" spc="-1" strike="noStrike">
              <a:solidFill>
                <a:srgbClr val="ffffff"/>
              </a:solidFill>
              <a:latin typeface="Arial"/>
            </a:endParaRPr>
          </a:p>
        </p:txBody>
      </p:sp>
      <p:sp>
        <p:nvSpPr>
          <p:cNvPr id="193" name="Text 5"/>
          <p:cNvSpPr/>
          <p:nvPr/>
        </p:nvSpPr>
        <p:spPr>
          <a:xfrm>
            <a:off x="5440680" y="1490400"/>
            <a:ext cx="3108600" cy="10238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e8f1ff"/>
                </a:solidFill>
                <a:latin typeface="Calibri"/>
                <a:ea typeface="Calibri"/>
              </a:rPr>
              <a:t>Use the terminal:</a:t>
            </a:r>
            <a:endParaRPr b="0" lang="en-US" sz="1200" spc="-1" strike="noStrike">
              <a:solidFill>
                <a:srgbClr val="ffffff"/>
              </a:solidFill>
              <a:latin typeface="Arial"/>
            </a:endParaRPr>
          </a:p>
          <a:p>
            <a:pPr defTabSz="914400">
              <a:lnSpc>
                <a:spcPct val="100000"/>
              </a:lnSpc>
              <a:tabLst>
                <a:tab algn="l" pos="0"/>
              </a:tabLst>
            </a:pPr>
            <a:r>
              <a:rPr b="0" lang="en-US" sz="1200" spc="-1" strike="noStrike">
                <a:solidFill>
                  <a:srgbClr val="e8f1ff"/>
                </a:solidFill>
                <a:latin typeface="Calibri"/>
                <a:ea typeface="Calibri"/>
              </a:rPr>
              <a:t>pybricksdev run ble --name infinite-1 TestRun.py</a:t>
            </a:r>
            <a:endParaRPr b="0" lang="en-US" sz="1200" spc="-1" strike="noStrike">
              <a:solidFill>
                <a:srgbClr val="ffffff"/>
              </a:solidFill>
              <a:latin typeface="Arial"/>
            </a:endParaRPr>
          </a:p>
        </p:txBody>
      </p:sp>
      <p:sp>
        <p:nvSpPr>
          <p:cNvPr id="194" name="Shape 6"/>
          <p:cNvSpPr/>
          <p:nvPr/>
        </p:nvSpPr>
        <p:spPr>
          <a:xfrm>
            <a:off x="457200" y="3840480"/>
            <a:ext cx="8229240" cy="731160"/>
          </a:xfrm>
          <a:prstGeom prst="roundRect">
            <a:avLst>
              <a:gd name="adj" fmla="val 12500"/>
            </a:avLst>
          </a:prstGeom>
          <a:solidFill>
            <a:srgbClr val="2a2210"/>
          </a:solidFill>
          <a:ln w="15875">
            <a:solidFill>
              <a:srgbClr val="ffc857"/>
            </a:solidFill>
            <a:prstDash val="dash"/>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5" name="Text 7"/>
          <p:cNvSpPr/>
          <p:nvPr/>
        </p:nvSpPr>
        <p:spPr>
          <a:xfrm>
            <a:off x="594360" y="3904560"/>
            <a:ext cx="7954920" cy="603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c857"/>
                </a:solidFill>
                <a:latin typeface="Calibri"/>
                <a:ea typeface="Calibri"/>
              </a:rPr>
              <a:t>✎ </a:t>
            </a:r>
            <a:r>
              <a:rPr b="1" lang="en-US" sz="1300" spc="-1" strike="noStrike">
                <a:solidFill>
                  <a:srgbClr val="ffc857"/>
                </a:solidFill>
                <a:latin typeface="Calibri"/>
                <a:ea typeface="Calibri"/>
              </a:rPr>
              <a:t>Braxton, fill this in:  </a:t>
            </a:r>
            <a:r>
              <a:rPr b="0" lang="en-US" sz="1300" spc="-1" strike="noStrike">
                <a:solidFill>
                  <a:srgbClr val="e8f1ff"/>
                </a:solidFill>
                <a:latin typeface="Calibri"/>
                <a:ea typeface="Calibri"/>
              </a:rPr>
              <a:t>Add the 2 mistakes that cost us the most time this season.</a:t>
            </a:r>
            <a:endParaRPr b="0" lang="en-US" sz="1300" spc="-1" strike="noStrike">
              <a:solidFill>
                <a:srgbClr val="ffffff"/>
              </a:solidFill>
              <a:latin typeface="Arial"/>
            </a:endParaRPr>
          </a:p>
        </p:txBody>
      </p:sp>
      <p:sp>
        <p:nvSpPr>
          <p:cNvPr id="196" name="PlaceHolder 1"/>
          <p:cNvSpPr>
            <a:spLocks noGrp="1"/>
          </p:cNvSpPr>
          <p:nvPr>
            <p:ph type="sldNum" idx="18"/>
          </p:nvPr>
        </p:nvSpPr>
        <p:spPr>
          <a:xfrm>
            <a:off x="8321040" y="4754880"/>
            <a:ext cx="456840" cy="388440"/>
          </a:xfrm>
          <a:prstGeom prst="rect">
            <a:avLst/>
          </a:prstGeom>
          <a:noFill/>
          <a:ln w="0">
            <a:noFill/>
          </a:ln>
        </p:spPr>
        <p:txBody>
          <a:bodyPr lIns="90000" rIns="90000" tIns="45000" bIns="45000" anchor="t">
            <a:noAutofit/>
          </a:bodyPr>
          <a:lstStyle>
            <a:lvl1pPr indent="0" algn="r" defTabSz="914400">
              <a:lnSpc>
                <a:spcPct val="100000"/>
              </a:lnSpc>
              <a:buNone/>
              <a:defRPr b="0" lang="en-US" sz="1000" spc="-1" strike="noStrike">
                <a:solidFill>
                  <a:srgbClr val="8fa3c7"/>
                </a:solidFill>
                <a:latin typeface="Calibri"/>
                <a:ea typeface="Calibri"/>
              </a:defRPr>
            </a:lvl1pPr>
          </a:lstStyle>
          <a:p>
            <a:pPr indent="0" algn="r" defTabSz="914400">
              <a:lnSpc>
                <a:spcPct val="100000"/>
              </a:lnSpc>
              <a:buNone/>
            </a:pPr>
            <a:fld id="{1C3E22B8-8788-414D-B428-ECDF099719E1}" type="slidenum">
              <a:rPr b="0" lang="en-US" sz="1000" spc="-1" strike="noStrike">
                <a:solidFill>
                  <a:srgbClr val="8fa3c7"/>
                </a:solidFill>
                <a:latin typeface="Calibri"/>
                <a:ea typeface="Calibri"/>
              </a:rPr>
              <a:t>&lt;number&gt;</a:t>
            </a:fld>
            <a:endParaRPr b="0" lang="en-US" sz="10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Text 0"/>
          <p:cNvSpPr/>
          <p:nvPr/>
        </p:nvSpPr>
        <p:spPr>
          <a:xfrm>
            <a:off x="457200" y="274320"/>
            <a:ext cx="69490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e8f1ff"/>
                </a:solidFill>
                <a:latin typeface="Cambria"/>
                <a:ea typeface="Cambria"/>
              </a:rPr>
              <a:t>Practice challenge</a:t>
            </a:r>
            <a:endParaRPr b="0" lang="en-US" sz="2800" spc="-1" strike="noStrike">
              <a:solidFill>
                <a:srgbClr val="ffffff"/>
              </a:solidFill>
              <a:latin typeface="Arial"/>
            </a:endParaRPr>
          </a:p>
        </p:txBody>
      </p:sp>
      <p:sp>
        <p:nvSpPr>
          <p:cNvPr id="198" name="Text 1"/>
          <p:cNvSpPr/>
          <p:nvPr/>
        </p:nvSpPr>
        <p:spPr>
          <a:xfrm>
            <a:off x="7498080" y="347400"/>
            <a:ext cx="1188360" cy="310680"/>
          </a:xfrm>
          <a:prstGeom prst="roundRect">
            <a:avLst>
              <a:gd name="adj" fmla="val 50000"/>
            </a:avLst>
          </a:prstGeom>
          <a:solidFill>
            <a:srgbClr val="b26bff"/>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0a1020"/>
                </a:solidFill>
                <a:latin typeface="Calibri"/>
              </a:rPr>
              <a:t>Ethan &amp; Braxton</a:t>
            </a:r>
            <a:endParaRPr b="0" lang="en-US" sz="1100" spc="-1" strike="noStrike">
              <a:solidFill>
                <a:srgbClr val="ffffff"/>
              </a:solidFill>
              <a:latin typeface="Arial"/>
            </a:endParaRPr>
          </a:p>
        </p:txBody>
      </p:sp>
      <p:sp>
        <p:nvSpPr>
          <p:cNvPr id="199" name="Shape 2"/>
          <p:cNvSpPr/>
          <p:nvPr/>
        </p:nvSpPr>
        <p:spPr>
          <a:xfrm>
            <a:off x="457200" y="1005840"/>
            <a:ext cx="2651400" cy="2194200"/>
          </a:xfrm>
          <a:prstGeom prst="roundRect">
            <a:avLst>
              <a:gd name="adj" fmla="val 4167"/>
            </a:avLst>
          </a:prstGeom>
          <a:solidFill>
            <a:srgbClr val="141e38"/>
          </a:solidFill>
          <a:ln w="12700">
            <a:solidFill>
              <a:srgbClr val="141e3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0" name="Shape 3"/>
          <p:cNvSpPr/>
          <p:nvPr/>
        </p:nvSpPr>
        <p:spPr>
          <a:xfrm>
            <a:off x="594360" y="1143000"/>
            <a:ext cx="411120" cy="411120"/>
          </a:xfrm>
          <a:prstGeom prst="ellipse">
            <a:avLst/>
          </a:prstGeom>
          <a:solidFill>
            <a:srgbClr val="22e6c4"/>
          </a:solidFill>
          <a:ln w="12700">
            <a:solidFill>
              <a:srgbClr val="22e6c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01" name="Text 4"/>
          <p:cNvSpPr/>
          <p:nvPr/>
        </p:nvSpPr>
        <p:spPr>
          <a:xfrm>
            <a:off x="594360" y="1143000"/>
            <a:ext cx="41112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0a1020"/>
                </a:solidFill>
                <a:latin typeface="Calibri"/>
              </a:rPr>
              <a:t>1</a:t>
            </a:r>
            <a:endParaRPr b="0" lang="en-US" sz="1600" spc="-1" strike="noStrike">
              <a:solidFill>
                <a:srgbClr val="ffffff"/>
              </a:solidFill>
              <a:latin typeface="Arial"/>
            </a:endParaRPr>
          </a:p>
        </p:txBody>
      </p:sp>
      <p:sp>
        <p:nvSpPr>
          <p:cNvPr id="202" name="Text 5"/>
          <p:cNvSpPr/>
          <p:nvPr/>
        </p:nvSpPr>
        <p:spPr>
          <a:xfrm>
            <a:off x="594360" y="1627560"/>
            <a:ext cx="2377080" cy="4568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00" spc="-1" strike="noStrike">
                <a:solidFill>
                  <a:srgbClr val="e8f1ff"/>
                </a:solidFill>
                <a:latin typeface="Calibri"/>
              </a:rPr>
              <a:t>Pull and branch</a:t>
            </a:r>
            <a:endParaRPr b="0" lang="en-US" sz="1400" spc="-1" strike="noStrike">
              <a:solidFill>
                <a:srgbClr val="ffffff"/>
              </a:solidFill>
              <a:latin typeface="Arial"/>
            </a:endParaRPr>
          </a:p>
        </p:txBody>
      </p:sp>
      <p:sp>
        <p:nvSpPr>
          <p:cNvPr id="203" name="Text 6"/>
          <p:cNvSpPr/>
          <p:nvPr/>
        </p:nvSpPr>
        <p:spPr>
          <a:xfrm>
            <a:off x="594360" y="2084760"/>
            <a:ext cx="2377080" cy="10238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8fa3c7"/>
                </a:solidFill>
                <a:latin typeface="Calibri"/>
              </a:rPr>
              <a:t>Pull the latest code and create a branch named with your name.</a:t>
            </a:r>
            <a:endParaRPr b="0" lang="en-US" sz="1200" spc="-1" strike="noStrike">
              <a:solidFill>
                <a:srgbClr val="ffffff"/>
              </a:solidFill>
              <a:latin typeface="Arial"/>
            </a:endParaRPr>
          </a:p>
        </p:txBody>
      </p:sp>
      <p:sp>
        <p:nvSpPr>
          <p:cNvPr id="204" name="Shape 7"/>
          <p:cNvSpPr/>
          <p:nvPr/>
        </p:nvSpPr>
        <p:spPr>
          <a:xfrm>
            <a:off x="3246120" y="1005840"/>
            <a:ext cx="2651400" cy="2194200"/>
          </a:xfrm>
          <a:prstGeom prst="roundRect">
            <a:avLst>
              <a:gd name="adj" fmla="val 4167"/>
            </a:avLst>
          </a:prstGeom>
          <a:solidFill>
            <a:srgbClr val="141e38"/>
          </a:solidFill>
          <a:ln w="12700">
            <a:solidFill>
              <a:srgbClr val="141e3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5" name="Shape 8"/>
          <p:cNvSpPr/>
          <p:nvPr/>
        </p:nvSpPr>
        <p:spPr>
          <a:xfrm>
            <a:off x="3383280" y="1143000"/>
            <a:ext cx="411120" cy="411120"/>
          </a:xfrm>
          <a:prstGeom prst="ellipse">
            <a:avLst/>
          </a:prstGeom>
          <a:solidFill>
            <a:srgbClr val="22e6c4"/>
          </a:solidFill>
          <a:ln w="12700">
            <a:solidFill>
              <a:srgbClr val="22e6c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06" name="Text 9"/>
          <p:cNvSpPr/>
          <p:nvPr/>
        </p:nvSpPr>
        <p:spPr>
          <a:xfrm>
            <a:off x="3383280" y="1143000"/>
            <a:ext cx="41112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0a1020"/>
                </a:solidFill>
                <a:latin typeface="Calibri"/>
              </a:rPr>
              <a:t>2</a:t>
            </a:r>
            <a:endParaRPr b="0" lang="en-US" sz="1600" spc="-1" strike="noStrike">
              <a:solidFill>
                <a:srgbClr val="ffffff"/>
              </a:solidFill>
              <a:latin typeface="Arial"/>
            </a:endParaRPr>
          </a:p>
        </p:txBody>
      </p:sp>
      <p:sp>
        <p:nvSpPr>
          <p:cNvPr id="207" name="Text 10"/>
          <p:cNvSpPr/>
          <p:nvPr/>
        </p:nvSpPr>
        <p:spPr>
          <a:xfrm>
            <a:off x="3383280" y="1627560"/>
            <a:ext cx="2377080" cy="4568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00" spc="-1" strike="noStrike">
                <a:solidFill>
                  <a:srgbClr val="e8f1ff"/>
                </a:solidFill>
                <a:latin typeface="Calibri"/>
              </a:rPr>
              <a:t>Build a run</a:t>
            </a:r>
            <a:endParaRPr b="0" lang="en-US" sz="1400" spc="-1" strike="noStrike">
              <a:solidFill>
                <a:srgbClr val="ffffff"/>
              </a:solidFill>
              <a:latin typeface="Arial"/>
            </a:endParaRPr>
          </a:p>
        </p:txBody>
      </p:sp>
      <p:sp>
        <p:nvSpPr>
          <p:cNvPr id="208" name="Text 11"/>
          <p:cNvSpPr/>
          <p:nvPr/>
        </p:nvSpPr>
        <p:spPr>
          <a:xfrm>
            <a:off x="3383280" y="2084760"/>
            <a:ext cx="2377080" cy="10238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8fa3c7"/>
                </a:solidFill>
                <a:latin typeface="Calibri"/>
              </a:rPr>
              <a:t>Copy a run file, rename it, drive to a black line while an arm moves.</a:t>
            </a:r>
            <a:endParaRPr b="0" lang="en-US" sz="1200" spc="-1" strike="noStrike">
              <a:solidFill>
                <a:srgbClr val="ffffff"/>
              </a:solidFill>
              <a:latin typeface="Arial"/>
            </a:endParaRPr>
          </a:p>
        </p:txBody>
      </p:sp>
      <p:sp>
        <p:nvSpPr>
          <p:cNvPr id="209" name="Shape 12"/>
          <p:cNvSpPr/>
          <p:nvPr/>
        </p:nvSpPr>
        <p:spPr>
          <a:xfrm>
            <a:off x="6035040" y="1005840"/>
            <a:ext cx="2651400" cy="2194200"/>
          </a:xfrm>
          <a:prstGeom prst="roundRect">
            <a:avLst>
              <a:gd name="adj" fmla="val 4167"/>
            </a:avLst>
          </a:prstGeom>
          <a:solidFill>
            <a:srgbClr val="141e38"/>
          </a:solidFill>
          <a:ln w="12700">
            <a:solidFill>
              <a:srgbClr val="141e3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0" name="Shape 13"/>
          <p:cNvSpPr/>
          <p:nvPr/>
        </p:nvSpPr>
        <p:spPr>
          <a:xfrm>
            <a:off x="6172200" y="1143000"/>
            <a:ext cx="411120" cy="411120"/>
          </a:xfrm>
          <a:prstGeom prst="ellipse">
            <a:avLst/>
          </a:prstGeom>
          <a:solidFill>
            <a:srgbClr val="22e6c4"/>
          </a:solidFill>
          <a:ln w="12700">
            <a:solidFill>
              <a:srgbClr val="22e6c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11" name="Text 14"/>
          <p:cNvSpPr/>
          <p:nvPr/>
        </p:nvSpPr>
        <p:spPr>
          <a:xfrm>
            <a:off x="6172200" y="1143000"/>
            <a:ext cx="41112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0a1020"/>
                </a:solidFill>
                <a:latin typeface="Calibri"/>
              </a:rPr>
              <a:t>3</a:t>
            </a:r>
            <a:endParaRPr b="0" lang="en-US" sz="1600" spc="-1" strike="noStrike">
              <a:solidFill>
                <a:srgbClr val="ffffff"/>
              </a:solidFill>
              <a:latin typeface="Arial"/>
            </a:endParaRPr>
          </a:p>
        </p:txBody>
      </p:sp>
      <p:sp>
        <p:nvSpPr>
          <p:cNvPr id="212" name="Text 15"/>
          <p:cNvSpPr/>
          <p:nvPr/>
        </p:nvSpPr>
        <p:spPr>
          <a:xfrm>
            <a:off x="6172200" y="1627560"/>
            <a:ext cx="2377080" cy="4568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00" spc="-1" strike="noStrike">
                <a:solidFill>
                  <a:srgbClr val="e8f1ff"/>
                </a:solidFill>
                <a:latin typeface="Calibri"/>
              </a:rPr>
              <a:t>Register and stop</a:t>
            </a:r>
            <a:endParaRPr b="0" lang="en-US" sz="1400" spc="-1" strike="noStrike">
              <a:solidFill>
                <a:srgbClr val="ffffff"/>
              </a:solidFill>
              <a:latin typeface="Arial"/>
            </a:endParaRPr>
          </a:p>
        </p:txBody>
      </p:sp>
      <p:sp>
        <p:nvSpPr>
          <p:cNvPr id="213" name="Text 16"/>
          <p:cNvSpPr/>
          <p:nvPr/>
        </p:nvSpPr>
        <p:spPr>
          <a:xfrm>
            <a:off x="6172200" y="2084760"/>
            <a:ext cx="2377080" cy="10238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8fa3c7"/>
                </a:solidFill>
                <a:latin typeface="Calibri"/>
              </a:rPr>
              <a:t>Add it to robot.py as the next number, start it from the hub, stop it with center.</a:t>
            </a:r>
            <a:endParaRPr b="0" lang="en-US" sz="1200" spc="-1" strike="noStrike">
              <a:solidFill>
                <a:srgbClr val="ffffff"/>
              </a:solidFill>
              <a:latin typeface="Arial"/>
            </a:endParaRPr>
          </a:p>
        </p:txBody>
      </p:sp>
      <p:sp>
        <p:nvSpPr>
          <p:cNvPr id="214" name="Shape 17"/>
          <p:cNvSpPr/>
          <p:nvPr/>
        </p:nvSpPr>
        <p:spPr>
          <a:xfrm>
            <a:off x="457200" y="3474720"/>
            <a:ext cx="8229240" cy="1005480"/>
          </a:xfrm>
          <a:prstGeom prst="roundRect">
            <a:avLst>
              <a:gd name="adj" fmla="val 9091"/>
            </a:avLst>
          </a:prstGeom>
          <a:solidFill>
            <a:srgbClr val="2a2210"/>
          </a:solidFill>
          <a:ln w="15875">
            <a:solidFill>
              <a:srgbClr val="ffc857"/>
            </a:solidFill>
            <a:prstDash val="dash"/>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5" name="Text 18"/>
          <p:cNvSpPr/>
          <p:nvPr/>
        </p:nvSpPr>
        <p:spPr>
          <a:xfrm>
            <a:off x="594360" y="3538800"/>
            <a:ext cx="7954920" cy="877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c857"/>
                </a:solidFill>
                <a:latin typeface="Calibri"/>
                <a:ea typeface="Calibri"/>
              </a:rPr>
              <a:t>✎ </a:t>
            </a:r>
            <a:r>
              <a:rPr b="1" lang="en-US" sz="1300" spc="-1" strike="noStrike">
                <a:solidFill>
                  <a:srgbClr val="ffc857"/>
                </a:solidFill>
                <a:latin typeface="Calibri"/>
                <a:ea typeface="Calibri"/>
              </a:rPr>
              <a:t>Ethan &amp; Braxton, fill this in:  </a:t>
            </a:r>
            <a:r>
              <a:rPr b="0" lang="en-US" sz="1300" spc="-1" strike="noStrike">
                <a:solidFill>
                  <a:srgbClr val="e8f1ff"/>
                </a:solidFill>
                <a:latin typeface="Calibri"/>
                <a:ea typeface="Calibri"/>
              </a:rPr>
              <a:t>Set the deadline and who reviews the Pull Requests.</a:t>
            </a:r>
            <a:endParaRPr b="0" lang="en-US" sz="1300" spc="-1" strike="noStrike">
              <a:solidFill>
                <a:srgbClr val="ffffff"/>
              </a:solidFill>
              <a:latin typeface="Arial"/>
            </a:endParaRPr>
          </a:p>
        </p:txBody>
      </p:sp>
      <p:sp>
        <p:nvSpPr>
          <p:cNvPr id="216" name="PlaceHolder 1"/>
          <p:cNvSpPr>
            <a:spLocks noGrp="1"/>
          </p:cNvSpPr>
          <p:nvPr>
            <p:ph type="sldNum" idx="19"/>
          </p:nvPr>
        </p:nvSpPr>
        <p:spPr>
          <a:xfrm>
            <a:off x="8321040" y="4754880"/>
            <a:ext cx="456840" cy="388440"/>
          </a:xfrm>
          <a:prstGeom prst="rect">
            <a:avLst/>
          </a:prstGeom>
          <a:noFill/>
          <a:ln w="0">
            <a:noFill/>
          </a:ln>
        </p:spPr>
        <p:txBody>
          <a:bodyPr lIns="90000" rIns="90000" tIns="45000" bIns="45000" anchor="t">
            <a:noAutofit/>
          </a:bodyPr>
          <a:lstStyle>
            <a:lvl1pPr indent="0" algn="r" defTabSz="914400">
              <a:lnSpc>
                <a:spcPct val="100000"/>
              </a:lnSpc>
              <a:buNone/>
              <a:defRPr b="0" lang="en-US" sz="1000" spc="-1" strike="noStrike">
                <a:solidFill>
                  <a:srgbClr val="8fa3c7"/>
                </a:solidFill>
                <a:latin typeface="Calibri"/>
                <a:ea typeface="Calibri"/>
              </a:defRPr>
            </a:lvl1pPr>
          </a:lstStyle>
          <a:p>
            <a:pPr indent="0" algn="r" defTabSz="914400">
              <a:lnSpc>
                <a:spcPct val="100000"/>
              </a:lnSpc>
              <a:buNone/>
            </a:pPr>
            <a:fld id="{F699560A-1871-4AAA-B7CD-04C056ABAADE}" type="slidenum">
              <a:rPr b="0" lang="en-US" sz="1000" spc="-1" strike="noStrike">
                <a:solidFill>
                  <a:srgbClr val="8fa3c7"/>
                </a:solidFill>
                <a:latin typeface="Calibri"/>
                <a:ea typeface="Calibri"/>
              </a:rPr>
              <a:t>&lt;number&gt;</a:t>
            </a:fld>
            <a:endParaRPr b="0" lang="en-US" sz="10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Shape 0"/>
          <p:cNvSpPr/>
          <p:nvPr/>
        </p:nvSpPr>
        <p:spPr>
          <a:xfrm>
            <a:off x="6309360" y="914400"/>
            <a:ext cx="2377080" cy="2377080"/>
          </a:xfrm>
          <a:prstGeom prst="ellipse">
            <a:avLst/>
          </a:prstGeom>
          <a:solidFill>
            <a:srgbClr val="b26bff">
              <a:alpha val="15000"/>
            </a:srgbClr>
          </a:solidFill>
          <a:ln w="19050">
            <a:solidFill>
              <a:srgbClr val="b26bf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8" name="Shape 1"/>
          <p:cNvSpPr/>
          <p:nvPr/>
        </p:nvSpPr>
        <p:spPr>
          <a:xfrm>
            <a:off x="6995160" y="1600200"/>
            <a:ext cx="1005480" cy="1005480"/>
          </a:xfrm>
          <a:prstGeom prst="ellipse">
            <a:avLst/>
          </a:prstGeom>
          <a:solidFill>
            <a:srgbClr val="22e6c4">
              <a:alpha val="60000"/>
            </a:srgbClr>
          </a:solidFill>
          <a:ln w="12700">
            <a:solidFill>
              <a:srgbClr val="22e6c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19" name="Text 2"/>
          <p:cNvSpPr/>
          <p:nvPr/>
        </p:nvSpPr>
        <p:spPr>
          <a:xfrm>
            <a:off x="548640" y="1188720"/>
            <a:ext cx="5486040" cy="914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4400" spc="-1" strike="noStrike">
                <a:solidFill>
                  <a:srgbClr val="e8f1ff"/>
                </a:solidFill>
                <a:latin typeface="Cambria"/>
                <a:ea typeface="Cambria"/>
              </a:rPr>
              <a:t>Questions?</a:t>
            </a:r>
            <a:endParaRPr b="0" lang="en-US" sz="4400" spc="-1" strike="noStrike">
              <a:solidFill>
                <a:srgbClr val="ffffff"/>
              </a:solidFill>
              <a:latin typeface="Arial"/>
            </a:endParaRPr>
          </a:p>
        </p:txBody>
      </p:sp>
      <p:sp>
        <p:nvSpPr>
          <p:cNvPr id="220" name="Text 3"/>
          <p:cNvSpPr/>
          <p:nvPr/>
        </p:nvSpPr>
        <p:spPr>
          <a:xfrm>
            <a:off x="548640" y="2286000"/>
            <a:ext cx="5486040" cy="8226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600" spc="-1" strike="noStrike">
                <a:solidFill>
                  <a:srgbClr val="8fa3c7"/>
                </a:solidFill>
                <a:latin typeface="Calibri"/>
              </a:rPr>
              <a:t>Repo: github.com/infiniteroboticsteam/infinity-2026</a:t>
            </a:r>
            <a:endParaRPr b="0" lang="en-US" sz="1600" spc="-1" strike="noStrike">
              <a:solidFill>
                <a:srgbClr val="ffffff"/>
              </a:solidFill>
              <a:latin typeface="Arial"/>
            </a:endParaRPr>
          </a:p>
          <a:p>
            <a:pPr defTabSz="914400">
              <a:lnSpc>
                <a:spcPct val="100000"/>
              </a:lnSpc>
              <a:tabLst>
                <a:tab algn="l" pos="0"/>
              </a:tabLst>
            </a:pPr>
            <a:r>
              <a:rPr b="0" lang="en-US" sz="1600" spc="-1" strike="noStrike">
                <a:solidFill>
                  <a:srgbClr val="8fa3c7"/>
                </a:solidFill>
                <a:latin typeface="Calibri"/>
              </a:rPr>
              <a:t>Setup guide: docs/SETUP.md</a:t>
            </a:r>
            <a:endParaRPr b="0" lang="en-US" sz="1600" spc="-1" strike="noStrike">
              <a:solidFill>
                <a:srgbClr val="ffffff"/>
              </a:solidFill>
              <a:latin typeface="Arial"/>
            </a:endParaRPr>
          </a:p>
        </p:txBody>
      </p:sp>
      <p:sp>
        <p:nvSpPr>
          <p:cNvPr id="221" name="Shape 4"/>
          <p:cNvSpPr/>
          <p:nvPr/>
        </p:nvSpPr>
        <p:spPr>
          <a:xfrm>
            <a:off x="548640" y="3383280"/>
            <a:ext cx="5486040" cy="822600"/>
          </a:xfrm>
          <a:prstGeom prst="roundRect">
            <a:avLst>
              <a:gd name="adj" fmla="val 11111"/>
            </a:avLst>
          </a:prstGeom>
          <a:solidFill>
            <a:srgbClr val="2a2210"/>
          </a:solidFill>
          <a:ln w="15875">
            <a:solidFill>
              <a:srgbClr val="ffc857"/>
            </a:solidFill>
            <a:prstDash val="dash"/>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2" name="Text 5"/>
          <p:cNvSpPr/>
          <p:nvPr/>
        </p:nvSpPr>
        <p:spPr>
          <a:xfrm>
            <a:off x="685800" y="3447360"/>
            <a:ext cx="5211720" cy="694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c857"/>
                </a:solidFill>
                <a:latin typeface="Calibri"/>
                <a:ea typeface="Calibri"/>
              </a:rPr>
              <a:t>✎ </a:t>
            </a:r>
            <a:r>
              <a:rPr b="1" lang="en-US" sz="1300" spc="-1" strike="noStrike">
                <a:solidFill>
                  <a:srgbClr val="ffc857"/>
                </a:solidFill>
                <a:latin typeface="Calibri"/>
                <a:ea typeface="Calibri"/>
              </a:rPr>
              <a:t>Ethan &amp; Braxton, fill this in:  </a:t>
            </a:r>
            <a:r>
              <a:rPr b="0" lang="en-US" sz="1300" spc="-1" strike="noStrike">
                <a:solidFill>
                  <a:srgbClr val="e8f1ff"/>
                </a:solidFill>
                <a:latin typeface="Calibri"/>
                <a:ea typeface="Calibri"/>
              </a:rPr>
              <a:t>Your one-sentence takeaway for the team.</a:t>
            </a:r>
            <a:endParaRPr b="0" lang="en-US" sz="1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Bioglow Dark">
  <a:themeElements>
    <a:clrScheme name="Bioglow Dark">
      <a:dk1>
        <a:srgbClr val="0a1020"/>
      </a:dk1>
      <a:lt1>
        <a:srgbClr val="e8f1ff"/>
      </a:lt1>
      <a:dk2>
        <a:srgbClr val="141e38"/>
      </a:dk2>
      <a:lt2>
        <a:srgbClr val="8fa3c7"/>
      </a:lt2>
      <a:accent1>
        <a:srgbClr val="22e6c4"/>
      </a:accent1>
      <a:accent2>
        <a:srgbClr val="b26bff"/>
      </a:accent2>
      <a:accent3>
        <a:srgbClr val="ffc857"/>
      </a:accent3>
      <a:accent4>
        <a:srgbClr val="ff5c8a"/>
      </a:accent4>
      <a:accent5>
        <a:srgbClr val="4da3ff"/>
      </a:accent5>
      <a:accent6>
        <a:srgbClr val="7cff9b"/>
      </a:accent6>
      <a:hlink>
        <a:srgbClr val="22e6c4"/>
      </a:hlink>
      <a:folHlink>
        <a:srgbClr val="b26bff"/>
      </a:folHlink>
    </a:clrScheme>
    <a:fontScheme name="Bioglow Dark">
      <a:majorFont>
        <a:latin typeface="Cambria"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Bioglow Dark">
  <a:themeElements>
    <a:clrScheme name="Bioglow Dark">
      <a:dk1>
        <a:srgbClr val="0a1020"/>
      </a:dk1>
      <a:lt1>
        <a:srgbClr val="e8f1ff"/>
      </a:lt1>
      <a:dk2>
        <a:srgbClr val="141e38"/>
      </a:dk2>
      <a:lt2>
        <a:srgbClr val="8fa3c7"/>
      </a:lt2>
      <a:accent1>
        <a:srgbClr val="22e6c4"/>
      </a:accent1>
      <a:accent2>
        <a:srgbClr val="b26bff"/>
      </a:accent2>
      <a:accent3>
        <a:srgbClr val="ffc857"/>
      </a:accent3>
      <a:accent4>
        <a:srgbClr val="ff5c8a"/>
      </a:accent4>
      <a:accent5>
        <a:srgbClr val="4da3ff"/>
      </a:accent5>
      <a:accent6>
        <a:srgbClr val="7cff9b"/>
      </a:accent6>
      <a:hlink>
        <a:srgbClr val="22e6c4"/>
      </a:hlink>
      <a:folHlink>
        <a:srgbClr val="b26bff"/>
      </a:folHlink>
    </a:clrScheme>
    <a:fontScheme name="Bioglow Dark">
      <a:majorFont>
        <a:latin typeface="Cambria"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Bioglow Dark">
  <a:themeElements>
    <a:clrScheme name="Bioglow Dark">
      <a:dk1>
        <a:srgbClr val="0a1020"/>
      </a:dk1>
      <a:lt1>
        <a:srgbClr val="e8f1ff"/>
      </a:lt1>
      <a:dk2>
        <a:srgbClr val="141e38"/>
      </a:dk2>
      <a:lt2>
        <a:srgbClr val="8fa3c7"/>
      </a:lt2>
      <a:accent1>
        <a:srgbClr val="22e6c4"/>
      </a:accent1>
      <a:accent2>
        <a:srgbClr val="b26bff"/>
      </a:accent2>
      <a:accent3>
        <a:srgbClr val="ffc857"/>
      </a:accent3>
      <a:accent4>
        <a:srgbClr val="ff5c8a"/>
      </a:accent4>
      <a:accent5>
        <a:srgbClr val="4da3ff"/>
      </a:accent5>
      <a:accent6>
        <a:srgbClr val="7cff9b"/>
      </a:accent6>
      <a:hlink>
        <a:srgbClr val="22e6c4"/>
      </a:hlink>
      <a:folHlink>
        <a:srgbClr val="b26bff"/>
      </a:folHlink>
    </a:clrScheme>
    <a:fontScheme name="Bioglow Dark">
      <a:majorFont>
        <a:latin typeface="Cambria"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LibreOffice/24.2.4.2$Windows_X86_64 LibreOffice_project/51a6219feb6075d9a4c46691dcfe0cd9c4fff3c2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2026-10-10T11:59:16Z</dcterms:created>
  <dc:creator>Infinite Robotics Team</dc:creator>
  <dc:description/>
  <dc:language>en-US</dc:language>
  <cp:lastModifiedBy>Infinite Robotics Team</cp:lastModifiedBy>
  <dcterms:modified xsi:type="dcterms:W3CDTF">2026-10-10T11:59:16Z</dcterms:modified>
  <cp:revision>1</cp:revision>
  <dc:subject>PptxGenJS Presentation</dc:subject>
  <dc:title>How to code with infinity-2026</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17</vt:i4>
  </property>
  <property fmtid="{D5CDD505-2E9C-101B-9397-08002B2CF9AE}" pid="3" name="PresentationFormat">
    <vt:lpwstr>On-screen Show (16:9)</vt:lpwstr>
  </property>
  <property fmtid="{D5CDD505-2E9C-101B-9397-08002B2CF9AE}" pid="4" name="Slides">
    <vt:i4>17</vt:i4>
  </property>
</Properties>
</file>